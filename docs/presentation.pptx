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decision problem: traders must connect market movement, news evidence, and their actual position before acting.</a:t>
            </a:r>
          </a:p>
          <a:p>
            <a:r>
              <a:t>Trading Wens is a research and paper-trading aid, not an investment recommendation.</a:t>
            </a:r>
          </a:p>
          <a:p>
            <a:r>
              <a:t>Background media supplied by the candidate: https://d33g0704mc6hny.cloudfront.net/technology_page_banner_video.mp4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 framing and implemented approach are based on the repository architecture and frontend risk logic.</a:t>
            </a:r>
          </a:p>
          <a:p>
            <a:r>
              <a:t>Clarify confidence: sentiment-class confidence and directional price confidence are distinct outputs. Sideways can coexist with high confidence in a neutral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repository docs/architecture.md and docs/api-v1.yaml.</a:t>
            </a:r>
          </a:p>
          <a:p>
            <a:r>
              <a:t>Alpaca documentation: https://docs.alpaca.markets/</a:t>
            </a:r>
          </a:p>
          <a:p>
            <a:r>
              <a:t>GDELT DOC 2.0: https://blog.gdeltproject.org/gdelt-doc-2-0-api-debuts/</a:t>
            </a:r>
          </a:p>
          <a:p>
            <a:r>
              <a:t>Bluesky HTTP reference: https://docs.bsky.app/docs/category/http-reference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Implementation claims are based on src/backend, src/frontend, src/ml, and the database migrations in this repository.</a:t>
            </a:r>
          </a:p>
          <a:p>
            <a:r>
              <a:t>The paper-trading endpoint is deliberately restricted to https://paper-api.alpaca.markets.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Screenshots were captured from the Trading Wens application supplied with this submission.</a:t>
            </a:r>
          </a:p>
          <a:p>
            <a:r>
              <a:t>Figures are implementation bounds or verified test counts, not trading-performance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screenshot uses Alpaca simulation-account positions and the application risk heuristic.</a:t>
            </a:r>
          </a:p>
          <a:p>
            <a:r>
              <a:t>Potential S&amp;P Global and Crisil use cases are proposed extensions, not claims of deployment inside either 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naming limits before ambition. The project should be judged as a traceable prototype, not a claim of profitable forecasting.</a:t>
            </a:r>
          </a:p>
          <a:p>
            <a:r>
              <a:t>Add the confirmed college identity and unlisted demo video link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3512392-EA2F-4C49-9050-B8290884F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DBA6DD5-B747-488F-B86C-FD93866A9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643CAE7B-3B1A-4471-B982-B2381D993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6E25411-7B9C-4440-9BFB-7EAEFC77A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3200F90B-3232-47EF-BEE7-D962ABF18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5C216F5-F073-426C-BAD9-2342440DC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FAE0A1F-8ED0-40A0-9DAD-D28167527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C48FF71-D83E-4278-B6EB-CBE1D082835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9D15B6E-0552-497B-A78E-58E52FF13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BC3F32A-52BE-416D-96CB-15BE65882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Technology Background Video">
            <a:hlinkClick action="ppaction://media"/>
            <a:extLst>
              <a:ext uri="{FF2B5EF4-FFF2-40B4-BE49-F238E27FC236}">
                <a16:creationId xmlns:a16="http://schemas.microsoft.com/office/drawing/2014/main" id="{048DA51C-E047-EFDD-073A-E258A21D826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video-tint">
            <a:extLst>
              <a:ext uri="{FF2B5EF4-FFF2-40B4-BE49-F238E27FC236}">
                <a16:creationId xmlns:a16="http://schemas.microsoft.com/office/drawing/2014/main" id="{6ABA2615-D865-4764-9E7F-CA4622966B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70D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30482E0-B14D-4869-992F-6DFEDCF33548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914400" cy="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3C465C-0CAC-4A78-BD70-6F1875B245DC}"/>
              </a:ext>
            </a:extLst>
          </p:cNvPr>
          <p:cNvSpPr>
            <a:spLocks noGrp="1"/>
          </p:cNvSpPr>
          <p:nvPr/>
        </p:nvSpPr>
        <p:spPr>
          <a:xfrm>
            <a:off x="590550" y="8953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75" b="1">
                <a:solidFill>
                  <a:srgbClr val="F4B942"/>
                </a:solidFill>
              </a:defRPr>
            </a:defPPr>
          </a:lstStyle>
          <a:p>
            <a:pPr algn="l">
              <a:defRPr sz="975" b="1">
                <a:solidFill>
                  <a:srgbClr val="F4B942"/>
                </a:solidFill>
              </a:defRPr>
            </a:pPr>
            <a:r>
              <a:rPr sz="975" b="1">
                <a:solidFill>
                  <a:srgbClr val="F4B942"/>
                </a:solidFill>
              </a:rPr>
              <a:t>S&amp;P GLOBAL &amp; CRISIL CAMPUS HACKATHON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9B67A0-384B-44CC-98B2-D6C2ECBD1F33}"/>
              </a:ext>
            </a:extLst>
          </p:cNvPr>
          <p:cNvSpPr>
            <a:spLocks noGrp="1"/>
          </p:cNvSpPr>
          <p:nvPr/>
        </p:nvSpPr>
        <p:spPr>
          <a:xfrm>
            <a:off x="590550" y="1466850"/>
            <a:ext cx="7334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4800" b="1">
                <a:solidFill>
                  <a:srgbClr val="F7FAFC"/>
                </a:solidFill>
              </a:defRPr>
            </a:defPPr>
          </a:lstStyle>
          <a:p>
            <a:pPr algn="l">
              <a:defRPr sz="4800" b="1">
                <a:solidFill>
                  <a:srgbClr val="F7FAFC"/>
                </a:solidFill>
              </a:defRPr>
            </a:pPr>
            <a:r>
              <a:rPr sz="4800" b="1">
                <a:solidFill>
                  <a:srgbClr val="F7FAFC"/>
                </a:solidFill>
              </a:rPr>
              <a:t>Trading Wens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4A748B-DCD8-460F-BA62-C7E8E60E4DCE}"/>
              </a:ext>
            </a:extLst>
          </p:cNvPr>
          <p:cNvSpPr>
            <a:spLocks noGrp="1"/>
          </p:cNvSpPr>
          <p:nvPr/>
        </p:nvSpPr>
        <p:spPr>
          <a:xfrm>
            <a:off x="628650" y="2590800"/>
            <a:ext cx="685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D9E4EE"/>
                </a:solidFill>
              </a:defRPr>
            </a:defPPr>
          </a:lstStyle>
          <a:p>
            <a:pPr algn="l">
              <a:defRPr sz="1875" b="0">
                <a:solidFill>
                  <a:srgbClr val="D9E4EE"/>
                </a:solidFill>
              </a:defRPr>
            </a:pPr>
            <a:r>
              <a:rPr sz="1875" b="0">
                <a:solidFill>
                  <a:srgbClr val="D9E4EE"/>
                </a:solidFill>
              </a:rPr>
              <a:t>From live market evidence to position-aware risk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BB9FB1-438D-40FD-A2D1-803E8E3580DD}"/>
              </a:ext>
            </a:extLst>
          </p:cNvPr>
          <p:cNvSpPr>
            <a:spLocks noGrp="1"/>
          </p:cNvSpPr>
          <p:nvPr/>
        </p:nvSpPr>
        <p:spPr>
          <a:xfrm>
            <a:off x="628650" y="3257550"/>
            <a:ext cx="6572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75" b="0">
                <a:solidFill>
                  <a:srgbClr val="AAB7C4"/>
                </a:solidFill>
              </a:defRPr>
            </a:defPPr>
          </a:lstStyle>
          <a:p>
            <a:pPr algn="l">
              <a:defRPr sz="1275" b="0">
                <a:solidFill>
                  <a:srgbClr val="AAB7C4"/>
                </a:solidFill>
              </a:defRPr>
            </a:pPr>
            <a:r>
              <a:rPr sz="1275" b="0">
                <a:solidFill>
                  <a:srgbClr val="AAB7C4"/>
                </a:solidFill>
              </a:rPr>
              <a:t>A paper-trading intelligence workspace that connects provider data, trained financial sentiment, directional signals, and portfolio exposure without hiding uncertainty.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F43062-0B96-4FEF-A3C2-862C66B4C679}"/>
              </a:ext>
            </a:extLst>
          </p:cNvPr>
          <p:cNvSpPr>
            <a:spLocks noGrp="1"/>
          </p:cNvSpPr>
          <p:nvPr/>
        </p:nvSpPr>
        <p:spPr>
          <a:xfrm>
            <a:off x="628650" y="4457700"/>
            <a:ext cx="1619250" cy="295275"/>
          </a:xfrm>
          <a:prstGeom prst="roundRect">
            <a:avLst>
              <a:gd name="adj" fmla="val 50000"/>
            </a:avLst>
          </a:prstGeom>
          <a:solidFill>
            <a:srgbClr val="57A5FF">
              <a:alpha val="16000"/>
            </a:srgbClr>
          </a:solidFill>
          <a:ln w="9525">
            <a:solidFill>
              <a:srgbClr val="57A5FF">
                <a:alpha val="50000"/>
              </a:srgbClr>
            </a:solidFill>
            <a:prstDash val="solid"/>
          </a:ln>
        </p:spPr>
        <p:txBody>
          <a:bodyPr lIns="0" tIns="0" rIns="0" bIns="0" anchor="ctr"/>
          <a:lstStyle>
            <a:defPPr algn="ctr">
              <a:defRPr sz="825" b="1">
                <a:solidFill>
                  <a:srgbClr val="57A5FF"/>
                </a:solidFill>
              </a:defRPr>
            </a:defPPr>
          </a:lstStyle>
          <a:p>
            <a:pPr algn="ctr">
              <a:defRPr sz="825" b="1">
                <a:solidFill>
                  <a:srgbClr val="57A5FF"/>
                </a:solidFill>
              </a:defRPr>
            </a:pPr>
            <a:r>
              <a:rPr sz="825" b="1">
                <a:solidFill>
                  <a:srgbClr val="57A5FF"/>
                </a:solidFill>
              </a:rPr>
              <a:t>LIVE MARKET CONTEXT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0294BE-44AD-4002-8747-C56DA8A69F6A}"/>
              </a:ext>
            </a:extLst>
          </p:cNvPr>
          <p:cNvSpPr>
            <a:spLocks noGrp="1"/>
          </p:cNvSpPr>
          <p:nvPr/>
        </p:nvSpPr>
        <p:spPr>
          <a:xfrm>
            <a:off x="2362200" y="4457700"/>
            <a:ext cx="1438275" cy="295275"/>
          </a:xfrm>
          <a:prstGeom prst="roundRect">
            <a:avLst>
              <a:gd name="adj" fmla="val 50000"/>
            </a:avLst>
          </a:prstGeom>
          <a:solidFill>
            <a:srgbClr val="2FD07D">
              <a:alpha val="16000"/>
            </a:srgbClr>
          </a:solidFill>
          <a:ln w="9525">
            <a:solidFill>
              <a:srgbClr val="2FD07D">
                <a:alpha val="50000"/>
              </a:srgbClr>
            </a:solidFill>
            <a:prstDash val="solid"/>
          </a:ln>
        </p:spPr>
        <p:txBody>
          <a:bodyPr lIns="0" tIns="0" rIns="0" bIns="0" anchor="ctr"/>
          <a:lstStyle>
            <a:defPPr algn="ctr">
              <a:defRPr sz="825" b="1">
                <a:solidFill>
                  <a:srgbClr val="2FD07D"/>
                </a:solidFill>
              </a:defRPr>
            </a:defPPr>
          </a:lstStyle>
          <a:p>
            <a:pPr algn="ctr">
              <a:defRPr sz="825" b="1">
                <a:solidFill>
                  <a:srgbClr val="2FD07D"/>
                </a:solidFill>
              </a:defRPr>
            </a:pPr>
            <a:r>
              <a:rPr sz="825" b="1">
                <a:solidFill>
                  <a:srgbClr val="2FD07D"/>
                </a:solidFill>
              </a:rPr>
              <a:t>TRAINED FINBERT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45184DB-8280-4155-9544-0D45E4460C73}"/>
              </a:ext>
            </a:extLst>
          </p:cNvPr>
          <p:cNvSpPr>
            <a:spLocks noGrp="1"/>
          </p:cNvSpPr>
          <p:nvPr/>
        </p:nvSpPr>
        <p:spPr>
          <a:xfrm>
            <a:off x="3914775" y="4457700"/>
            <a:ext cx="1438275" cy="295275"/>
          </a:xfrm>
          <a:prstGeom prst="roundRect">
            <a:avLst>
              <a:gd name="adj" fmla="val 50000"/>
            </a:avLst>
          </a:prstGeom>
          <a:solidFill>
            <a:srgbClr val="F4B942">
              <a:alpha val="16000"/>
            </a:srgbClr>
          </a:solidFill>
          <a:ln w="9525">
            <a:solidFill>
              <a:srgbClr val="F4B942">
                <a:alpha val="50000"/>
              </a:srgbClr>
            </a:solidFill>
            <a:prstDash val="solid"/>
          </a:ln>
        </p:spPr>
        <p:txBody>
          <a:bodyPr lIns="0" tIns="0" rIns="0" bIns="0" anchor="ctr"/>
          <a:lstStyle>
            <a:defPPr algn="ctr">
              <a:defRPr sz="825" b="1">
                <a:solidFill>
                  <a:srgbClr val="F4B942"/>
                </a:solidFill>
              </a:defRPr>
            </a:defPPr>
          </a:lstStyle>
          <a:p>
            <a:pPr algn="ctr">
              <a:defRPr sz="825" b="1">
                <a:solidFill>
                  <a:srgbClr val="F4B942"/>
                </a:solidFill>
              </a:defRPr>
            </a:pPr>
            <a:r>
              <a:rPr sz="825" b="1">
                <a:solidFill>
                  <a:srgbClr val="F4B942"/>
                </a:solidFill>
              </a:rPr>
              <a:t>PAPER EXECUTION</a:t>
            </a:r>
          </a:p>
        </p:txBody>
      </p:sp>
      <p:sp>
        <p:nvSpPr>
          <p:cNvPr id="10" name="candidate-card">
            <a:extLst>
              <a:ext uri="{FF2B5EF4-FFF2-40B4-BE49-F238E27FC236}">
                <a16:creationId xmlns:a16="http://schemas.microsoft.com/office/drawing/2014/main" id="{C371BA08-01A3-4584-A50B-0AA47E3E0399}"/>
              </a:ext>
            </a:extLst>
          </p:cNvPr>
          <p:cNvSpPr>
            <a:spLocks noGrp="1"/>
          </p:cNvSpPr>
          <p:nvPr/>
        </p:nvSpPr>
        <p:spPr>
          <a:xfrm>
            <a:off x="8229600" y="1066800"/>
            <a:ext cx="3295650" cy="4095750"/>
          </a:xfrm>
          <a:prstGeom prst="roundRect">
            <a:avLst>
              <a:gd name="adj" fmla="val 4624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123E9E-C2B5-47E0-BB2C-6C008B8864DA}"/>
              </a:ext>
            </a:extLst>
          </p:cNvPr>
          <p:cNvSpPr>
            <a:spLocks noGrp="1"/>
          </p:cNvSpPr>
          <p:nvPr/>
        </p:nvSpPr>
        <p:spPr>
          <a:xfrm>
            <a:off x="8524875" y="140017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825" b="1">
                <a:solidFill>
                  <a:srgbClr val="F4B942"/>
                </a:solidFill>
              </a:defRPr>
            </a:defPPr>
          </a:lstStyle>
          <a:p>
            <a:pPr algn="l">
              <a:defRPr sz="825" b="1">
                <a:solidFill>
                  <a:srgbClr val="F4B942"/>
                </a:solidFill>
              </a:defRPr>
            </a:pPr>
            <a:r>
              <a:rPr sz="825" b="1">
                <a:solidFill>
                  <a:srgbClr val="F4B942"/>
                </a:solidFill>
              </a:rPr>
              <a:t>CANDIDATE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942C4F-2605-4030-8334-A13692DFD662}"/>
              </a:ext>
            </a:extLst>
          </p:cNvPr>
          <p:cNvSpPr>
            <a:spLocks noGrp="1"/>
          </p:cNvSpPr>
          <p:nvPr/>
        </p:nvSpPr>
        <p:spPr>
          <a:xfrm>
            <a:off x="8524875" y="1714500"/>
            <a:ext cx="2667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625" b="1">
                <a:solidFill>
                  <a:srgbClr val="F7FAFC"/>
                </a:solidFill>
              </a:defRPr>
            </a:defPPr>
          </a:lstStyle>
          <a:p>
            <a:pPr algn="l"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Shivansh</a:t>
            </a:r>
          </a:p>
          <a:p>
            <a:pPr algn="l"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Dwivedi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C2DBC61-8F44-4D8E-AB66-85F3AB5F7771}"/>
              </a:ext>
            </a:extLst>
          </p:cNvPr>
          <p:cNvSpPr>
            <a:spLocks noGrp="1"/>
          </p:cNvSpPr>
          <p:nvPr/>
        </p:nvSpPr>
        <p:spPr>
          <a:xfrm>
            <a:off x="8524875" y="2914650"/>
            <a:ext cx="2667000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65513-7053-4C1B-9BB6-2B8A2834CAE3}"/>
              </a:ext>
            </a:extLst>
          </p:cNvPr>
          <p:cNvSpPr>
            <a:spLocks noGrp="1"/>
          </p:cNvSpPr>
          <p:nvPr/>
        </p:nvSpPr>
        <p:spPr>
          <a:xfrm>
            <a:off x="8524875" y="313372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50" b="1">
                <a:solidFill>
                  <a:srgbClr val="AAB7C4"/>
                </a:solidFill>
              </a:defRPr>
            </a:defPPr>
          </a:lstStyle>
          <a:p>
            <a:pPr algn="l">
              <a:defRPr sz="750" b="1">
                <a:solidFill>
                  <a:srgbClr val="AAB7C4"/>
                </a:solidFill>
              </a:defRPr>
            </a:pPr>
            <a:r>
              <a:rPr sz="750" b="1">
                <a:solidFill>
                  <a:srgbClr val="AAB7C4"/>
                </a:solidFill>
              </a:rPr>
              <a:t>COLLEGE / CAMPUS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58B04A-0629-4937-BFF3-646BCEDA20EA}"/>
              </a:ext>
            </a:extLst>
          </p:cNvPr>
          <p:cNvSpPr>
            <a:spLocks noGrp="1"/>
          </p:cNvSpPr>
          <p:nvPr/>
        </p:nvSpPr>
        <p:spPr>
          <a:xfrm>
            <a:off x="8524875" y="3400425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125" b="1">
                <a:solidFill>
                  <a:srgbClr val="E8EEF4"/>
                </a:solidFill>
              </a:defRPr>
            </a:defPPr>
          </a:lstStyle>
          <a:p>
            <a:pPr algn="l">
              <a:defRPr sz="1125" b="1">
                <a:solidFill>
                  <a:srgbClr val="E8EEF4"/>
                </a:solidFill>
              </a:defRPr>
            </a:pPr>
            <a:r>
              <a:rPr sz="1125" b="1">
                <a:solidFill>
                  <a:srgbClr val="E8EEF4"/>
                </a:solidFill>
              </a:rPr>
              <a:t>Pending candidate confirmation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A0E8E6-3594-4107-931D-4F1F2F31851F}"/>
              </a:ext>
            </a:extLst>
          </p:cNvPr>
          <p:cNvSpPr>
            <a:spLocks noGrp="1"/>
          </p:cNvSpPr>
          <p:nvPr/>
        </p:nvSpPr>
        <p:spPr>
          <a:xfrm>
            <a:off x="8524875" y="439102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825" b="1">
                <a:solidFill>
                  <a:srgbClr val="2FD07D"/>
                </a:solidFill>
              </a:defRPr>
            </a:defPPr>
          </a:lstStyle>
          <a:p>
            <a:pPr algn="l">
              <a:defRPr sz="825" b="1">
                <a:solidFill>
                  <a:srgbClr val="2FD07D"/>
                </a:solidFill>
              </a:defRPr>
            </a:pPr>
            <a:r>
              <a:rPr sz="825" b="1">
                <a:solidFill>
                  <a:srgbClr val="2FD07D"/>
                </a:solidFill>
              </a:rPr>
              <a:t>SUBMISSION 2026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0EBCFC-CCDC-48D0-819E-39DD59DD9D2C}"/>
              </a:ext>
            </a:extLst>
          </p:cNvPr>
          <p:cNvSpPr>
            <a:spLocks noGrp="1"/>
          </p:cNvSpPr>
          <p:nvPr/>
        </p:nvSpPr>
        <p:spPr>
          <a:xfrm>
            <a:off x="590550" y="62198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825" b="1">
                <a:solidFill>
                  <a:srgbClr val="82909E"/>
                </a:solidFill>
              </a:defRPr>
            </a:defPPr>
          </a:lstStyle>
          <a:p>
            <a:pPr algn="l">
              <a:defRPr sz="825" b="1">
                <a:solidFill>
                  <a:srgbClr val="82909E"/>
                </a:solidFill>
              </a:defRPr>
            </a:pPr>
            <a:r>
              <a:rPr sz="825" b="1">
                <a:solidFill>
                  <a:srgbClr val="82909E"/>
                </a:solidFill>
              </a:rPr>
              <a:t>01  /  07</a:t>
            </a:r>
          </a:p>
        </p:txBody>
      </p:sp>
    </p:spTree>
    <p:extLst>
      <p:ext uri="{BB962C8B-B14F-4D97-AF65-F5344CB8AC3E}">
        <p14:creationId xmlns:p14="http://schemas.microsoft.com/office/powerpoint/2010/main" val="56138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320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Technology Background Video">
            <a:hlinkClick action="ppaction://media"/>
            <a:extLst>
              <a:ext uri="{FF2B5EF4-FFF2-40B4-BE49-F238E27FC236}">
                <a16:creationId xmlns:a16="http://schemas.microsoft.com/office/drawing/2014/main" id="{069B91F9-F007-4D66-1F66-F7428434D2E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slide-2-number">
            <a:extLst>
              <a:ext uri="{FF2B5EF4-FFF2-40B4-BE49-F238E27FC236}">
                <a16:creationId xmlns:a16="http://schemas.microsoft.com/office/drawing/2014/main" id="{FFC2A6F2-9E74-4D52-A90A-4D321FE69B58}"/>
              </a:ext>
            </a:extLst>
          </p:cNvPr>
          <p:cNvSpPr>
            <a:spLocks noGrp="1"/>
          </p:cNvSpPr>
          <p:nvPr/>
        </p:nvSpPr>
        <p:spPr>
          <a:xfrm>
            <a:off x="514350" y="3143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00" b="1">
                <a:solidFill>
                  <a:srgbClr val="F4B942"/>
                </a:solidFill>
              </a:defRPr>
            </a:defPPr>
          </a:lstStyle>
          <a:p>
            <a:pPr algn="ctr">
              <a:defRPr sz="900" b="1">
                <a:solidFill>
                  <a:srgbClr val="F4B942"/>
                </a:solidFill>
              </a:defRPr>
            </a:pPr>
            <a:r>
              <a:rPr sz="900" b="1">
                <a:solidFill>
                  <a:srgbClr val="F4B942"/>
                </a:solidFill>
              </a:rPr>
              <a:t>02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378F75A-F6D0-40CE-8C35-863397412142}"/>
              </a:ext>
            </a:extLst>
          </p:cNvPr>
          <p:cNvSpPr>
            <a:spLocks noGrp="1"/>
          </p:cNvSpPr>
          <p:nvPr/>
        </p:nvSpPr>
        <p:spPr>
          <a:xfrm>
            <a:off x="1000125" y="419100"/>
            <a:ext cx="400050" cy="0"/>
          </a:xfrm>
          <a:prstGeom prst="line">
            <a:avLst/>
          </a:prstGeom>
          <a:noFill/>
          <a:ln w="19050">
            <a:solidFill>
              <a:srgbClr val="F4B942"/>
            </a:solidFill>
            <a:prstDash val="solid"/>
          </a:ln>
        </p:spPr>
      </p:sp>
      <p:sp>
        <p:nvSpPr>
          <p:cNvPr id="3" name="slide-2-eyebrow">
            <a:extLst>
              <a:ext uri="{FF2B5EF4-FFF2-40B4-BE49-F238E27FC236}">
                <a16:creationId xmlns:a16="http://schemas.microsoft.com/office/drawing/2014/main" id="{07A0F53D-B7FD-496F-A2FB-2DAAB4088E7D}"/>
              </a:ext>
            </a:extLst>
          </p:cNvPr>
          <p:cNvSpPr>
            <a:spLocks noGrp="1"/>
          </p:cNvSpPr>
          <p:nvPr/>
        </p:nvSpPr>
        <p:spPr>
          <a:xfrm>
            <a:off x="1543050" y="295275"/>
            <a:ext cx="371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1">
                <a:solidFill>
                  <a:srgbClr val="F4B942"/>
                </a:solidFill>
              </a:defRPr>
            </a:defPPr>
          </a:lstStyle>
          <a:p>
            <a:pPr algn="l">
              <a:defRPr sz="900" b="1">
                <a:solidFill>
                  <a:srgbClr val="F4B942"/>
                </a:solidFill>
              </a:defRPr>
            </a:pPr>
            <a:r>
              <a:rPr sz="900" b="1">
                <a:solidFill>
                  <a:srgbClr val="F4B942"/>
                </a:solidFill>
              </a:rPr>
              <a:t>PROBLEM AND APPROACH</a:t>
            </a:r>
          </a:p>
        </p:txBody>
      </p:sp>
      <p:sp>
        <p:nvSpPr>
          <p:cNvPr id="4" name="slide-2-title">
            <a:extLst>
              <a:ext uri="{FF2B5EF4-FFF2-40B4-BE49-F238E27FC236}">
                <a16:creationId xmlns:a16="http://schemas.microsoft.com/office/drawing/2014/main" id="{8B9AE1A3-A008-48CC-A41E-FC29A8DB38DE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F7FAFC"/>
                </a:solidFill>
              </a:defRPr>
            </a:defPPr>
          </a:lstStyle>
          <a:p>
            <a:pPr algn="l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Four disconnected views. One decision loop.</a:t>
            </a:r>
          </a:p>
        </p:txBody>
      </p:sp>
      <p:sp>
        <p:nvSpPr>
          <p:cNvPr id="5" name="slide-2-subtitle">
            <a:extLst>
              <a:ext uri="{FF2B5EF4-FFF2-40B4-BE49-F238E27FC236}">
                <a16:creationId xmlns:a16="http://schemas.microsoft.com/office/drawing/2014/main" id="{FA220FD4-58A4-4C29-93C2-2E392E2CB6C5}"/>
              </a:ext>
            </a:extLst>
          </p:cNvPr>
          <p:cNvSpPr>
            <a:spLocks noGrp="1"/>
          </p:cNvSpPr>
          <p:nvPr/>
        </p:nvSpPr>
        <p:spPr>
          <a:xfrm>
            <a:off x="533400" y="1295400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AAB7C4"/>
                </a:solidFill>
              </a:defRPr>
            </a:defPPr>
          </a:lstStyle>
          <a:p>
            <a:pPr algn="l">
              <a:defRPr sz="1200" b="0">
                <a:solidFill>
                  <a:srgbClr val="AAB7C4"/>
                </a:solidFill>
              </a:defRPr>
            </a:pPr>
            <a:r>
              <a:rPr sz="1200" b="0">
                <a:solidFill>
                  <a:srgbClr val="AAB7C4"/>
                </a:solidFill>
              </a:rPr>
              <a:t>The project treats news sentiment as evidence, then asks whether it matters to the position the user actually holds.</a:t>
            </a:r>
          </a:p>
        </p:txBody>
      </p:sp>
      <p:sp>
        <p:nvSpPr>
          <p:cNvPr id="6" name="slide-2-footer">
            <a:extLst>
              <a:ext uri="{FF2B5EF4-FFF2-40B4-BE49-F238E27FC236}">
                <a16:creationId xmlns:a16="http://schemas.microsoft.com/office/drawing/2014/main" id="{39769809-C8E1-440A-8DBB-E7510DC6C52A}"/>
              </a:ext>
            </a:extLst>
          </p:cNvPr>
          <p:cNvSpPr>
            <a:spLocks noGrp="1"/>
          </p:cNvSpPr>
          <p:nvPr/>
        </p:nvSpPr>
        <p:spPr>
          <a:xfrm>
            <a:off x="9315450" y="63817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750" b="1">
                <a:solidFill>
                  <a:srgbClr val="82909E"/>
                </a:solidFill>
              </a:defRPr>
            </a:defPPr>
          </a:lstStyle>
          <a:p>
            <a:pPr algn="r">
              <a:defRPr sz="750" b="1">
                <a:solidFill>
                  <a:srgbClr val="82909E"/>
                </a:solidFill>
              </a:defRPr>
            </a:pPr>
            <a:r>
              <a:rPr sz="750" b="1">
                <a:solidFill>
                  <a:srgbClr val="82909E"/>
                </a:solidFill>
              </a:rPr>
              <a:t>TRADING WENS   •   2 / 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49E77C-9B09-411F-88B0-A2F7FBBF90CB}"/>
              </a:ext>
            </a:extLst>
          </p:cNvPr>
          <p:cNvSpPr>
            <a:spLocks noGrp="1"/>
          </p:cNvSpPr>
          <p:nvPr/>
        </p:nvSpPr>
        <p:spPr>
          <a:xfrm>
            <a:off x="514350" y="2076450"/>
            <a:ext cx="2343150" cy="1638300"/>
          </a:xfrm>
          <a:prstGeom prst="roundRect">
            <a:avLst>
              <a:gd name="adj" fmla="val 6977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1E4B62A-FA77-4610-9A77-0EA2461909C6}"/>
              </a:ext>
            </a:extLst>
          </p:cNvPr>
          <p:cNvSpPr>
            <a:spLocks noGrp="1"/>
          </p:cNvSpPr>
          <p:nvPr/>
        </p:nvSpPr>
        <p:spPr>
          <a:xfrm>
            <a:off x="704850" y="2286000"/>
            <a:ext cx="323850" cy="323850"/>
          </a:xfrm>
          <a:prstGeom prst="ellipse">
            <a:avLst/>
          </a:prstGeom>
          <a:solidFill>
            <a:srgbClr val="57A5FF">
              <a:alpha val="20000"/>
            </a:srgbClr>
          </a:solidFill>
          <a:ln w="9525">
            <a:solidFill>
              <a:srgbClr val="57A5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82C61A-466E-4718-BFC0-4AA72C91ED3C}"/>
              </a:ext>
            </a:extLst>
          </p:cNvPr>
          <p:cNvSpPr>
            <a:spLocks noGrp="1"/>
          </p:cNvSpPr>
          <p:nvPr/>
        </p:nvSpPr>
        <p:spPr>
          <a:xfrm>
            <a:off x="704850" y="22860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57A5FF"/>
                </a:solidFill>
              </a:defRPr>
            </a:defPPr>
          </a:lstStyle>
          <a:p>
            <a:pPr algn="ctr">
              <a:defRPr sz="1050" b="1">
                <a:solidFill>
                  <a:srgbClr val="57A5FF"/>
                </a:solidFill>
              </a:defRPr>
            </a:pPr>
            <a:r>
              <a:rPr sz="1050" b="1">
                <a:solidFill>
                  <a:srgbClr val="57A5FF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ACFD85-AA20-402E-80A8-BB44648CF58E}"/>
              </a:ext>
            </a:extLst>
          </p:cNvPr>
          <p:cNvSpPr>
            <a:spLocks noGrp="1"/>
          </p:cNvSpPr>
          <p:nvPr/>
        </p:nvSpPr>
        <p:spPr>
          <a:xfrm>
            <a:off x="704850" y="2771775"/>
            <a:ext cx="1962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F7FAFC"/>
                </a:solidFill>
              </a:defRPr>
            </a:defPPr>
          </a:lstStyle>
          <a:p>
            <a:pPr algn="l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Market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D5C8AE-AE10-4079-A736-AAD548F294F8}"/>
              </a:ext>
            </a:extLst>
          </p:cNvPr>
          <p:cNvSpPr>
            <a:spLocks noGrp="1"/>
          </p:cNvSpPr>
          <p:nvPr/>
        </p:nvSpPr>
        <p:spPr>
          <a:xfrm>
            <a:off x="704850" y="3124200"/>
            <a:ext cx="19621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75" b="0">
                <a:solidFill>
                  <a:srgbClr val="AAB7C4"/>
                </a:solidFill>
              </a:defRPr>
            </a:defPPr>
          </a:lstStyle>
          <a:p>
            <a:pPr algn="l">
              <a:defRPr sz="975" b="0">
                <a:solidFill>
                  <a:srgbClr val="AAB7C4"/>
                </a:solidFill>
              </a:defRPr>
            </a:pPr>
            <a:r>
              <a:rPr sz="975" b="0">
                <a:solidFill>
                  <a:srgbClr val="AAB7C4"/>
                </a:solidFill>
              </a:rPr>
              <a:t>Price, range, volume, and current session movement</a:t>
            </a: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6152EA8C-3C56-482E-BCA5-3E1FF41257C8}"/>
              </a:ext>
            </a:extLst>
          </p:cNvPr>
          <p:cNvSpPr>
            <a:spLocks noGrp="1"/>
          </p:cNvSpPr>
          <p:nvPr/>
        </p:nvSpPr>
        <p:spPr>
          <a:xfrm>
            <a:off x="2952750" y="2686050"/>
            <a:ext cx="266700" cy="409575"/>
          </a:xfrm>
          <a:prstGeom prst="chevron">
            <a:avLst/>
          </a:prstGeom>
          <a:solidFill>
            <a:srgbClr val="F4B942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2F95B8B-5399-4305-BE63-07525C1A8B27}"/>
              </a:ext>
            </a:extLst>
          </p:cNvPr>
          <p:cNvSpPr>
            <a:spLocks noGrp="1"/>
          </p:cNvSpPr>
          <p:nvPr/>
        </p:nvSpPr>
        <p:spPr>
          <a:xfrm>
            <a:off x="3333750" y="2076450"/>
            <a:ext cx="2343150" cy="1638300"/>
          </a:xfrm>
          <a:prstGeom prst="roundRect">
            <a:avLst>
              <a:gd name="adj" fmla="val 6977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7C9EE0E-84FB-405B-AB33-2C4515176801}"/>
              </a:ext>
            </a:extLst>
          </p:cNvPr>
          <p:cNvSpPr>
            <a:spLocks noGrp="1"/>
          </p:cNvSpPr>
          <p:nvPr/>
        </p:nvSpPr>
        <p:spPr>
          <a:xfrm>
            <a:off x="3524250" y="2286000"/>
            <a:ext cx="323850" cy="323850"/>
          </a:xfrm>
          <a:prstGeom prst="ellipse">
            <a:avLst/>
          </a:prstGeom>
          <a:solidFill>
            <a:srgbClr val="2FD07D">
              <a:alpha val="20000"/>
            </a:srgbClr>
          </a:solidFill>
          <a:ln w="9525">
            <a:solidFill>
              <a:srgbClr val="2FD07D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D05BDF-2C20-4ED6-AA40-1A3A4844E4E8}"/>
              </a:ext>
            </a:extLst>
          </p:cNvPr>
          <p:cNvSpPr>
            <a:spLocks noGrp="1"/>
          </p:cNvSpPr>
          <p:nvPr/>
        </p:nvSpPr>
        <p:spPr>
          <a:xfrm>
            <a:off x="3524250" y="22860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2FD07D"/>
                </a:solidFill>
              </a:defRPr>
            </a:defPPr>
          </a:lstStyle>
          <a:p>
            <a:pPr algn="ctr">
              <a:defRPr sz="1050" b="1">
                <a:solidFill>
                  <a:srgbClr val="2FD07D"/>
                </a:solidFill>
              </a:defRPr>
            </a:pPr>
            <a:r>
              <a:rPr sz="1050" b="1">
                <a:solidFill>
                  <a:srgbClr val="2FD07D"/>
                </a:solidFill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AD3918-C6A0-4AC8-92AF-513C3C827AA3}"/>
              </a:ext>
            </a:extLst>
          </p:cNvPr>
          <p:cNvSpPr>
            <a:spLocks noGrp="1"/>
          </p:cNvSpPr>
          <p:nvPr/>
        </p:nvSpPr>
        <p:spPr>
          <a:xfrm>
            <a:off x="3524250" y="2771775"/>
            <a:ext cx="1962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F7FAFC"/>
                </a:solidFill>
              </a:defRPr>
            </a:defPPr>
          </a:lstStyle>
          <a:p>
            <a:pPr algn="l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News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7CB69B-1081-470C-846A-4B98B4F89715}"/>
              </a:ext>
            </a:extLst>
          </p:cNvPr>
          <p:cNvSpPr>
            <a:spLocks noGrp="1"/>
          </p:cNvSpPr>
          <p:nvPr/>
        </p:nvSpPr>
        <p:spPr>
          <a:xfrm>
            <a:off x="3524250" y="3124200"/>
            <a:ext cx="19621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75" b="0">
                <a:solidFill>
                  <a:srgbClr val="AAB7C4"/>
                </a:solidFill>
              </a:defRPr>
            </a:defPPr>
          </a:lstStyle>
          <a:p>
            <a:pPr algn="l">
              <a:defRPr sz="975" b="0">
                <a:solidFill>
                  <a:srgbClr val="AAB7C4"/>
                </a:solidFill>
              </a:defRPr>
            </a:pPr>
            <a:r>
              <a:rPr sz="975" b="0">
                <a:solidFill>
                  <a:srgbClr val="AAB7C4"/>
                </a:solidFill>
              </a:rPr>
              <a:t>Authenticated and public headlines with trained sentiment</a:t>
            </a: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4E826732-7AAC-4425-AC7B-31AB7344F318}"/>
              </a:ext>
            </a:extLst>
          </p:cNvPr>
          <p:cNvSpPr>
            <a:spLocks noGrp="1"/>
          </p:cNvSpPr>
          <p:nvPr/>
        </p:nvSpPr>
        <p:spPr>
          <a:xfrm>
            <a:off x="5772150" y="2686050"/>
            <a:ext cx="266700" cy="409575"/>
          </a:xfrm>
          <a:prstGeom prst="chevron">
            <a:avLst/>
          </a:prstGeom>
          <a:solidFill>
            <a:srgbClr val="F4B942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088CAB9-B502-4787-9C0D-0C238CBD2614}"/>
              </a:ext>
            </a:extLst>
          </p:cNvPr>
          <p:cNvSpPr>
            <a:spLocks noGrp="1"/>
          </p:cNvSpPr>
          <p:nvPr/>
        </p:nvSpPr>
        <p:spPr>
          <a:xfrm>
            <a:off x="6153150" y="2076450"/>
            <a:ext cx="2343150" cy="1638300"/>
          </a:xfrm>
          <a:prstGeom prst="roundRect">
            <a:avLst>
              <a:gd name="adj" fmla="val 6977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69BE600-D497-414A-A064-9CF3918A6CE0}"/>
              </a:ext>
            </a:extLst>
          </p:cNvPr>
          <p:cNvSpPr>
            <a:spLocks noGrp="1"/>
          </p:cNvSpPr>
          <p:nvPr/>
        </p:nvSpPr>
        <p:spPr>
          <a:xfrm>
            <a:off x="6343650" y="2286000"/>
            <a:ext cx="323850" cy="323850"/>
          </a:xfrm>
          <a:prstGeom prst="ellipse">
            <a:avLst/>
          </a:prstGeom>
          <a:solidFill>
            <a:srgbClr val="F4B942">
              <a:alpha val="20000"/>
            </a:srgbClr>
          </a:solidFill>
          <a:ln w="9525">
            <a:solidFill>
              <a:srgbClr val="F4B942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1E0D0F-2F0B-41DF-9104-A72B56FEB7F3}"/>
              </a:ext>
            </a:extLst>
          </p:cNvPr>
          <p:cNvSpPr>
            <a:spLocks noGrp="1"/>
          </p:cNvSpPr>
          <p:nvPr/>
        </p:nvSpPr>
        <p:spPr>
          <a:xfrm>
            <a:off x="6343650" y="22860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4B942"/>
                </a:solidFill>
              </a:defRPr>
            </a:defPPr>
          </a:lstStyle>
          <a:p>
            <a:pPr algn="ctr">
              <a:defRPr sz="1050" b="1">
                <a:solidFill>
                  <a:srgbClr val="F4B942"/>
                </a:solidFill>
              </a:defRPr>
            </a:pPr>
            <a:r>
              <a:rPr sz="1050" b="1">
                <a:solidFill>
                  <a:srgbClr val="F4B942"/>
                </a:solidFill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C9B14A-3A30-4D39-98D9-09389481965D}"/>
              </a:ext>
            </a:extLst>
          </p:cNvPr>
          <p:cNvSpPr>
            <a:spLocks noGrp="1"/>
          </p:cNvSpPr>
          <p:nvPr/>
        </p:nvSpPr>
        <p:spPr>
          <a:xfrm>
            <a:off x="6343650" y="2771775"/>
            <a:ext cx="1962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F7FAFC"/>
                </a:solidFill>
              </a:defRPr>
            </a:defPPr>
          </a:lstStyle>
          <a:p>
            <a:pPr algn="l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Position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09563A-B886-42F6-B935-C4B14DA83F8D}"/>
              </a:ext>
            </a:extLst>
          </p:cNvPr>
          <p:cNvSpPr>
            <a:spLocks noGrp="1"/>
          </p:cNvSpPr>
          <p:nvPr/>
        </p:nvSpPr>
        <p:spPr>
          <a:xfrm>
            <a:off x="6343650" y="3124200"/>
            <a:ext cx="19621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75" b="0">
                <a:solidFill>
                  <a:srgbClr val="AAB7C4"/>
                </a:solidFill>
              </a:defRPr>
            </a:defPPr>
          </a:lstStyle>
          <a:p>
            <a:pPr algn="l">
              <a:defRPr sz="975" b="0">
                <a:solidFill>
                  <a:srgbClr val="AAB7C4"/>
                </a:solidFill>
              </a:defRPr>
            </a:pPr>
            <a:r>
              <a:rPr sz="975" b="0">
                <a:solidFill>
                  <a:srgbClr val="AAB7C4"/>
                </a:solidFill>
              </a:rPr>
              <a:t>Live quantity, side, market value, and unrealized P/L</a:t>
            </a: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86B8B4B8-D1F1-403B-BBEF-90CE848B505A}"/>
              </a:ext>
            </a:extLst>
          </p:cNvPr>
          <p:cNvSpPr>
            <a:spLocks noGrp="1"/>
          </p:cNvSpPr>
          <p:nvPr/>
        </p:nvSpPr>
        <p:spPr>
          <a:xfrm>
            <a:off x="8591550" y="2686050"/>
            <a:ext cx="266700" cy="409575"/>
          </a:xfrm>
          <a:prstGeom prst="chevron">
            <a:avLst/>
          </a:prstGeom>
          <a:solidFill>
            <a:srgbClr val="F4B942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B329D14-EB01-41E4-9E8C-8C23B9443792}"/>
              </a:ext>
            </a:extLst>
          </p:cNvPr>
          <p:cNvSpPr>
            <a:spLocks noGrp="1"/>
          </p:cNvSpPr>
          <p:nvPr/>
        </p:nvSpPr>
        <p:spPr>
          <a:xfrm>
            <a:off x="8972550" y="2076450"/>
            <a:ext cx="2343150" cy="1638300"/>
          </a:xfrm>
          <a:prstGeom prst="roundRect">
            <a:avLst>
              <a:gd name="adj" fmla="val 6977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033DE3E-8564-47C2-AF6E-641D5F6305A1}"/>
              </a:ext>
            </a:extLst>
          </p:cNvPr>
          <p:cNvSpPr>
            <a:spLocks noGrp="1"/>
          </p:cNvSpPr>
          <p:nvPr/>
        </p:nvSpPr>
        <p:spPr>
          <a:xfrm>
            <a:off x="9163050" y="2286000"/>
            <a:ext cx="323850" cy="323850"/>
          </a:xfrm>
          <a:prstGeom prst="ellipse">
            <a:avLst/>
          </a:prstGeom>
          <a:solidFill>
            <a:srgbClr val="FF5A67">
              <a:alpha val="20000"/>
            </a:srgbClr>
          </a:solidFill>
          <a:ln w="9525">
            <a:solidFill>
              <a:srgbClr val="FF5A67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71400F-F61F-4ECF-8F21-26EC0435801B}"/>
              </a:ext>
            </a:extLst>
          </p:cNvPr>
          <p:cNvSpPr>
            <a:spLocks noGrp="1"/>
          </p:cNvSpPr>
          <p:nvPr/>
        </p:nvSpPr>
        <p:spPr>
          <a:xfrm>
            <a:off x="9163050" y="22860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5A67"/>
                </a:solidFill>
              </a:defRPr>
            </a:defPPr>
          </a:lstStyle>
          <a:p>
            <a:pPr algn="ctr">
              <a:defRPr sz="1050" b="1">
                <a:solidFill>
                  <a:srgbClr val="FF5A67"/>
                </a:solidFill>
              </a:defRPr>
            </a:pPr>
            <a:r>
              <a:rPr sz="1050" b="1">
                <a:solidFill>
                  <a:srgbClr val="FF5A67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BC66653-7A38-42E8-B33C-CB994B3EB6CD}"/>
              </a:ext>
            </a:extLst>
          </p:cNvPr>
          <p:cNvSpPr>
            <a:spLocks noGrp="1"/>
          </p:cNvSpPr>
          <p:nvPr/>
        </p:nvSpPr>
        <p:spPr>
          <a:xfrm>
            <a:off x="9163050" y="2771775"/>
            <a:ext cx="1962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F7FAFC"/>
                </a:solidFill>
              </a:defRPr>
            </a:defPPr>
          </a:lstStyle>
          <a:p>
            <a:pPr algn="l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Decision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88C662-BA37-4BEE-8955-5D1C71FCE062}"/>
              </a:ext>
            </a:extLst>
          </p:cNvPr>
          <p:cNvSpPr>
            <a:spLocks noGrp="1"/>
          </p:cNvSpPr>
          <p:nvPr/>
        </p:nvSpPr>
        <p:spPr>
          <a:xfrm>
            <a:off x="9163050" y="3124200"/>
            <a:ext cx="19621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75" b="0">
                <a:solidFill>
                  <a:srgbClr val="AAB7C4"/>
                </a:solidFill>
              </a:defRPr>
            </a:defPPr>
          </a:lstStyle>
          <a:p>
            <a:pPr algn="l">
              <a:defRPr sz="975" b="0">
                <a:solidFill>
                  <a:srgbClr val="AAB7C4"/>
                </a:solidFill>
              </a:defRPr>
            </a:pPr>
            <a:r>
              <a:rPr sz="975" b="0">
                <a:solidFill>
                  <a:srgbClr val="AAB7C4"/>
                </a:solidFill>
              </a:rPr>
              <a:t>Movement label, confidence, and adverse exposure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CA88B11-E46C-4EC4-B544-A33502AB3027}"/>
              </a:ext>
            </a:extLst>
          </p:cNvPr>
          <p:cNvSpPr>
            <a:spLocks noGrp="1"/>
          </p:cNvSpPr>
          <p:nvPr/>
        </p:nvSpPr>
        <p:spPr>
          <a:xfrm>
            <a:off x="514350" y="4038600"/>
            <a:ext cx="11220450" cy="1857375"/>
          </a:xfrm>
          <a:prstGeom prst="roundRect">
            <a:avLst>
              <a:gd name="adj" fmla="val 6154"/>
            </a:avLst>
          </a:prstGeom>
          <a:solidFill>
            <a:srgbClr val="071019">
              <a:alpha val="78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5C071BA-10A8-4415-9AEC-ED4EA7A13FF9}"/>
              </a:ext>
            </a:extLst>
          </p:cNvPr>
          <p:cNvSpPr>
            <a:spLocks noGrp="1"/>
          </p:cNvSpPr>
          <p:nvPr/>
        </p:nvSpPr>
        <p:spPr>
          <a:xfrm>
            <a:off x="762000" y="4257675"/>
            <a:ext cx="1428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825" b="1">
                <a:solidFill>
                  <a:srgbClr val="F4B942"/>
                </a:solidFill>
              </a:defRPr>
            </a:defPPr>
          </a:lstStyle>
          <a:p>
            <a:pPr algn="l">
              <a:defRPr sz="825" b="1">
                <a:solidFill>
                  <a:srgbClr val="F4B942"/>
                </a:solidFill>
              </a:defRPr>
            </a:pPr>
            <a:r>
              <a:rPr sz="825" b="1">
                <a:solidFill>
                  <a:srgbClr val="F4B942"/>
                </a:solidFill>
              </a:rPr>
              <a:t>THE CORE RULE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9CC68CD-D8D4-4E14-B483-568B8D309ECD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4524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F7FAFC"/>
                </a:solidFill>
              </a:defRPr>
            </a:defPPr>
          </a:lstStyle>
          <a:p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Risk depends on direction × position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826CB63-9BFA-453A-95BC-92CF43492507}"/>
              </a:ext>
            </a:extLst>
          </p:cNvPr>
          <p:cNvSpPr>
            <a:spLocks noGrp="1"/>
          </p:cNvSpPr>
          <p:nvPr/>
        </p:nvSpPr>
        <p:spPr>
          <a:xfrm>
            <a:off x="762000" y="5067300"/>
            <a:ext cx="49053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050" b="0">
                <a:solidFill>
                  <a:srgbClr val="AAB7C4"/>
                </a:solidFill>
              </a:defRPr>
            </a:defPPr>
          </a:lstStyle>
          <a:p>
            <a:pPr algn="l">
              <a:defRPr sz="1050" b="0">
                <a:solidFill>
                  <a:srgbClr val="AAB7C4"/>
                </a:solidFill>
              </a:defRPr>
            </a:pPr>
            <a:r>
              <a:rPr sz="1050" b="0">
                <a:solidFill>
                  <a:srgbClr val="AAB7C4"/>
                </a:solidFill>
              </a:rPr>
              <a:t>A predicted fall raises risk for a long position but reduces directional risk for a short position. A sideways label means the combined evidence does not clear the directional threshold.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0C0220-5024-47BC-BBC3-A5171916E112}"/>
              </a:ext>
            </a:extLst>
          </p:cNvPr>
          <p:cNvSpPr>
            <a:spLocks noGrp="1"/>
          </p:cNvSpPr>
          <p:nvPr/>
        </p:nvSpPr>
        <p:spPr>
          <a:xfrm>
            <a:off x="6505575" y="4371975"/>
            <a:ext cx="1981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00" b="1">
                <a:solidFill>
                  <a:srgbClr val="FF5A67"/>
                </a:solidFill>
              </a:defRPr>
            </a:defPPr>
          </a:lstStyle>
          <a:p>
            <a:pPr algn="ctr">
              <a:defRPr sz="900" b="1">
                <a:solidFill>
                  <a:srgbClr val="FF5A67"/>
                </a:solidFill>
              </a:defRPr>
            </a:pPr>
            <a:r>
              <a:rPr sz="900" b="1">
                <a:solidFill>
                  <a:srgbClr val="FF5A67"/>
                </a:solidFill>
              </a:rPr>
              <a:t>LONG  +  DOWNSIDE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1A5C53-EDF6-4B18-86D3-507B5D022A4E}"/>
              </a:ext>
            </a:extLst>
          </p:cNvPr>
          <p:cNvSpPr>
            <a:spLocks noGrp="1"/>
          </p:cNvSpPr>
          <p:nvPr/>
        </p:nvSpPr>
        <p:spPr>
          <a:xfrm>
            <a:off x="6810375" y="4695825"/>
            <a:ext cx="137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325" b="1">
                <a:solidFill>
                  <a:srgbClr val="FF5A67"/>
                </a:solidFill>
              </a:defRPr>
            </a:defPPr>
          </a:lstStyle>
          <a:p>
            <a:pPr algn="ctr">
              <a:defRPr sz="2325" b="1">
                <a:solidFill>
                  <a:srgbClr val="FF5A67"/>
                </a:solidFill>
              </a:defRPr>
            </a:pPr>
            <a:r>
              <a:rPr sz="2325" b="1">
                <a:solidFill>
                  <a:srgbClr val="FF5A67"/>
                </a:solidFill>
              </a:rPr>
              <a:t>RISK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CBF8D9-1DB8-49F6-BDB5-94C52D82E912}"/>
              </a:ext>
            </a:extLst>
          </p:cNvPr>
          <p:cNvSpPr>
            <a:spLocks noGrp="1"/>
          </p:cNvSpPr>
          <p:nvPr/>
        </p:nvSpPr>
        <p:spPr>
          <a:xfrm>
            <a:off x="9067800" y="4371975"/>
            <a:ext cx="1981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00" b="1">
                <a:solidFill>
                  <a:srgbClr val="2FD07D"/>
                </a:solidFill>
              </a:defRPr>
            </a:defPPr>
          </a:lstStyle>
          <a:p>
            <a:pPr algn="ctr">
              <a:defRPr sz="900" b="1">
                <a:solidFill>
                  <a:srgbClr val="2FD07D"/>
                </a:solidFill>
              </a:defRPr>
            </a:pPr>
            <a:r>
              <a:rPr sz="900" b="1">
                <a:solidFill>
                  <a:srgbClr val="2FD07D"/>
                </a:solidFill>
              </a:rPr>
              <a:t>LONG  +  UPSIDE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B40D705-ACE5-4333-827E-92924BD70B49}"/>
              </a:ext>
            </a:extLst>
          </p:cNvPr>
          <p:cNvSpPr>
            <a:spLocks noGrp="1"/>
          </p:cNvSpPr>
          <p:nvPr/>
        </p:nvSpPr>
        <p:spPr>
          <a:xfrm>
            <a:off x="9372600" y="4695825"/>
            <a:ext cx="137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325" b="1">
                <a:solidFill>
                  <a:srgbClr val="2FD07D"/>
                </a:solidFill>
              </a:defRPr>
            </a:defPPr>
          </a:lstStyle>
          <a:p>
            <a:pPr algn="ctr">
              <a:defRPr sz="2325" b="1">
                <a:solidFill>
                  <a:srgbClr val="2FD07D"/>
                </a:solidFill>
              </a:defRPr>
            </a:pPr>
            <a:r>
              <a:rPr sz="2325" b="1">
                <a:solidFill>
                  <a:srgbClr val="2FD07D"/>
                </a:solidFill>
              </a:rPr>
              <a:t>ALIGNED</a:t>
            </a:r>
          </a:p>
        </p:txBody>
      </p:sp>
    </p:spTree>
    <p:extLst>
      <p:ext uri="{BB962C8B-B14F-4D97-AF65-F5344CB8AC3E}">
        <p14:creationId xmlns:p14="http://schemas.microsoft.com/office/powerpoint/2010/main" val="1982341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320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Technology Background Video">
            <a:hlinkClick action="ppaction://media"/>
            <a:extLst>
              <a:ext uri="{FF2B5EF4-FFF2-40B4-BE49-F238E27FC236}">
                <a16:creationId xmlns:a16="http://schemas.microsoft.com/office/drawing/2014/main" id="{9D2DE7B9-DCB9-B895-1F13-10DDC53B536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C398ADEB-5B1E-409E-96E3-39B4BA0F5A2D}"/>
              </a:ext>
            </a:extLst>
          </p:cNvPr>
          <p:cNvCxnSpPr>
            <a:stCxn id="27" idx="3"/>
            <a:endCxn id="31" idx="1"/>
          </p:cNvCxnSpPr>
          <p:nvPr/>
        </p:nvCxnSpPr>
        <p:spPr>
          <a:xfrm flipV="1">
            <a:off x="8286750" y="3752850"/>
            <a:ext cx="876300" cy="790575"/>
          </a:xfrm>
          <a:prstGeom prst="bentConnector3">
            <a:avLst>
              <a:gd name="adj1" fmla="val 50000"/>
            </a:avLst>
          </a:prstGeom>
          <a:ln w="19050">
            <a:solidFill>
              <a:srgbClr val="82909E"/>
            </a:solidFill>
            <a:prstDash val="solid"/>
            <a:tailEnd type="triangle" w="sm" len="sm"/>
          </a:ln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6D5E872-2E35-4930-AC9F-4F1FF62B740A}"/>
              </a:ext>
            </a:extLst>
          </p:cNvPr>
          <p:cNvCxnSpPr>
            <a:stCxn id="23" idx="2"/>
            <a:endCxn id="27" idx="0"/>
          </p:cNvCxnSpPr>
          <p:nvPr/>
        </p:nvCxnSpPr>
        <p:spPr>
          <a:xfrm>
            <a:off x="7239000" y="3524250"/>
            <a:ext cx="0" cy="390525"/>
          </a:xfrm>
          <a:prstGeom prst="straightConnector1">
            <a:avLst/>
          </a:prstGeom>
          <a:ln w="19050">
            <a:solidFill>
              <a:srgbClr val="82909E"/>
            </a:solidFill>
            <a:prstDash val="solid"/>
            <a:tailEnd type="triangle" w="sm" len="sm"/>
          </a:ln>
        </p:spPr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D6B5B2CE-69CA-4A13-B290-4799B423132D}"/>
              </a:ext>
            </a:extLst>
          </p:cNvPr>
          <p:cNvCxnSpPr>
            <a:stCxn id="19" idx="3"/>
            <a:endCxn id="23" idx="1"/>
          </p:cNvCxnSpPr>
          <p:nvPr/>
        </p:nvCxnSpPr>
        <p:spPr>
          <a:xfrm flipV="1">
            <a:off x="5372100" y="2895600"/>
            <a:ext cx="819150" cy="857250"/>
          </a:xfrm>
          <a:prstGeom prst="bentConnector3">
            <a:avLst>
              <a:gd name="adj1" fmla="val 50000"/>
            </a:avLst>
          </a:prstGeom>
          <a:ln w="19050">
            <a:solidFill>
              <a:srgbClr val="82909E"/>
            </a:solidFill>
            <a:prstDash val="solid"/>
            <a:tailEnd type="triangle" w="sm" len="sm"/>
          </a:ln>
        </p:spPr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99C6FC15-06A6-4A3C-97D4-372CDFDC4771}"/>
              </a:ext>
            </a:extLst>
          </p:cNvPr>
          <p:cNvCxnSpPr>
            <a:stCxn id="15" idx="3"/>
            <a:endCxn id="19" idx="1"/>
          </p:cNvCxnSpPr>
          <p:nvPr/>
        </p:nvCxnSpPr>
        <p:spPr>
          <a:xfrm flipV="1">
            <a:off x="2362200" y="3752850"/>
            <a:ext cx="876300" cy="1123950"/>
          </a:xfrm>
          <a:prstGeom prst="bentConnector3">
            <a:avLst>
              <a:gd name="adj1" fmla="val 50000"/>
            </a:avLst>
          </a:prstGeom>
          <a:ln w="19050">
            <a:solidFill>
              <a:srgbClr val="82909E"/>
            </a:solidFill>
            <a:prstDash val="solid"/>
            <a:tailEnd type="triangle" w="sm" len="sm"/>
          </a:ln>
        </p:spPr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D8C2F8BD-9A35-4958-94CA-AFA7A187EEBC}"/>
              </a:ext>
            </a:extLst>
          </p:cNvPr>
          <p:cNvCxnSpPr>
            <a:stCxn id="11" idx="3"/>
            <a:endCxn id="19" idx="1"/>
          </p:cNvCxnSpPr>
          <p:nvPr/>
        </p:nvCxnSpPr>
        <p:spPr>
          <a:xfrm flipV="1">
            <a:off x="2362200" y="3752850"/>
            <a:ext cx="876300" cy="38100"/>
          </a:xfrm>
          <a:prstGeom prst="bentConnector3">
            <a:avLst>
              <a:gd name="adj1" fmla="val 50000"/>
            </a:avLst>
          </a:prstGeom>
          <a:ln w="19050">
            <a:solidFill>
              <a:srgbClr val="82909E"/>
            </a:solidFill>
            <a:prstDash val="solid"/>
            <a:tailEnd type="triangle" w="sm" len="sm"/>
          </a:ln>
        </p:spPr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9737440D-99DF-481B-8235-CA4DF635A0C0}"/>
              </a:ext>
            </a:extLst>
          </p:cNvPr>
          <p:cNvCxnSpPr>
            <a:stCxn id="7" idx="3"/>
            <a:endCxn id="19" idx="1"/>
          </p:cNvCxnSpPr>
          <p:nvPr/>
        </p:nvCxnSpPr>
        <p:spPr>
          <a:xfrm>
            <a:off x="2362200" y="2705100"/>
            <a:ext cx="876300" cy="1047750"/>
          </a:xfrm>
          <a:prstGeom prst="bentConnector3">
            <a:avLst>
              <a:gd name="adj1" fmla="val 50000"/>
            </a:avLst>
          </a:prstGeom>
          <a:ln w="19050">
            <a:solidFill>
              <a:srgbClr val="82909E"/>
            </a:solidFill>
            <a:prstDash val="solid"/>
            <a:tailEnd type="triangle" w="sm" len="sm"/>
          </a:ln>
        </p:spPr>
      </p:cxnSp>
      <p:sp>
        <p:nvSpPr>
          <p:cNvPr id="44" name="slide-3-number">
            <a:extLst>
              <a:ext uri="{FF2B5EF4-FFF2-40B4-BE49-F238E27FC236}">
                <a16:creationId xmlns:a16="http://schemas.microsoft.com/office/drawing/2014/main" id="{7E2368EE-C90F-40B4-A2A7-2F106BF67E90}"/>
              </a:ext>
            </a:extLst>
          </p:cNvPr>
          <p:cNvSpPr>
            <a:spLocks noGrp="1"/>
          </p:cNvSpPr>
          <p:nvPr/>
        </p:nvSpPr>
        <p:spPr>
          <a:xfrm>
            <a:off x="514350" y="3143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00" b="1">
                <a:solidFill>
                  <a:srgbClr val="F4B942"/>
                </a:solidFill>
              </a:defRPr>
            </a:defPPr>
          </a:lstStyle>
          <a:p>
            <a:pPr algn="ctr">
              <a:defRPr sz="900" b="1">
                <a:solidFill>
                  <a:srgbClr val="F4B942"/>
                </a:solidFill>
              </a:defRPr>
            </a:pPr>
            <a:r>
              <a:rPr sz="900" b="1">
                <a:solidFill>
                  <a:srgbClr val="F4B942"/>
                </a:solidFill>
              </a:rPr>
              <a:t>03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CB7D146D-8F02-4842-A766-6200CD52ECB9}"/>
              </a:ext>
            </a:extLst>
          </p:cNvPr>
          <p:cNvSpPr>
            <a:spLocks noGrp="1"/>
          </p:cNvSpPr>
          <p:nvPr/>
        </p:nvSpPr>
        <p:spPr>
          <a:xfrm>
            <a:off x="1000125" y="419100"/>
            <a:ext cx="400050" cy="0"/>
          </a:xfrm>
          <a:prstGeom prst="line">
            <a:avLst/>
          </a:prstGeom>
          <a:noFill/>
          <a:ln w="19050">
            <a:solidFill>
              <a:srgbClr val="F4B942"/>
            </a:solidFill>
            <a:prstDash val="solid"/>
          </a:ln>
        </p:spPr>
      </p:sp>
      <p:sp>
        <p:nvSpPr>
          <p:cNvPr id="3" name="slide-3-eyebrow">
            <a:extLst>
              <a:ext uri="{FF2B5EF4-FFF2-40B4-BE49-F238E27FC236}">
                <a16:creationId xmlns:a16="http://schemas.microsoft.com/office/drawing/2014/main" id="{1D9ECFEB-AA7F-40BE-85C1-AFE9AEDFFCE7}"/>
              </a:ext>
            </a:extLst>
          </p:cNvPr>
          <p:cNvSpPr>
            <a:spLocks noGrp="1"/>
          </p:cNvSpPr>
          <p:nvPr/>
        </p:nvSpPr>
        <p:spPr>
          <a:xfrm>
            <a:off x="1543050" y="295275"/>
            <a:ext cx="371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1">
                <a:solidFill>
                  <a:srgbClr val="F4B942"/>
                </a:solidFill>
              </a:defRPr>
            </a:defPPr>
          </a:lstStyle>
          <a:p>
            <a:pPr algn="l">
              <a:defRPr sz="900" b="1">
                <a:solidFill>
                  <a:srgbClr val="F4B942"/>
                </a:solidFill>
              </a:defRPr>
            </a:pPr>
            <a:r>
              <a:rPr sz="900" b="1">
                <a:solidFill>
                  <a:srgbClr val="F4B942"/>
                </a:solidFill>
              </a:rPr>
              <a:t>SYSTEM DESIGN</a:t>
            </a:r>
          </a:p>
        </p:txBody>
      </p:sp>
      <p:sp>
        <p:nvSpPr>
          <p:cNvPr id="4" name="slide-3-title">
            <a:extLst>
              <a:ext uri="{FF2B5EF4-FFF2-40B4-BE49-F238E27FC236}">
                <a16:creationId xmlns:a16="http://schemas.microsoft.com/office/drawing/2014/main" id="{F6FC82B8-31C4-4BA5-8D16-389FE87B9073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F7FAFC"/>
                </a:solidFill>
              </a:defRPr>
            </a:defPPr>
          </a:lstStyle>
          <a:p>
            <a:pPr algn="l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A bounded, traceable path from source to screen.</a:t>
            </a:r>
          </a:p>
        </p:txBody>
      </p:sp>
      <p:sp>
        <p:nvSpPr>
          <p:cNvPr id="5" name="slide-3-subtitle">
            <a:extLst>
              <a:ext uri="{FF2B5EF4-FFF2-40B4-BE49-F238E27FC236}">
                <a16:creationId xmlns:a16="http://schemas.microsoft.com/office/drawing/2014/main" id="{B63BF187-57C8-473F-867A-CC47015D3DFB}"/>
              </a:ext>
            </a:extLst>
          </p:cNvPr>
          <p:cNvSpPr>
            <a:spLocks noGrp="1"/>
          </p:cNvSpPr>
          <p:nvPr/>
        </p:nvSpPr>
        <p:spPr>
          <a:xfrm>
            <a:off x="533400" y="1295400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AAB7C4"/>
                </a:solidFill>
              </a:defRPr>
            </a:defPPr>
          </a:lstStyle>
          <a:p>
            <a:pPr algn="l">
              <a:defRPr sz="1200" b="0">
                <a:solidFill>
                  <a:srgbClr val="AAB7C4"/>
                </a:solidFill>
              </a:defRPr>
            </a:pPr>
            <a:r>
              <a:rPr sz="1200" b="0">
                <a:solidFill>
                  <a:srgbClr val="AAB7C4"/>
                </a:solidFill>
              </a:rPr>
              <a:t>Provider-specific payloads stop at the API boundary. Every downstream view consumes normalized contracts.</a:t>
            </a:r>
          </a:p>
        </p:txBody>
      </p:sp>
      <p:sp>
        <p:nvSpPr>
          <p:cNvPr id="6" name="slide-3-footer">
            <a:extLst>
              <a:ext uri="{FF2B5EF4-FFF2-40B4-BE49-F238E27FC236}">
                <a16:creationId xmlns:a16="http://schemas.microsoft.com/office/drawing/2014/main" id="{501F12F2-1DAB-4ACB-B740-7AC523FA787C}"/>
              </a:ext>
            </a:extLst>
          </p:cNvPr>
          <p:cNvSpPr>
            <a:spLocks noGrp="1"/>
          </p:cNvSpPr>
          <p:nvPr/>
        </p:nvSpPr>
        <p:spPr>
          <a:xfrm>
            <a:off x="9315450" y="63817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750" b="1">
                <a:solidFill>
                  <a:srgbClr val="82909E"/>
                </a:solidFill>
              </a:defRPr>
            </a:defPPr>
          </a:lstStyle>
          <a:p>
            <a:pPr algn="r">
              <a:defRPr sz="750" b="1">
                <a:solidFill>
                  <a:srgbClr val="82909E"/>
                </a:solidFill>
              </a:defRPr>
            </a:pPr>
            <a:r>
              <a:rPr sz="750" b="1">
                <a:solidFill>
                  <a:srgbClr val="82909E"/>
                </a:solidFill>
              </a:rPr>
              <a:t>TRADING WENS   •   3 / 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2B8F44-4A18-40CD-B265-8478018F9227}"/>
              </a:ext>
            </a:extLst>
          </p:cNvPr>
          <p:cNvSpPr>
            <a:spLocks noGrp="1"/>
          </p:cNvSpPr>
          <p:nvPr/>
        </p:nvSpPr>
        <p:spPr>
          <a:xfrm>
            <a:off x="514350" y="2266950"/>
            <a:ext cx="1847850" cy="876300"/>
          </a:xfrm>
          <a:prstGeom prst="roundRect">
            <a:avLst>
              <a:gd name="adj" fmla="val 13043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1AE665-09D1-4458-A9C3-E4C59D2B3114}"/>
              </a:ext>
            </a:extLst>
          </p:cNvPr>
          <p:cNvSpPr>
            <a:spLocks noGrp="1"/>
          </p:cNvSpPr>
          <p:nvPr/>
        </p:nvSpPr>
        <p:spPr>
          <a:xfrm>
            <a:off x="514350" y="2266950"/>
            <a:ext cx="47625" cy="876300"/>
          </a:xfrm>
          <a:prstGeom prst="rect">
            <a:avLst/>
          </a:prstGeom>
          <a:solidFill>
            <a:srgbClr val="57A5FF"/>
          </a:solidFill>
          <a:ln w="0">
            <a:solidFill>
              <a:srgbClr val="57A5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8B1E1-62F9-44EA-B08E-AB703F5F9E8E}"/>
              </a:ext>
            </a:extLst>
          </p:cNvPr>
          <p:cNvSpPr>
            <a:spLocks noGrp="1"/>
          </p:cNvSpPr>
          <p:nvPr/>
        </p:nvSpPr>
        <p:spPr>
          <a:xfrm>
            <a:off x="704850" y="240982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7FAFC"/>
                </a:solidFill>
              </a:defRPr>
            </a:defPPr>
          </a:lstStyle>
          <a:p>
            <a:pPr algn="l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Alpaca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DEF33F-89DE-4AE3-8C9B-5262D6C3EF5D}"/>
              </a:ext>
            </a:extLst>
          </p:cNvPr>
          <p:cNvSpPr>
            <a:spLocks noGrp="1"/>
          </p:cNvSpPr>
          <p:nvPr/>
        </p:nvSpPr>
        <p:spPr>
          <a:xfrm>
            <a:off x="704850" y="2733675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AAB7C4"/>
                </a:solidFill>
              </a:defRPr>
            </a:defPPr>
          </a:lstStyle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Market · account · orders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34D076F-4001-4615-9E8A-35A9F79CA4D7}"/>
              </a:ext>
            </a:extLst>
          </p:cNvPr>
          <p:cNvSpPr>
            <a:spLocks noGrp="1"/>
          </p:cNvSpPr>
          <p:nvPr/>
        </p:nvSpPr>
        <p:spPr>
          <a:xfrm>
            <a:off x="514350" y="3352800"/>
            <a:ext cx="1847850" cy="876300"/>
          </a:xfrm>
          <a:prstGeom prst="roundRect">
            <a:avLst>
              <a:gd name="adj" fmla="val 13043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D41145-94AB-4691-A717-042BA49E5267}"/>
              </a:ext>
            </a:extLst>
          </p:cNvPr>
          <p:cNvSpPr>
            <a:spLocks noGrp="1"/>
          </p:cNvSpPr>
          <p:nvPr/>
        </p:nvSpPr>
        <p:spPr>
          <a:xfrm>
            <a:off x="514350" y="3352800"/>
            <a:ext cx="47625" cy="876300"/>
          </a:xfrm>
          <a:prstGeom prst="rect">
            <a:avLst/>
          </a:prstGeom>
          <a:solidFill>
            <a:srgbClr val="2FD07D"/>
          </a:solidFill>
          <a:ln w="0">
            <a:solidFill>
              <a:srgbClr val="2FD07D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D24B6F-36C3-48AC-B1BF-A433BD439287}"/>
              </a:ext>
            </a:extLst>
          </p:cNvPr>
          <p:cNvSpPr>
            <a:spLocks noGrp="1"/>
          </p:cNvSpPr>
          <p:nvPr/>
        </p:nvSpPr>
        <p:spPr>
          <a:xfrm>
            <a:off x="704850" y="349567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7FAFC"/>
                </a:solidFill>
              </a:defRPr>
            </a:defPPr>
          </a:lstStyle>
          <a:p>
            <a:pPr algn="l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GDELT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EBCBC6-AED0-48F2-AE16-58C060BE5759}"/>
              </a:ext>
            </a:extLst>
          </p:cNvPr>
          <p:cNvSpPr>
            <a:spLocks noGrp="1"/>
          </p:cNvSpPr>
          <p:nvPr/>
        </p:nvSpPr>
        <p:spPr>
          <a:xfrm>
            <a:off x="704850" y="3819525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AAB7C4"/>
                </a:solidFill>
              </a:defRPr>
            </a:defPPr>
          </a:lstStyle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Public company coverage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E9807C9-B010-46EB-9556-3A377301464E}"/>
              </a:ext>
            </a:extLst>
          </p:cNvPr>
          <p:cNvSpPr>
            <a:spLocks noGrp="1"/>
          </p:cNvSpPr>
          <p:nvPr/>
        </p:nvSpPr>
        <p:spPr>
          <a:xfrm>
            <a:off x="514350" y="4438650"/>
            <a:ext cx="1847850" cy="876300"/>
          </a:xfrm>
          <a:prstGeom prst="roundRect">
            <a:avLst>
              <a:gd name="adj" fmla="val 13043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53B9A0-CC6A-4FC9-9954-C49235CB72AD}"/>
              </a:ext>
            </a:extLst>
          </p:cNvPr>
          <p:cNvSpPr>
            <a:spLocks noGrp="1"/>
          </p:cNvSpPr>
          <p:nvPr/>
        </p:nvSpPr>
        <p:spPr>
          <a:xfrm>
            <a:off x="514350" y="4438650"/>
            <a:ext cx="47625" cy="8763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98EFCF-AA0E-4B4F-92D3-081E49797484}"/>
              </a:ext>
            </a:extLst>
          </p:cNvPr>
          <p:cNvSpPr>
            <a:spLocks noGrp="1"/>
          </p:cNvSpPr>
          <p:nvPr/>
        </p:nvSpPr>
        <p:spPr>
          <a:xfrm>
            <a:off x="704850" y="458152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7FAFC"/>
                </a:solidFill>
              </a:defRPr>
            </a:defPPr>
          </a:lstStyle>
          <a:p>
            <a:pPr algn="l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Bluesky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DE6B96-746E-4D32-9B24-F583A4B9D257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AAB7C4"/>
                </a:solidFill>
              </a:defRPr>
            </a:defPPr>
          </a:lstStyle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Public social context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A57CB62-8CEC-4BBE-A53F-9225EA85CA0D}"/>
              </a:ext>
            </a:extLst>
          </p:cNvPr>
          <p:cNvSpPr>
            <a:spLocks noGrp="1"/>
          </p:cNvSpPr>
          <p:nvPr/>
        </p:nvSpPr>
        <p:spPr>
          <a:xfrm>
            <a:off x="3238500" y="2619375"/>
            <a:ext cx="2133600" cy="2266950"/>
          </a:xfrm>
          <a:prstGeom prst="roundRect">
            <a:avLst>
              <a:gd name="adj" fmla="val 5357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2BC08D-D17B-4A74-A86D-D82D65D0EBF8}"/>
              </a:ext>
            </a:extLst>
          </p:cNvPr>
          <p:cNvSpPr>
            <a:spLocks noGrp="1"/>
          </p:cNvSpPr>
          <p:nvPr/>
        </p:nvSpPr>
        <p:spPr>
          <a:xfrm>
            <a:off x="3238500" y="2619375"/>
            <a:ext cx="47625" cy="22669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571B40-9D79-4BE8-B30B-EF55CECF974A}"/>
              </a:ext>
            </a:extLst>
          </p:cNvPr>
          <p:cNvSpPr>
            <a:spLocks noGrp="1"/>
          </p:cNvSpPr>
          <p:nvPr/>
        </p:nvSpPr>
        <p:spPr>
          <a:xfrm>
            <a:off x="3429000" y="27622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7FAFC"/>
                </a:solidFill>
              </a:defRPr>
            </a:defPPr>
          </a:lstStyle>
          <a:p>
            <a:pPr algn="l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Go API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ACED46-C316-41A2-AFC9-66CD1C18C463}"/>
              </a:ext>
            </a:extLst>
          </p:cNvPr>
          <p:cNvSpPr>
            <a:spLocks noGrp="1"/>
          </p:cNvSpPr>
          <p:nvPr/>
        </p:nvSpPr>
        <p:spPr>
          <a:xfrm>
            <a:off x="3429000" y="3086100"/>
            <a:ext cx="18097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AAB7C4"/>
                </a:solidFill>
              </a:defRPr>
            </a:defPPr>
          </a:lstStyle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Session gate</a:t>
            </a:r>
          </a:p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Normalization</a:t>
            </a:r>
          </a:p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Deduplication</a:t>
            </a:r>
          </a:p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Paper execution</a:t>
            </a:r>
          </a:p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PostgreSQL persistence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1DCAECB-2A01-43D0-A190-FE49FC02B415}"/>
              </a:ext>
            </a:extLst>
          </p:cNvPr>
          <p:cNvSpPr>
            <a:spLocks noGrp="1"/>
          </p:cNvSpPr>
          <p:nvPr/>
        </p:nvSpPr>
        <p:spPr>
          <a:xfrm>
            <a:off x="6191250" y="2266950"/>
            <a:ext cx="2095500" cy="1257300"/>
          </a:xfrm>
          <a:prstGeom prst="roundRect">
            <a:avLst>
              <a:gd name="adj" fmla="val 9091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417CC0-2EC5-4F31-9A35-A76C59230460}"/>
              </a:ext>
            </a:extLst>
          </p:cNvPr>
          <p:cNvSpPr>
            <a:spLocks noGrp="1"/>
          </p:cNvSpPr>
          <p:nvPr/>
        </p:nvSpPr>
        <p:spPr>
          <a:xfrm>
            <a:off x="6191250" y="2266950"/>
            <a:ext cx="47625" cy="1257300"/>
          </a:xfrm>
          <a:prstGeom prst="rect">
            <a:avLst/>
          </a:prstGeom>
          <a:solidFill>
            <a:srgbClr val="2FD07D"/>
          </a:solidFill>
          <a:ln w="0">
            <a:solidFill>
              <a:srgbClr val="2FD07D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22DFB3-9FCC-4DCA-8C10-87FE67315EDF}"/>
              </a:ext>
            </a:extLst>
          </p:cNvPr>
          <p:cNvSpPr>
            <a:spLocks noGrp="1"/>
          </p:cNvSpPr>
          <p:nvPr/>
        </p:nvSpPr>
        <p:spPr>
          <a:xfrm>
            <a:off x="6381750" y="2409825"/>
            <a:ext cx="1771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7FAFC"/>
                </a:solidFill>
              </a:defRPr>
            </a:defPPr>
          </a:lstStyle>
          <a:p>
            <a:pPr algn="l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FinBERT service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62A19A-08D4-4A63-8E86-3342692B187E}"/>
              </a:ext>
            </a:extLst>
          </p:cNvPr>
          <p:cNvSpPr>
            <a:spLocks noGrp="1"/>
          </p:cNvSpPr>
          <p:nvPr/>
        </p:nvSpPr>
        <p:spPr>
          <a:xfrm>
            <a:off x="6381750" y="2733675"/>
            <a:ext cx="1771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AAB7C4"/>
                </a:solidFill>
              </a:defRPr>
            </a:defPPr>
          </a:lstStyle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Bounded batch inference</a:t>
            </a:r>
          </a:p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Model + version metadata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72F78E9-B3B0-4126-AC94-93A24BBB486C}"/>
              </a:ext>
            </a:extLst>
          </p:cNvPr>
          <p:cNvSpPr>
            <a:spLocks noGrp="1"/>
          </p:cNvSpPr>
          <p:nvPr/>
        </p:nvSpPr>
        <p:spPr>
          <a:xfrm>
            <a:off x="6191250" y="3914775"/>
            <a:ext cx="2095500" cy="1257300"/>
          </a:xfrm>
          <a:prstGeom prst="roundRect">
            <a:avLst>
              <a:gd name="adj" fmla="val 9091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8CE2E0-D30F-44D7-8A97-0DE208400121}"/>
              </a:ext>
            </a:extLst>
          </p:cNvPr>
          <p:cNvSpPr>
            <a:spLocks noGrp="1"/>
          </p:cNvSpPr>
          <p:nvPr/>
        </p:nvSpPr>
        <p:spPr>
          <a:xfrm>
            <a:off x="6191250" y="3914775"/>
            <a:ext cx="47625" cy="1257300"/>
          </a:xfrm>
          <a:prstGeom prst="rect">
            <a:avLst/>
          </a:prstGeom>
          <a:solidFill>
            <a:srgbClr val="57A5FF"/>
          </a:solidFill>
          <a:ln w="0">
            <a:solidFill>
              <a:srgbClr val="57A5F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BF05C8-64E0-4679-BF07-8E4629942533}"/>
              </a:ext>
            </a:extLst>
          </p:cNvPr>
          <p:cNvSpPr>
            <a:spLocks noGrp="1"/>
          </p:cNvSpPr>
          <p:nvPr/>
        </p:nvSpPr>
        <p:spPr>
          <a:xfrm>
            <a:off x="6381750" y="4057650"/>
            <a:ext cx="1771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7FAFC"/>
                </a:solidFill>
              </a:defRPr>
            </a:defPPr>
          </a:lstStyle>
          <a:p>
            <a:pPr algn="l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Shared signal layer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E95376D-C8AF-4D02-B6A8-50114D9D81D5}"/>
              </a:ext>
            </a:extLst>
          </p:cNvPr>
          <p:cNvSpPr>
            <a:spLocks noGrp="1"/>
          </p:cNvSpPr>
          <p:nvPr/>
        </p:nvSpPr>
        <p:spPr>
          <a:xfrm>
            <a:off x="6381750" y="4381500"/>
            <a:ext cx="1771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AAB7C4"/>
                </a:solidFill>
              </a:defRPr>
            </a:defPPr>
          </a:lstStyle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Movement direction</a:t>
            </a:r>
          </a:p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Position-aware risk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886B063-6FDA-4919-8B6F-BA9675E0358B}"/>
              </a:ext>
            </a:extLst>
          </p:cNvPr>
          <p:cNvSpPr>
            <a:spLocks noGrp="1"/>
          </p:cNvSpPr>
          <p:nvPr/>
        </p:nvSpPr>
        <p:spPr>
          <a:xfrm>
            <a:off x="9163050" y="2619375"/>
            <a:ext cx="2571750" cy="2266950"/>
          </a:xfrm>
          <a:prstGeom prst="roundRect">
            <a:avLst>
              <a:gd name="adj" fmla="val 5042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926860-2BDC-4995-AE45-6DB92DEA10D0}"/>
              </a:ext>
            </a:extLst>
          </p:cNvPr>
          <p:cNvSpPr>
            <a:spLocks noGrp="1"/>
          </p:cNvSpPr>
          <p:nvPr/>
        </p:nvSpPr>
        <p:spPr>
          <a:xfrm>
            <a:off x="9163050" y="2619375"/>
            <a:ext cx="47625" cy="2266950"/>
          </a:xfrm>
          <a:prstGeom prst="rect">
            <a:avLst/>
          </a:prstGeom>
          <a:solidFill>
            <a:srgbClr val="FF5A67"/>
          </a:solidFill>
          <a:ln w="0">
            <a:solidFill>
              <a:srgbClr val="FF5A67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E72A96B-62E0-45A1-A32F-43CD48A02655}"/>
              </a:ext>
            </a:extLst>
          </p:cNvPr>
          <p:cNvSpPr>
            <a:spLocks noGrp="1"/>
          </p:cNvSpPr>
          <p:nvPr/>
        </p:nvSpPr>
        <p:spPr>
          <a:xfrm>
            <a:off x="9353550" y="2762250"/>
            <a:ext cx="2247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7FAFC"/>
                </a:solidFill>
              </a:defRPr>
            </a:defPPr>
          </a:lstStyle>
          <a:p>
            <a:pPr algn="l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React workspace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545CB3C-25F8-4424-A078-BCF4253DEABF}"/>
              </a:ext>
            </a:extLst>
          </p:cNvPr>
          <p:cNvSpPr>
            <a:spLocks noGrp="1"/>
          </p:cNvSpPr>
          <p:nvPr/>
        </p:nvSpPr>
        <p:spPr>
          <a:xfrm>
            <a:off x="9353550" y="3086100"/>
            <a:ext cx="22479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AAB7C4"/>
                </a:solidFill>
              </a:defRPr>
            </a:defPPr>
          </a:lstStyle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Overview</a:t>
            </a:r>
          </a:p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Live trading</a:t>
            </a:r>
          </a:p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Risk feed</a:t>
            </a:r>
          </a:p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Portfolio status</a:t>
            </a:r>
          </a:p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Evidence drill-down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E8DBB49-AEE8-4088-B539-EED4A6A17BFF}"/>
              </a:ext>
            </a:extLst>
          </p:cNvPr>
          <p:cNvSpPr>
            <a:spLocks noGrp="1"/>
          </p:cNvSpPr>
          <p:nvPr/>
        </p:nvSpPr>
        <p:spPr>
          <a:xfrm>
            <a:off x="3295650" y="5219700"/>
            <a:ext cx="1257300" cy="295275"/>
          </a:xfrm>
          <a:prstGeom prst="roundRect">
            <a:avLst>
              <a:gd name="adj" fmla="val 50000"/>
            </a:avLst>
          </a:prstGeom>
          <a:solidFill>
            <a:srgbClr val="F4B942">
              <a:alpha val="16000"/>
            </a:srgbClr>
          </a:solidFill>
          <a:ln w="9525">
            <a:solidFill>
              <a:srgbClr val="F4B942">
                <a:alpha val="50000"/>
              </a:srgbClr>
            </a:solidFill>
            <a:prstDash val="solid"/>
          </a:ln>
        </p:spPr>
        <p:txBody>
          <a:bodyPr lIns="0" tIns="0" rIns="0" bIns="0" anchor="ctr"/>
          <a:lstStyle>
            <a:defPPr algn="ctr">
              <a:defRPr sz="825" b="1">
                <a:solidFill>
                  <a:srgbClr val="F4B942"/>
                </a:solidFill>
              </a:defRPr>
            </a:defPPr>
          </a:lstStyle>
          <a:p>
            <a:pPr algn="ctr">
              <a:defRPr sz="825" b="1">
                <a:solidFill>
                  <a:srgbClr val="F4B942"/>
                </a:solidFill>
              </a:defRPr>
            </a:pPr>
            <a:r>
              <a:rPr sz="825" b="1">
                <a:solidFill>
                  <a:srgbClr val="F4B942"/>
                </a:solidFill>
              </a:rPr>
              <a:t>AUTHENTICATED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A54B711-73A4-4014-A8E9-B1F369B0461E}"/>
              </a:ext>
            </a:extLst>
          </p:cNvPr>
          <p:cNvSpPr>
            <a:spLocks noGrp="1"/>
          </p:cNvSpPr>
          <p:nvPr/>
        </p:nvSpPr>
        <p:spPr>
          <a:xfrm>
            <a:off x="6191250" y="5410200"/>
            <a:ext cx="1419225" cy="295275"/>
          </a:xfrm>
          <a:prstGeom prst="roundRect">
            <a:avLst>
              <a:gd name="adj" fmla="val 50000"/>
            </a:avLst>
          </a:prstGeom>
          <a:solidFill>
            <a:srgbClr val="2FD07D">
              <a:alpha val="16000"/>
            </a:srgbClr>
          </a:solidFill>
          <a:ln w="9525">
            <a:solidFill>
              <a:srgbClr val="2FD07D">
                <a:alpha val="50000"/>
              </a:srgbClr>
            </a:solidFill>
            <a:prstDash val="solid"/>
          </a:ln>
        </p:spPr>
        <p:txBody>
          <a:bodyPr lIns="0" tIns="0" rIns="0" bIns="0" anchor="ctr"/>
          <a:lstStyle>
            <a:defPPr algn="ctr">
              <a:defRPr sz="825" b="1">
                <a:solidFill>
                  <a:srgbClr val="2FD07D"/>
                </a:solidFill>
              </a:defRPr>
            </a:defPPr>
          </a:lstStyle>
          <a:p>
            <a:pPr algn="ctr">
              <a:defRPr sz="825" b="1">
                <a:solidFill>
                  <a:srgbClr val="2FD07D"/>
                </a:solidFill>
              </a:defRPr>
            </a:pPr>
            <a:r>
              <a:rPr sz="825" b="1">
                <a:solidFill>
                  <a:srgbClr val="2FD07D"/>
                </a:solidFill>
              </a:rPr>
              <a:t>MODEL-TRACEABLE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521203D-8FE8-406B-840B-45BEA9CCB237}"/>
              </a:ext>
            </a:extLst>
          </p:cNvPr>
          <p:cNvSpPr>
            <a:spLocks noGrp="1"/>
          </p:cNvSpPr>
          <p:nvPr/>
        </p:nvSpPr>
        <p:spPr>
          <a:xfrm>
            <a:off x="9563100" y="5219700"/>
            <a:ext cx="1409700" cy="295275"/>
          </a:xfrm>
          <a:prstGeom prst="roundRect">
            <a:avLst>
              <a:gd name="adj" fmla="val 50000"/>
            </a:avLst>
          </a:prstGeom>
          <a:solidFill>
            <a:srgbClr val="57A5FF">
              <a:alpha val="16000"/>
            </a:srgbClr>
          </a:solidFill>
          <a:ln w="9525">
            <a:solidFill>
              <a:srgbClr val="57A5FF">
                <a:alpha val="50000"/>
              </a:srgbClr>
            </a:solidFill>
            <a:prstDash val="solid"/>
          </a:ln>
        </p:spPr>
        <p:txBody>
          <a:bodyPr lIns="0" tIns="0" rIns="0" bIns="0" anchor="ctr"/>
          <a:lstStyle>
            <a:defPPr algn="ctr">
              <a:defRPr sz="825" b="1">
                <a:solidFill>
                  <a:srgbClr val="57A5FF"/>
                </a:solidFill>
              </a:defRPr>
            </a:defPPr>
          </a:lstStyle>
          <a:p>
            <a:pPr algn="ctr">
              <a:defRPr sz="825" b="1">
                <a:solidFill>
                  <a:srgbClr val="57A5FF"/>
                </a:solidFill>
              </a:defRPr>
            </a:pPr>
            <a:r>
              <a:rPr sz="825" b="1">
                <a:solidFill>
                  <a:srgbClr val="57A5FF"/>
                </a:solidFill>
              </a:rPr>
              <a:t>POSITION-AWARE</a:t>
            </a:r>
          </a:p>
        </p:txBody>
      </p:sp>
    </p:spTree>
    <p:extLst>
      <p:ext uri="{BB962C8B-B14F-4D97-AF65-F5344CB8AC3E}">
        <p14:creationId xmlns:p14="http://schemas.microsoft.com/office/powerpoint/2010/main" val="124235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320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Technology Background Video">
            <a:hlinkClick action="ppaction://media"/>
            <a:extLst>
              <a:ext uri="{FF2B5EF4-FFF2-40B4-BE49-F238E27FC236}">
                <a16:creationId xmlns:a16="http://schemas.microsoft.com/office/drawing/2014/main" id="{67E5DEE8-39AA-2DAF-0CEC-DD80FC64ADE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slide-4-number">
            <a:extLst>
              <a:ext uri="{FF2B5EF4-FFF2-40B4-BE49-F238E27FC236}">
                <a16:creationId xmlns:a16="http://schemas.microsoft.com/office/drawing/2014/main" id="{F15AFAF4-4D52-4CC7-83CD-1D8EB544D834}"/>
              </a:ext>
            </a:extLst>
          </p:cNvPr>
          <p:cNvSpPr>
            <a:spLocks noGrp="1"/>
          </p:cNvSpPr>
          <p:nvPr/>
        </p:nvSpPr>
        <p:spPr>
          <a:xfrm>
            <a:off x="514350" y="3143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00" b="1">
                <a:solidFill>
                  <a:srgbClr val="F4B942"/>
                </a:solidFill>
              </a:defRPr>
            </a:defPPr>
          </a:lstStyle>
          <a:p>
            <a:pPr algn="ctr">
              <a:defRPr sz="900" b="1">
                <a:solidFill>
                  <a:srgbClr val="F4B942"/>
                </a:solidFill>
              </a:defRPr>
            </a:pPr>
            <a:r>
              <a:rPr sz="900" b="1">
                <a:solidFill>
                  <a:srgbClr val="F4B942"/>
                </a:solidFill>
              </a:rPr>
              <a:t>04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20A8163D-935D-4F18-8764-FE20675246D1}"/>
              </a:ext>
            </a:extLst>
          </p:cNvPr>
          <p:cNvSpPr>
            <a:spLocks noGrp="1"/>
          </p:cNvSpPr>
          <p:nvPr/>
        </p:nvSpPr>
        <p:spPr>
          <a:xfrm>
            <a:off x="1000125" y="419100"/>
            <a:ext cx="400050" cy="0"/>
          </a:xfrm>
          <a:prstGeom prst="line">
            <a:avLst/>
          </a:prstGeom>
          <a:noFill/>
          <a:ln w="19050">
            <a:solidFill>
              <a:srgbClr val="F4B942"/>
            </a:solidFill>
            <a:prstDash val="solid"/>
          </a:ln>
        </p:spPr>
      </p:sp>
      <p:sp>
        <p:nvSpPr>
          <p:cNvPr id="3" name="slide-4-eyebrow">
            <a:extLst>
              <a:ext uri="{FF2B5EF4-FFF2-40B4-BE49-F238E27FC236}">
                <a16:creationId xmlns:a16="http://schemas.microsoft.com/office/drawing/2014/main" id="{BB6BFF52-5870-4871-893A-82A6F15239B9}"/>
              </a:ext>
            </a:extLst>
          </p:cNvPr>
          <p:cNvSpPr>
            <a:spLocks noGrp="1"/>
          </p:cNvSpPr>
          <p:nvPr/>
        </p:nvSpPr>
        <p:spPr>
          <a:xfrm>
            <a:off x="1543050" y="295275"/>
            <a:ext cx="371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1">
                <a:solidFill>
                  <a:srgbClr val="F4B942"/>
                </a:solidFill>
              </a:defRPr>
            </a:defPPr>
          </a:lstStyle>
          <a:p>
            <a:pPr algn="l">
              <a:defRPr sz="900" b="1">
                <a:solidFill>
                  <a:srgbClr val="F4B942"/>
                </a:solidFill>
              </a:defRPr>
            </a:pPr>
            <a:r>
              <a:rPr sz="900" b="1">
                <a:solidFill>
                  <a:srgbClr val="F4B942"/>
                </a:solidFill>
              </a:rPr>
              <a:t>IMPLEMENTATION HIGHLIGHTS</a:t>
            </a:r>
          </a:p>
        </p:txBody>
      </p:sp>
      <p:sp>
        <p:nvSpPr>
          <p:cNvPr id="4" name="slide-4-title">
            <a:extLst>
              <a:ext uri="{FF2B5EF4-FFF2-40B4-BE49-F238E27FC236}">
                <a16:creationId xmlns:a16="http://schemas.microsoft.com/office/drawing/2014/main" id="{833C3EC9-C811-4DE1-81C8-0EA659128B89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F7FAFC"/>
                </a:solidFill>
              </a:defRPr>
            </a:defPPr>
          </a:lstStyle>
          <a:p>
            <a:pPr algn="l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Built for evidence, not theatre.</a:t>
            </a:r>
          </a:p>
        </p:txBody>
      </p:sp>
      <p:sp>
        <p:nvSpPr>
          <p:cNvPr id="5" name="slide-4-subtitle">
            <a:extLst>
              <a:ext uri="{FF2B5EF4-FFF2-40B4-BE49-F238E27FC236}">
                <a16:creationId xmlns:a16="http://schemas.microsoft.com/office/drawing/2014/main" id="{64F2FF27-AAFC-43AC-96AD-D9C47C32B7AE}"/>
              </a:ext>
            </a:extLst>
          </p:cNvPr>
          <p:cNvSpPr>
            <a:spLocks noGrp="1"/>
          </p:cNvSpPr>
          <p:nvPr/>
        </p:nvSpPr>
        <p:spPr>
          <a:xfrm>
            <a:off x="533400" y="1295400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AAB7C4"/>
                </a:solidFill>
              </a:defRPr>
            </a:defPPr>
          </a:lstStyle>
          <a:p>
            <a:pPr algn="l">
              <a:defRPr sz="1200" b="0">
                <a:solidFill>
                  <a:srgbClr val="AAB7C4"/>
                </a:solidFill>
              </a:defRPr>
            </a:pPr>
            <a:r>
              <a:rPr sz="1200" b="0">
                <a:solidFill>
                  <a:srgbClr val="AAB7C4"/>
                </a:solidFill>
              </a:rPr>
              <a:t>The strongest engineering decisions are the ones that prevent a polished dashboard from making an unsupported claim.</a:t>
            </a:r>
          </a:p>
        </p:txBody>
      </p:sp>
      <p:sp>
        <p:nvSpPr>
          <p:cNvPr id="6" name="slide-4-footer">
            <a:extLst>
              <a:ext uri="{FF2B5EF4-FFF2-40B4-BE49-F238E27FC236}">
                <a16:creationId xmlns:a16="http://schemas.microsoft.com/office/drawing/2014/main" id="{20B05AFB-65C1-4F0B-A41F-D42FE1968E80}"/>
              </a:ext>
            </a:extLst>
          </p:cNvPr>
          <p:cNvSpPr>
            <a:spLocks noGrp="1"/>
          </p:cNvSpPr>
          <p:nvPr/>
        </p:nvSpPr>
        <p:spPr>
          <a:xfrm>
            <a:off x="9315450" y="63817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750" b="1">
                <a:solidFill>
                  <a:srgbClr val="82909E"/>
                </a:solidFill>
              </a:defRPr>
            </a:defPPr>
          </a:lstStyle>
          <a:p>
            <a:pPr algn="r">
              <a:defRPr sz="750" b="1">
                <a:solidFill>
                  <a:srgbClr val="82909E"/>
                </a:solidFill>
              </a:defRPr>
            </a:pPr>
            <a:r>
              <a:rPr sz="750" b="1">
                <a:solidFill>
                  <a:srgbClr val="82909E"/>
                </a:solidFill>
              </a:rPr>
              <a:t>TRADING WENS   •   4 / 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2AE0EB1-08BC-4A3B-8C55-FEC1BEB3AF0F}"/>
              </a:ext>
            </a:extLst>
          </p:cNvPr>
          <p:cNvSpPr>
            <a:spLocks noGrp="1"/>
          </p:cNvSpPr>
          <p:nvPr/>
        </p:nvSpPr>
        <p:spPr>
          <a:xfrm>
            <a:off x="514350" y="2038350"/>
            <a:ext cx="3543300" cy="2495550"/>
          </a:xfrm>
          <a:prstGeom prst="roundRect">
            <a:avLst>
              <a:gd name="adj" fmla="val 6107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57EC58-D5EC-4DAF-BD5B-E811056454E3}"/>
              </a:ext>
            </a:extLst>
          </p:cNvPr>
          <p:cNvSpPr>
            <a:spLocks noGrp="1"/>
          </p:cNvSpPr>
          <p:nvPr/>
        </p:nvSpPr>
        <p:spPr>
          <a:xfrm>
            <a:off x="742950" y="2286000"/>
            <a:ext cx="457200" cy="57150"/>
          </a:xfrm>
          <a:prstGeom prst="rect">
            <a:avLst/>
          </a:prstGeom>
          <a:solidFill>
            <a:srgbClr val="57A5FF"/>
          </a:solidFill>
          <a:ln w="0">
            <a:solidFill>
              <a:srgbClr val="57A5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599372-C5FB-4AFA-863A-6B6C8C2507EA}"/>
              </a:ext>
            </a:extLst>
          </p:cNvPr>
          <p:cNvSpPr>
            <a:spLocks noGrp="1"/>
          </p:cNvSpPr>
          <p:nvPr/>
        </p:nvSpPr>
        <p:spPr>
          <a:xfrm>
            <a:off x="742950" y="2514600"/>
            <a:ext cx="3086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00" b="1">
                <a:solidFill>
                  <a:srgbClr val="F7FAFC"/>
                </a:solidFill>
              </a:defRPr>
            </a:defPPr>
          </a:lstStyle>
          <a:p>
            <a:pPr algn="l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Truthful data states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90FDEB-9A8B-4E9F-8074-99808827013F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3086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050" b="0">
                <a:solidFill>
                  <a:srgbClr val="AAB7C4"/>
                </a:solidFill>
              </a:defRPr>
            </a:defPPr>
          </a:lstStyle>
          <a:p>
            <a:pPr algn="l">
              <a:defRPr sz="1050" b="0">
                <a:solidFill>
                  <a:srgbClr val="AAB7C4"/>
                </a:solidFill>
              </a:defRPr>
            </a:pPr>
            <a:r>
              <a:rPr sz="1050" b="0">
                <a:solidFill>
                  <a:srgbClr val="AAB7C4"/>
                </a:solidFill>
              </a:rPr>
              <a:t>Live provider data remains authenticated. Public demo fixtures stay labelled synthetic. Missing model output remains unavailable.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130C01E-011A-42A0-8A93-2FA1E19F882C}"/>
              </a:ext>
            </a:extLst>
          </p:cNvPr>
          <p:cNvSpPr>
            <a:spLocks noGrp="1"/>
          </p:cNvSpPr>
          <p:nvPr/>
        </p:nvSpPr>
        <p:spPr>
          <a:xfrm>
            <a:off x="742950" y="4048125"/>
            <a:ext cx="2000250" cy="295275"/>
          </a:xfrm>
          <a:prstGeom prst="roundRect">
            <a:avLst>
              <a:gd name="adj" fmla="val 50000"/>
            </a:avLst>
          </a:prstGeom>
          <a:solidFill>
            <a:srgbClr val="57A5FF">
              <a:alpha val="16000"/>
            </a:srgbClr>
          </a:solidFill>
          <a:ln w="9525">
            <a:solidFill>
              <a:srgbClr val="57A5FF">
                <a:alpha val="50000"/>
              </a:srgbClr>
            </a:solidFill>
            <a:prstDash val="solid"/>
          </a:ln>
        </p:spPr>
        <p:txBody>
          <a:bodyPr lIns="0" tIns="0" rIns="0" bIns="0" anchor="ctr"/>
          <a:lstStyle>
            <a:defPPr algn="ctr">
              <a:defRPr sz="825" b="1">
                <a:solidFill>
                  <a:srgbClr val="57A5FF"/>
                </a:solidFill>
              </a:defRPr>
            </a:defPPr>
          </a:lstStyle>
          <a:p>
            <a:pPr algn="ctr">
              <a:defRPr sz="825" b="1">
                <a:solidFill>
                  <a:srgbClr val="57A5FF"/>
                </a:solidFill>
              </a:defRPr>
            </a:pPr>
            <a:r>
              <a:rPr sz="825" b="1">
                <a:solidFill>
                  <a:srgbClr val="57A5FF"/>
                </a:solidFill>
              </a:rPr>
              <a:t>NO FABRICATED FALLBACK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5561063-4C01-4BCC-A11B-D4BD9EB1F006}"/>
              </a:ext>
            </a:extLst>
          </p:cNvPr>
          <p:cNvSpPr>
            <a:spLocks noGrp="1"/>
          </p:cNvSpPr>
          <p:nvPr/>
        </p:nvSpPr>
        <p:spPr>
          <a:xfrm>
            <a:off x="4324350" y="2038350"/>
            <a:ext cx="3543300" cy="2495550"/>
          </a:xfrm>
          <a:prstGeom prst="roundRect">
            <a:avLst>
              <a:gd name="adj" fmla="val 6107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25A767-90AF-407A-AEDC-D4FCF1ABFFF7}"/>
              </a:ext>
            </a:extLst>
          </p:cNvPr>
          <p:cNvSpPr>
            <a:spLocks noGrp="1"/>
          </p:cNvSpPr>
          <p:nvPr/>
        </p:nvSpPr>
        <p:spPr>
          <a:xfrm>
            <a:off x="4552950" y="2286000"/>
            <a:ext cx="457200" cy="57150"/>
          </a:xfrm>
          <a:prstGeom prst="rect">
            <a:avLst/>
          </a:prstGeom>
          <a:solidFill>
            <a:srgbClr val="2FD07D"/>
          </a:solidFill>
          <a:ln w="0">
            <a:solidFill>
              <a:srgbClr val="2FD07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CC588-4A27-4C0F-AE0F-48C64AF41E36}"/>
              </a:ext>
            </a:extLst>
          </p:cNvPr>
          <p:cNvSpPr>
            <a:spLocks noGrp="1"/>
          </p:cNvSpPr>
          <p:nvPr/>
        </p:nvSpPr>
        <p:spPr>
          <a:xfrm>
            <a:off x="4552950" y="2514600"/>
            <a:ext cx="3086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00" b="1">
                <a:solidFill>
                  <a:srgbClr val="F7FAFC"/>
                </a:solidFill>
              </a:defRPr>
            </a:defPPr>
          </a:lstStyle>
          <a:p>
            <a:pPr algn="l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Model traceability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A95937-4598-43FD-8B84-D5BD3BABDD85}"/>
              </a:ext>
            </a:extLst>
          </p:cNvPr>
          <p:cNvSpPr>
            <a:spLocks noGrp="1"/>
          </p:cNvSpPr>
          <p:nvPr/>
        </p:nvSpPr>
        <p:spPr>
          <a:xfrm>
            <a:off x="4552950" y="3181350"/>
            <a:ext cx="3086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050" b="0">
                <a:solidFill>
                  <a:srgbClr val="AAB7C4"/>
                </a:solidFill>
              </a:defRPr>
            </a:defPPr>
          </a:lstStyle>
          <a:p>
            <a:pPr algn="l">
              <a:defRPr sz="1050" b="0">
                <a:solidFill>
                  <a:srgbClr val="AAB7C4"/>
                </a:solidFill>
              </a:defRPr>
            </a:pPr>
            <a:r>
              <a:rPr sz="1050" b="0">
                <a:solidFill>
                  <a:srgbClr val="AAB7C4"/>
                </a:solidFill>
              </a:rPr>
              <a:t>FinBERT loads once, accepts bounded batches, returns calibrated confidence, uncertainty, labels, and model version.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D52D8BF-8B11-479E-AF98-5B0E98F58C26}"/>
              </a:ext>
            </a:extLst>
          </p:cNvPr>
          <p:cNvSpPr>
            <a:spLocks noGrp="1"/>
          </p:cNvSpPr>
          <p:nvPr/>
        </p:nvSpPr>
        <p:spPr>
          <a:xfrm>
            <a:off x="4552950" y="4048125"/>
            <a:ext cx="2000250" cy="295275"/>
          </a:xfrm>
          <a:prstGeom prst="roundRect">
            <a:avLst>
              <a:gd name="adj" fmla="val 50000"/>
            </a:avLst>
          </a:prstGeom>
          <a:solidFill>
            <a:srgbClr val="2FD07D">
              <a:alpha val="16000"/>
            </a:srgbClr>
          </a:solidFill>
          <a:ln w="9525">
            <a:solidFill>
              <a:srgbClr val="2FD07D">
                <a:alpha val="50000"/>
              </a:srgbClr>
            </a:solidFill>
            <a:prstDash val="solid"/>
          </a:ln>
        </p:spPr>
        <p:txBody>
          <a:bodyPr lIns="0" tIns="0" rIns="0" bIns="0" anchor="ctr"/>
          <a:lstStyle>
            <a:defPPr algn="ctr">
              <a:defRPr sz="825" b="1">
                <a:solidFill>
                  <a:srgbClr val="2FD07D"/>
                </a:solidFill>
              </a:defRPr>
            </a:defPPr>
          </a:lstStyle>
          <a:p>
            <a:pPr algn="ctr">
              <a:defRPr sz="825" b="1">
                <a:solidFill>
                  <a:srgbClr val="2FD07D"/>
                </a:solidFill>
              </a:defRPr>
            </a:pPr>
            <a:r>
              <a:rPr sz="825" b="1">
                <a:solidFill>
                  <a:srgbClr val="2FD07D"/>
                </a:solidFill>
              </a:rPr>
              <a:t>BATCH ≤ 16 HEADLINES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5521723-8049-4BB0-A135-6C5CF8FB7877}"/>
              </a:ext>
            </a:extLst>
          </p:cNvPr>
          <p:cNvSpPr>
            <a:spLocks noGrp="1"/>
          </p:cNvSpPr>
          <p:nvPr/>
        </p:nvSpPr>
        <p:spPr>
          <a:xfrm>
            <a:off x="8134350" y="2038350"/>
            <a:ext cx="3543300" cy="2495550"/>
          </a:xfrm>
          <a:prstGeom prst="roundRect">
            <a:avLst>
              <a:gd name="adj" fmla="val 6107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68F8A7-D5A8-4575-8560-E100BE430DA6}"/>
              </a:ext>
            </a:extLst>
          </p:cNvPr>
          <p:cNvSpPr>
            <a:spLocks noGrp="1"/>
          </p:cNvSpPr>
          <p:nvPr/>
        </p:nvSpPr>
        <p:spPr>
          <a:xfrm>
            <a:off x="8362950" y="2286000"/>
            <a:ext cx="457200" cy="571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3F9DBD-C0C4-43AF-A4AD-4ECCB92302E1}"/>
              </a:ext>
            </a:extLst>
          </p:cNvPr>
          <p:cNvSpPr>
            <a:spLocks noGrp="1"/>
          </p:cNvSpPr>
          <p:nvPr/>
        </p:nvSpPr>
        <p:spPr>
          <a:xfrm>
            <a:off x="8362950" y="2514600"/>
            <a:ext cx="3086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00" b="1">
                <a:solidFill>
                  <a:srgbClr val="F7FAFC"/>
                </a:solidFill>
              </a:defRPr>
            </a:defPPr>
          </a:lstStyle>
          <a:p>
            <a:pPr algn="l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Execution auditability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D28D66-3326-4D5E-98D2-6E5B14AA61FB}"/>
              </a:ext>
            </a:extLst>
          </p:cNvPr>
          <p:cNvSpPr>
            <a:spLocks noGrp="1"/>
          </p:cNvSpPr>
          <p:nvPr/>
        </p:nvSpPr>
        <p:spPr>
          <a:xfrm>
            <a:off x="8362950" y="3181350"/>
            <a:ext cx="3086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050" b="0">
                <a:solidFill>
                  <a:srgbClr val="AAB7C4"/>
                </a:solidFill>
              </a:defRPr>
            </a:defPPr>
          </a:lstStyle>
          <a:p>
            <a:pPr algn="l">
              <a:defRPr sz="1050" b="0">
                <a:solidFill>
                  <a:srgbClr val="AAB7C4"/>
                </a:solidFill>
              </a:defRPr>
            </a:pPr>
            <a:r>
              <a:rPr sz="1050" b="0">
                <a:solidFill>
                  <a:srgbClr val="AAB7C4"/>
                </a:solidFill>
              </a:rPr>
              <a:t>Paper orders require confirmation. Orders, fills, audit events, account snapshots, and sentiment evidence are persisted.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DF8561C-4BBD-43AC-BEC1-EDBADA65A8FA}"/>
              </a:ext>
            </a:extLst>
          </p:cNvPr>
          <p:cNvSpPr>
            <a:spLocks noGrp="1"/>
          </p:cNvSpPr>
          <p:nvPr/>
        </p:nvSpPr>
        <p:spPr>
          <a:xfrm>
            <a:off x="8362950" y="4048125"/>
            <a:ext cx="2000250" cy="295275"/>
          </a:xfrm>
          <a:prstGeom prst="roundRect">
            <a:avLst>
              <a:gd name="adj" fmla="val 50000"/>
            </a:avLst>
          </a:prstGeom>
          <a:solidFill>
            <a:srgbClr val="F4B942">
              <a:alpha val="16000"/>
            </a:srgbClr>
          </a:solidFill>
          <a:ln w="9525">
            <a:solidFill>
              <a:srgbClr val="F4B942">
                <a:alpha val="50000"/>
              </a:srgbClr>
            </a:solidFill>
            <a:prstDash val="solid"/>
          </a:ln>
        </p:spPr>
        <p:txBody>
          <a:bodyPr lIns="0" tIns="0" rIns="0" bIns="0" anchor="ctr"/>
          <a:lstStyle>
            <a:defPPr algn="ctr">
              <a:defRPr sz="825" b="1">
                <a:solidFill>
                  <a:srgbClr val="F4B942"/>
                </a:solidFill>
              </a:defRPr>
            </a:defPPr>
          </a:lstStyle>
          <a:p>
            <a:pPr algn="ctr">
              <a:defRPr sz="825" b="1">
                <a:solidFill>
                  <a:srgbClr val="F4B942"/>
                </a:solidFill>
              </a:defRPr>
            </a:pPr>
            <a:r>
              <a:rPr sz="825" b="1">
                <a:solidFill>
                  <a:srgbClr val="F4B942"/>
                </a:solidFill>
              </a:rPr>
              <a:t>PAPER ENDPOINT ONLY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76F0A7F-323C-42B2-BD6B-91D07831A743}"/>
              </a:ext>
            </a:extLst>
          </p:cNvPr>
          <p:cNvSpPr>
            <a:spLocks noGrp="1"/>
          </p:cNvSpPr>
          <p:nvPr/>
        </p:nvSpPr>
        <p:spPr>
          <a:xfrm>
            <a:off x="514350" y="4762500"/>
            <a:ext cx="11163300" cy="1143000"/>
          </a:xfrm>
          <a:prstGeom prst="roundRect">
            <a:avLst>
              <a:gd name="adj" fmla="val 10000"/>
            </a:avLst>
          </a:prstGeom>
          <a:solidFill>
            <a:srgbClr val="071019">
              <a:alpha val="78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C54DD6-432F-4E87-9E56-F22E8FB2D69A}"/>
              </a:ext>
            </a:extLst>
          </p:cNvPr>
          <p:cNvSpPr>
            <a:spLocks noGrp="1"/>
          </p:cNvSpPr>
          <p:nvPr/>
        </p:nvSpPr>
        <p:spPr>
          <a:xfrm>
            <a:off x="742950" y="49530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75" b="1">
                <a:solidFill>
                  <a:srgbClr val="F4B942"/>
                </a:solidFill>
              </a:defRPr>
            </a:defPPr>
          </a:lstStyle>
          <a:p>
            <a:pPr algn="l">
              <a:defRPr sz="975" b="1">
                <a:solidFill>
                  <a:srgbClr val="F4B942"/>
                </a:solidFill>
              </a:defRPr>
            </a:pPr>
            <a:r>
              <a:rPr sz="975" b="1">
                <a:solidFill>
                  <a:srgbClr val="F4B942"/>
                </a:solidFill>
              </a:rPr>
              <a:t>REACT 19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709D8A-21BB-4600-89FC-3BA7C1D51352}"/>
              </a:ext>
            </a:extLst>
          </p:cNvPr>
          <p:cNvSpPr>
            <a:spLocks noGrp="1"/>
          </p:cNvSpPr>
          <p:nvPr/>
        </p:nvSpPr>
        <p:spPr>
          <a:xfrm>
            <a:off x="742950" y="5248275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AAB7C4"/>
                </a:solidFill>
              </a:defRPr>
            </a:defPPr>
          </a:lstStyle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Authenticated UI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9D12DE1D-9520-45FC-8FAF-401F08BBCB2A}"/>
              </a:ext>
            </a:extLst>
          </p:cNvPr>
          <p:cNvSpPr>
            <a:spLocks noGrp="1"/>
          </p:cNvSpPr>
          <p:nvPr/>
        </p:nvSpPr>
        <p:spPr>
          <a:xfrm>
            <a:off x="2762250" y="4972050"/>
            <a:ext cx="0" cy="657225"/>
          </a:xfrm>
          <a:prstGeom prst="line">
            <a:avLst/>
          </a:prstGeom>
          <a:noFill/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5E8CBD-4C57-4C15-8272-0D37B419354E}"/>
              </a:ext>
            </a:extLst>
          </p:cNvPr>
          <p:cNvSpPr>
            <a:spLocks noGrp="1"/>
          </p:cNvSpPr>
          <p:nvPr/>
        </p:nvSpPr>
        <p:spPr>
          <a:xfrm>
            <a:off x="2924175" y="49530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75" b="1">
                <a:solidFill>
                  <a:srgbClr val="F4B942"/>
                </a:solidFill>
              </a:defRPr>
            </a:defPPr>
          </a:lstStyle>
          <a:p>
            <a:pPr algn="l">
              <a:defRPr sz="975" b="1">
                <a:solidFill>
                  <a:srgbClr val="F4B942"/>
                </a:solidFill>
              </a:defRPr>
            </a:pPr>
            <a:r>
              <a:rPr sz="975" b="1">
                <a:solidFill>
                  <a:srgbClr val="F4B942"/>
                </a:solidFill>
              </a:rPr>
              <a:t>GO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8AC0A0-5039-400A-B98E-74C4A4003E62}"/>
              </a:ext>
            </a:extLst>
          </p:cNvPr>
          <p:cNvSpPr>
            <a:spLocks noGrp="1"/>
          </p:cNvSpPr>
          <p:nvPr/>
        </p:nvSpPr>
        <p:spPr>
          <a:xfrm>
            <a:off x="2924175" y="5248275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AAB7C4"/>
                </a:solidFill>
              </a:defRPr>
            </a:defPPr>
          </a:lstStyle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API + domain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866F59B9-11C4-4575-AB41-FBAC194C851E}"/>
              </a:ext>
            </a:extLst>
          </p:cNvPr>
          <p:cNvSpPr>
            <a:spLocks noGrp="1"/>
          </p:cNvSpPr>
          <p:nvPr/>
        </p:nvSpPr>
        <p:spPr>
          <a:xfrm>
            <a:off x="4943475" y="4972050"/>
            <a:ext cx="0" cy="657225"/>
          </a:xfrm>
          <a:prstGeom prst="line">
            <a:avLst/>
          </a:prstGeom>
          <a:noFill/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982149-F474-497C-9791-F31C23285426}"/>
              </a:ext>
            </a:extLst>
          </p:cNvPr>
          <p:cNvSpPr>
            <a:spLocks noGrp="1"/>
          </p:cNvSpPr>
          <p:nvPr/>
        </p:nvSpPr>
        <p:spPr>
          <a:xfrm>
            <a:off x="5105400" y="49530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75" b="1">
                <a:solidFill>
                  <a:srgbClr val="F4B942"/>
                </a:solidFill>
              </a:defRPr>
            </a:defPPr>
          </a:lstStyle>
          <a:p>
            <a:pPr algn="l">
              <a:defRPr sz="975" b="1">
                <a:solidFill>
                  <a:srgbClr val="F4B942"/>
                </a:solidFill>
              </a:defRPr>
            </a:pPr>
            <a:r>
              <a:rPr sz="975" b="1">
                <a:solidFill>
                  <a:srgbClr val="F4B942"/>
                </a:solidFill>
              </a:rPr>
              <a:t>POSTGRESQL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EB4B10E-106B-4484-9CAB-A39CD071ED4B}"/>
              </a:ext>
            </a:extLst>
          </p:cNvPr>
          <p:cNvSpPr>
            <a:spLocks noGrp="1"/>
          </p:cNvSpPr>
          <p:nvPr/>
        </p:nvSpPr>
        <p:spPr>
          <a:xfrm>
            <a:off x="5105400" y="5248275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AAB7C4"/>
                </a:solidFill>
              </a:defRPr>
            </a:defPPr>
          </a:lstStyle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Durable ledger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D8033191-73B9-4CD2-BAF7-4F100C661C84}"/>
              </a:ext>
            </a:extLst>
          </p:cNvPr>
          <p:cNvSpPr>
            <a:spLocks noGrp="1"/>
          </p:cNvSpPr>
          <p:nvPr/>
        </p:nvSpPr>
        <p:spPr>
          <a:xfrm>
            <a:off x="7124700" y="4972050"/>
            <a:ext cx="0" cy="657225"/>
          </a:xfrm>
          <a:prstGeom prst="line">
            <a:avLst/>
          </a:prstGeom>
          <a:noFill/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205665-3084-4DE9-A066-4D5384594CB7}"/>
              </a:ext>
            </a:extLst>
          </p:cNvPr>
          <p:cNvSpPr>
            <a:spLocks noGrp="1"/>
          </p:cNvSpPr>
          <p:nvPr/>
        </p:nvSpPr>
        <p:spPr>
          <a:xfrm>
            <a:off x="7286625" y="49530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75" b="1">
                <a:solidFill>
                  <a:srgbClr val="F4B942"/>
                </a:solidFill>
              </a:defRPr>
            </a:defPPr>
          </a:lstStyle>
          <a:p>
            <a:pPr algn="l">
              <a:defRPr sz="975" b="1">
                <a:solidFill>
                  <a:srgbClr val="F4B942"/>
                </a:solidFill>
              </a:defRPr>
            </a:pPr>
            <a:r>
              <a:rPr sz="975" b="1">
                <a:solidFill>
                  <a:srgbClr val="F4B942"/>
                </a:solidFill>
              </a:rPr>
              <a:t>PYTORCH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937C543-1CAF-4FF4-BFC5-570ED3E301E6}"/>
              </a:ext>
            </a:extLst>
          </p:cNvPr>
          <p:cNvSpPr>
            <a:spLocks noGrp="1"/>
          </p:cNvSpPr>
          <p:nvPr/>
        </p:nvSpPr>
        <p:spPr>
          <a:xfrm>
            <a:off x="7286625" y="5248275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AAB7C4"/>
                </a:solidFill>
              </a:defRPr>
            </a:defPPr>
          </a:lstStyle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FinBERT inference</a:t>
            </a:r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684FBCF2-BE2C-43EE-805D-CC42590357F7}"/>
              </a:ext>
            </a:extLst>
          </p:cNvPr>
          <p:cNvSpPr>
            <a:spLocks noGrp="1"/>
          </p:cNvSpPr>
          <p:nvPr/>
        </p:nvSpPr>
        <p:spPr>
          <a:xfrm>
            <a:off x="9305925" y="4972050"/>
            <a:ext cx="0" cy="657225"/>
          </a:xfrm>
          <a:prstGeom prst="line">
            <a:avLst/>
          </a:prstGeom>
          <a:noFill/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E13AFA-28FE-4937-A011-FA079DC30B76}"/>
              </a:ext>
            </a:extLst>
          </p:cNvPr>
          <p:cNvSpPr>
            <a:spLocks noGrp="1"/>
          </p:cNvSpPr>
          <p:nvPr/>
        </p:nvSpPr>
        <p:spPr>
          <a:xfrm>
            <a:off x="9467850" y="49530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75" b="1">
                <a:solidFill>
                  <a:srgbClr val="F4B942"/>
                </a:solidFill>
              </a:defRPr>
            </a:defPPr>
          </a:lstStyle>
          <a:p>
            <a:pPr algn="l">
              <a:defRPr sz="975" b="1">
                <a:solidFill>
                  <a:srgbClr val="F4B942"/>
                </a:solidFill>
              </a:defRPr>
            </a:pPr>
            <a:r>
              <a:rPr sz="975" b="1">
                <a:solidFill>
                  <a:srgbClr val="F4B942"/>
                </a:solidFill>
              </a:rPr>
              <a:t>ALPACA + GDELT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50B24D8-3DE2-449F-955E-78BAEAECC284}"/>
              </a:ext>
            </a:extLst>
          </p:cNvPr>
          <p:cNvSpPr>
            <a:spLocks noGrp="1"/>
          </p:cNvSpPr>
          <p:nvPr/>
        </p:nvSpPr>
        <p:spPr>
          <a:xfrm>
            <a:off x="9467850" y="5248275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AAB7C4"/>
                </a:solidFill>
              </a:defRPr>
            </a:defPPr>
          </a:lstStyle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Market + news</a:t>
            </a:r>
          </a:p>
        </p:txBody>
      </p:sp>
    </p:spTree>
    <p:extLst>
      <p:ext uri="{BB962C8B-B14F-4D97-AF65-F5344CB8AC3E}">
        <p14:creationId xmlns:p14="http://schemas.microsoft.com/office/powerpoint/2010/main" val="71632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320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Technology Background Video">
            <a:hlinkClick action="ppaction://media"/>
            <a:extLst>
              <a:ext uri="{FF2B5EF4-FFF2-40B4-BE49-F238E27FC236}">
                <a16:creationId xmlns:a16="http://schemas.microsoft.com/office/drawing/2014/main" id="{33895970-84AA-D510-329A-DFCF097CCD2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slide-5-number">
            <a:extLst>
              <a:ext uri="{FF2B5EF4-FFF2-40B4-BE49-F238E27FC236}">
                <a16:creationId xmlns:a16="http://schemas.microsoft.com/office/drawing/2014/main" id="{B715623A-A5EB-4355-91D5-CAD684A5A089}"/>
              </a:ext>
            </a:extLst>
          </p:cNvPr>
          <p:cNvSpPr>
            <a:spLocks noGrp="1"/>
          </p:cNvSpPr>
          <p:nvPr/>
        </p:nvSpPr>
        <p:spPr>
          <a:xfrm>
            <a:off x="514350" y="3143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00" b="1">
                <a:solidFill>
                  <a:srgbClr val="F4B942"/>
                </a:solidFill>
              </a:defRPr>
            </a:defPPr>
          </a:lstStyle>
          <a:p>
            <a:pPr algn="ctr">
              <a:defRPr sz="900" b="1">
                <a:solidFill>
                  <a:srgbClr val="F4B942"/>
                </a:solidFill>
              </a:defRPr>
            </a:pPr>
            <a:r>
              <a:rPr sz="900" b="1">
                <a:solidFill>
                  <a:srgbClr val="F4B942"/>
                </a:solidFill>
              </a:rPr>
              <a:t>05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1AF0EF06-1830-403D-ACEB-FF94F1DE360E}"/>
              </a:ext>
            </a:extLst>
          </p:cNvPr>
          <p:cNvSpPr>
            <a:spLocks noGrp="1"/>
          </p:cNvSpPr>
          <p:nvPr/>
        </p:nvSpPr>
        <p:spPr>
          <a:xfrm>
            <a:off x="1000125" y="419100"/>
            <a:ext cx="400050" cy="0"/>
          </a:xfrm>
          <a:prstGeom prst="line">
            <a:avLst/>
          </a:prstGeom>
          <a:noFill/>
          <a:ln w="19050">
            <a:solidFill>
              <a:srgbClr val="F4B942"/>
            </a:solidFill>
            <a:prstDash val="solid"/>
          </a:ln>
        </p:spPr>
      </p:sp>
      <p:sp>
        <p:nvSpPr>
          <p:cNvPr id="3" name="slide-5-eyebrow">
            <a:extLst>
              <a:ext uri="{FF2B5EF4-FFF2-40B4-BE49-F238E27FC236}">
                <a16:creationId xmlns:a16="http://schemas.microsoft.com/office/drawing/2014/main" id="{2B413173-54C5-4CC1-BDD9-FD27FD4CE941}"/>
              </a:ext>
            </a:extLst>
          </p:cNvPr>
          <p:cNvSpPr>
            <a:spLocks noGrp="1"/>
          </p:cNvSpPr>
          <p:nvPr/>
        </p:nvSpPr>
        <p:spPr>
          <a:xfrm>
            <a:off x="1543050" y="295275"/>
            <a:ext cx="371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1">
                <a:solidFill>
                  <a:srgbClr val="F4B942"/>
                </a:solidFill>
              </a:defRPr>
            </a:defPPr>
          </a:lstStyle>
          <a:p>
            <a:pPr algn="l">
              <a:defRPr sz="900" b="1">
                <a:solidFill>
                  <a:srgbClr val="F4B942"/>
                </a:solidFill>
              </a:defRPr>
            </a:pPr>
            <a:r>
              <a:rPr sz="900" b="1">
                <a:solidFill>
                  <a:srgbClr val="F4B942"/>
                </a:solidFill>
              </a:rPr>
              <a:t>KEY RESULTS</a:t>
            </a:r>
          </a:p>
        </p:txBody>
      </p:sp>
      <p:sp>
        <p:nvSpPr>
          <p:cNvPr id="4" name="slide-5-title">
            <a:extLst>
              <a:ext uri="{FF2B5EF4-FFF2-40B4-BE49-F238E27FC236}">
                <a16:creationId xmlns:a16="http://schemas.microsoft.com/office/drawing/2014/main" id="{C94ACA2A-8E0B-4238-B61A-07C604217968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F7FAFC"/>
                </a:solidFill>
              </a:defRPr>
            </a:defPPr>
          </a:lstStyle>
          <a:p>
            <a:pPr algn="l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One account view, refreshed after every trade.</a:t>
            </a:r>
          </a:p>
        </p:txBody>
      </p:sp>
      <p:sp>
        <p:nvSpPr>
          <p:cNvPr id="5" name="slide-5-subtitle">
            <a:extLst>
              <a:ext uri="{FF2B5EF4-FFF2-40B4-BE49-F238E27FC236}">
                <a16:creationId xmlns:a16="http://schemas.microsoft.com/office/drawing/2014/main" id="{350CBFAF-DBD9-4FC9-A060-BACEF4543F9F}"/>
              </a:ext>
            </a:extLst>
          </p:cNvPr>
          <p:cNvSpPr>
            <a:spLocks noGrp="1"/>
          </p:cNvSpPr>
          <p:nvPr/>
        </p:nvSpPr>
        <p:spPr>
          <a:xfrm>
            <a:off x="533400" y="1295400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AAB7C4"/>
                </a:solidFill>
              </a:defRPr>
            </a:defPPr>
          </a:lstStyle>
          <a:p>
            <a:pPr algn="l">
              <a:defRPr sz="1200" b="0">
                <a:solidFill>
                  <a:srgbClr val="AAB7C4"/>
                </a:solidFill>
              </a:defRPr>
            </a:pPr>
            <a:r>
              <a:rPr sz="1200" b="0">
                <a:solidFill>
                  <a:srgbClr val="AAB7C4"/>
                </a:solidFill>
              </a:rPr>
              <a:t>The implementation now connects real positions to trained headline analysis and the same directional signal used across the workspace.</a:t>
            </a:r>
          </a:p>
        </p:txBody>
      </p:sp>
      <p:sp>
        <p:nvSpPr>
          <p:cNvPr id="6" name="slide-5-footer">
            <a:extLst>
              <a:ext uri="{FF2B5EF4-FFF2-40B4-BE49-F238E27FC236}">
                <a16:creationId xmlns:a16="http://schemas.microsoft.com/office/drawing/2014/main" id="{5179F2DB-C051-4FCF-B03F-41D2055EF587}"/>
              </a:ext>
            </a:extLst>
          </p:cNvPr>
          <p:cNvSpPr>
            <a:spLocks noGrp="1"/>
          </p:cNvSpPr>
          <p:nvPr/>
        </p:nvSpPr>
        <p:spPr>
          <a:xfrm>
            <a:off x="9315450" y="63817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750" b="1">
                <a:solidFill>
                  <a:srgbClr val="82909E"/>
                </a:solidFill>
              </a:defRPr>
            </a:defPPr>
          </a:lstStyle>
          <a:p>
            <a:pPr algn="r">
              <a:defRPr sz="750" b="1">
                <a:solidFill>
                  <a:srgbClr val="82909E"/>
                </a:solidFill>
              </a:defRPr>
            </a:pPr>
            <a:r>
              <a:rPr sz="750" b="1">
                <a:solidFill>
                  <a:srgbClr val="82909E"/>
                </a:solidFill>
              </a:rPr>
              <a:t>TRADING WENS   •   5 / 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4924EC-864B-481C-BF49-251580BDBC56}"/>
              </a:ext>
            </a:extLst>
          </p:cNvPr>
          <p:cNvSpPr>
            <a:spLocks noGrp="1"/>
          </p:cNvSpPr>
          <p:nvPr/>
        </p:nvSpPr>
        <p:spPr>
          <a:xfrm>
            <a:off x="514350" y="1971675"/>
            <a:ext cx="7143750" cy="2724150"/>
          </a:xfrm>
          <a:prstGeom prst="roundRect">
            <a:avLst>
              <a:gd name="adj" fmla="val 4196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DB769C-1C69-4168-865E-3401E4A4AB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02453" y="2095500"/>
            <a:ext cx="6367543" cy="2476500"/>
          </a:xfrm>
          <a:prstGeom prst="roundRect">
            <a:avLst>
              <a:gd name="adj" fmla="val 4615"/>
            </a:avLst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99C5FCB-FC95-4DB9-A933-A758F812CCC9}"/>
              </a:ext>
            </a:extLst>
          </p:cNvPr>
          <p:cNvSpPr>
            <a:spLocks noGrp="1"/>
          </p:cNvSpPr>
          <p:nvPr/>
        </p:nvSpPr>
        <p:spPr>
          <a:xfrm>
            <a:off x="7905750" y="1971675"/>
            <a:ext cx="3771900" cy="2724150"/>
          </a:xfrm>
          <a:prstGeom prst="roundRect">
            <a:avLst>
              <a:gd name="adj" fmla="val 4196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62169A-E5C1-40EC-A066-5CB8BDAFD7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404934" y="2095500"/>
            <a:ext cx="2773531" cy="2476500"/>
          </a:xfrm>
          <a:prstGeom prst="roundRect">
            <a:avLst>
              <a:gd name="adj" fmla="val 4615"/>
            </a:avLst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B1E9295-7387-4637-8EDD-EB7464C64C6D}"/>
              </a:ext>
            </a:extLst>
          </p:cNvPr>
          <p:cNvSpPr>
            <a:spLocks noGrp="1"/>
          </p:cNvSpPr>
          <p:nvPr/>
        </p:nvSpPr>
        <p:spPr>
          <a:xfrm>
            <a:off x="514350" y="4933950"/>
            <a:ext cx="2076450" cy="1066800"/>
          </a:xfrm>
          <a:prstGeom prst="roundRect">
            <a:avLst>
              <a:gd name="adj" fmla="val 10714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FA5D58-D31C-42C0-B303-9745694DFD73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1733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57A5FF"/>
                </a:solidFill>
              </a:defRPr>
            </a:defPPr>
          </a:lstStyle>
          <a:p>
            <a:pPr algn="l">
              <a:defRPr sz="2175" b="1">
                <a:solidFill>
                  <a:srgbClr val="57A5FF"/>
                </a:solidFill>
              </a:defRPr>
            </a:pPr>
            <a:r>
              <a:rPr sz="2175" b="1">
                <a:solidFill>
                  <a:srgbClr val="57A5FF"/>
                </a:solidFill>
              </a:rPr>
              <a:t>30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6064A9-BCA5-42C4-9CEA-BF6E70D33459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1733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675" b="1">
                <a:solidFill>
                  <a:srgbClr val="AAB7C4"/>
                </a:solidFill>
              </a:defRPr>
            </a:defPPr>
          </a:lstStyle>
          <a:p>
            <a:pPr algn="l">
              <a:defRPr sz="675" b="1">
                <a:solidFill>
                  <a:srgbClr val="AAB7C4"/>
                </a:solidFill>
              </a:defRPr>
            </a:pPr>
            <a:r>
              <a:rPr sz="675" b="1">
                <a:solidFill>
                  <a:srgbClr val="AAB7C4"/>
                </a:solidFill>
              </a:rPr>
              <a:t>MAINTAINED LARGE-CAP STOCKS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949048A-6ED3-40F4-81A8-D8EF09CB3C88}"/>
              </a:ext>
            </a:extLst>
          </p:cNvPr>
          <p:cNvSpPr>
            <a:spLocks noGrp="1"/>
          </p:cNvSpPr>
          <p:nvPr/>
        </p:nvSpPr>
        <p:spPr>
          <a:xfrm>
            <a:off x="2762250" y="4933950"/>
            <a:ext cx="2076450" cy="1066800"/>
          </a:xfrm>
          <a:prstGeom prst="roundRect">
            <a:avLst>
              <a:gd name="adj" fmla="val 10714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8D50CD-0350-49A3-9668-98A34FE4FF0D}"/>
              </a:ext>
            </a:extLst>
          </p:cNvPr>
          <p:cNvSpPr>
            <a:spLocks noGrp="1"/>
          </p:cNvSpPr>
          <p:nvPr/>
        </p:nvSpPr>
        <p:spPr>
          <a:xfrm>
            <a:off x="2933700" y="5048250"/>
            <a:ext cx="1733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2FD07D"/>
                </a:solidFill>
              </a:defRPr>
            </a:defPPr>
          </a:lstStyle>
          <a:p>
            <a:pPr algn="l">
              <a:defRPr sz="2175" b="1">
                <a:solidFill>
                  <a:srgbClr val="2FD07D"/>
                </a:solidFill>
              </a:defRPr>
            </a:pPr>
            <a:r>
              <a:rPr sz="2175" b="1">
                <a:solidFill>
                  <a:srgbClr val="2FD07D"/>
                </a:solidFill>
              </a:rPr>
              <a:t>50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E4601A-8FC2-495A-9D8A-5DC86C550165}"/>
              </a:ext>
            </a:extLst>
          </p:cNvPr>
          <p:cNvSpPr>
            <a:spLocks noGrp="1"/>
          </p:cNvSpPr>
          <p:nvPr/>
        </p:nvSpPr>
        <p:spPr>
          <a:xfrm>
            <a:off x="2933700" y="5543550"/>
            <a:ext cx="1733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675" b="1">
                <a:solidFill>
                  <a:srgbClr val="AAB7C4"/>
                </a:solidFill>
              </a:defRPr>
            </a:defPPr>
          </a:lstStyle>
          <a:p>
            <a:pPr algn="l">
              <a:defRPr sz="675" b="1">
                <a:solidFill>
                  <a:srgbClr val="AAB7C4"/>
                </a:solidFill>
              </a:defRPr>
            </a:pPr>
            <a:r>
              <a:rPr sz="675" b="1">
                <a:solidFill>
                  <a:srgbClr val="AAB7C4"/>
                </a:solidFill>
              </a:rPr>
              <a:t>MAXIMUM AGGREGATED ARTICLES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6F7EA7-3C7F-474D-81F3-E9917FE775A8}"/>
              </a:ext>
            </a:extLst>
          </p:cNvPr>
          <p:cNvSpPr>
            <a:spLocks noGrp="1"/>
          </p:cNvSpPr>
          <p:nvPr/>
        </p:nvSpPr>
        <p:spPr>
          <a:xfrm>
            <a:off x="5010150" y="4933950"/>
            <a:ext cx="2076450" cy="1066800"/>
          </a:xfrm>
          <a:prstGeom prst="roundRect">
            <a:avLst>
              <a:gd name="adj" fmla="val 10714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8CE931-5D6C-4D5D-AA48-AC13F4ADFAF7}"/>
              </a:ext>
            </a:extLst>
          </p:cNvPr>
          <p:cNvSpPr>
            <a:spLocks noGrp="1"/>
          </p:cNvSpPr>
          <p:nvPr/>
        </p:nvSpPr>
        <p:spPr>
          <a:xfrm>
            <a:off x="5181600" y="5048250"/>
            <a:ext cx="1733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F4B942"/>
                </a:solidFill>
              </a:defRPr>
            </a:defPPr>
          </a:lstStyle>
          <a:p>
            <a:pPr algn="l">
              <a:defRPr sz="2175" b="1">
                <a:solidFill>
                  <a:srgbClr val="F4B942"/>
                </a:solidFill>
              </a:defRPr>
            </a:pPr>
            <a:r>
              <a:rPr sz="2175" b="1">
                <a:solidFill>
                  <a:srgbClr val="F4B942"/>
                </a:solidFill>
              </a:rPr>
              <a:t>16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95810E-091F-44FE-8AFF-0D1FD4EA1619}"/>
              </a:ext>
            </a:extLst>
          </p:cNvPr>
          <p:cNvSpPr>
            <a:spLocks noGrp="1"/>
          </p:cNvSpPr>
          <p:nvPr/>
        </p:nvSpPr>
        <p:spPr>
          <a:xfrm>
            <a:off x="5181600" y="5543550"/>
            <a:ext cx="1733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675" b="1">
                <a:solidFill>
                  <a:srgbClr val="AAB7C4"/>
                </a:solidFill>
              </a:defRPr>
            </a:defPPr>
          </a:lstStyle>
          <a:p>
            <a:pPr algn="l">
              <a:defRPr sz="675" b="1">
                <a:solidFill>
                  <a:srgbClr val="AAB7C4"/>
                </a:solidFill>
              </a:defRPr>
            </a:pPr>
            <a:r>
              <a:rPr sz="675" b="1">
                <a:solidFill>
                  <a:srgbClr val="AAB7C4"/>
                </a:solidFill>
              </a:rPr>
              <a:t>HEADLINES PER MODEL BATCH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E14A3FB-58BF-4478-8C41-B9C1394B5328}"/>
              </a:ext>
            </a:extLst>
          </p:cNvPr>
          <p:cNvSpPr>
            <a:spLocks noGrp="1"/>
          </p:cNvSpPr>
          <p:nvPr/>
        </p:nvSpPr>
        <p:spPr>
          <a:xfrm>
            <a:off x="7258050" y="4933950"/>
            <a:ext cx="2076450" cy="1066800"/>
          </a:xfrm>
          <a:prstGeom prst="roundRect">
            <a:avLst>
              <a:gd name="adj" fmla="val 10714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A7970F-5BB7-42EC-8A67-1C756353CD7D}"/>
              </a:ext>
            </a:extLst>
          </p:cNvPr>
          <p:cNvSpPr>
            <a:spLocks noGrp="1"/>
          </p:cNvSpPr>
          <p:nvPr/>
        </p:nvSpPr>
        <p:spPr>
          <a:xfrm>
            <a:off x="7429500" y="5048250"/>
            <a:ext cx="1733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2FD07D"/>
                </a:solidFill>
              </a:defRPr>
            </a:defPPr>
          </a:lstStyle>
          <a:p>
            <a:pPr algn="l">
              <a:defRPr sz="2175" b="1">
                <a:solidFill>
                  <a:srgbClr val="2FD07D"/>
                </a:solidFill>
              </a:defRPr>
            </a:pPr>
            <a:r>
              <a:rPr sz="2175" b="1">
                <a:solidFill>
                  <a:srgbClr val="2FD07D"/>
                </a:solidFill>
              </a:rPr>
              <a:t>27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22840A-EE0B-4791-8882-885CCC87CC7A}"/>
              </a:ext>
            </a:extLst>
          </p:cNvPr>
          <p:cNvSpPr>
            <a:spLocks noGrp="1"/>
          </p:cNvSpPr>
          <p:nvPr/>
        </p:nvSpPr>
        <p:spPr>
          <a:xfrm>
            <a:off x="7429500" y="5543550"/>
            <a:ext cx="1733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675" b="1">
                <a:solidFill>
                  <a:srgbClr val="AAB7C4"/>
                </a:solidFill>
              </a:defRPr>
            </a:defPPr>
          </a:lstStyle>
          <a:p>
            <a:pPr algn="l">
              <a:defRPr sz="675" b="1">
                <a:solidFill>
                  <a:srgbClr val="AAB7C4"/>
                </a:solidFill>
              </a:defRPr>
            </a:pPr>
            <a:r>
              <a:rPr sz="675" b="1">
                <a:solidFill>
                  <a:srgbClr val="AAB7C4"/>
                </a:solidFill>
              </a:rPr>
              <a:t>FRONTEND TESTS PASSING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36E54AE-9A7C-4FF9-8335-33DE7CDED612}"/>
              </a:ext>
            </a:extLst>
          </p:cNvPr>
          <p:cNvSpPr>
            <a:spLocks noGrp="1"/>
          </p:cNvSpPr>
          <p:nvPr/>
        </p:nvSpPr>
        <p:spPr>
          <a:xfrm>
            <a:off x="9505950" y="4933950"/>
            <a:ext cx="2076450" cy="1066800"/>
          </a:xfrm>
          <a:prstGeom prst="roundRect">
            <a:avLst>
              <a:gd name="adj" fmla="val 10714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B74035-02AE-43E5-8733-08DC73117171}"/>
              </a:ext>
            </a:extLst>
          </p:cNvPr>
          <p:cNvSpPr>
            <a:spLocks noGrp="1"/>
          </p:cNvSpPr>
          <p:nvPr/>
        </p:nvSpPr>
        <p:spPr>
          <a:xfrm>
            <a:off x="9677400" y="5048250"/>
            <a:ext cx="1733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FF5A67"/>
                </a:solidFill>
              </a:defRPr>
            </a:defPPr>
          </a:lstStyle>
          <a:p>
            <a:pPr algn="l">
              <a:defRPr sz="2175" b="1">
                <a:solidFill>
                  <a:srgbClr val="FF5A67"/>
                </a:solidFill>
              </a:defRPr>
            </a:pPr>
            <a:r>
              <a:rPr sz="2175" b="1">
                <a:solidFill>
                  <a:srgbClr val="FF5A67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B754AD-6EA7-4B21-A5EE-D705A1C1DAC2}"/>
              </a:ext>
            </a:extLst>
          </p:cNvPr>
          <p:cNvSpPr>
            <a:spLocks noGrp="1"/>
          </p:cNvSpPr>
          <p:nvPr/>
        </p:nvSpPr>
        <p:spPr>
          <a:xfrm>
            <a:off x="9677400" y="5543550"/>
            <a:ext cx="1733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675" b="1">
                <a:solidFill>
                  <a:srgbClr val="AAB7C4"/>
                </a:solidFill>
              </a:defRPr>
            </a:defPPr>
          </a:lstStyle>
          <a:p>
            <a:pPr algn="l">
              <a:defRPr sz="675" b="1">
                <a:solidFill>
                  <a:srgbClr val="AAB7C4"/>
                </a:solidFill>
              </a:defRPr>
            </a:pPr>
            <a:r>
              <a:rPr sz="675" b="1">
                <a:solidFill>
                  <a:srgbClr val="AAB7C4"/>
                </a:solidFill>
              </a:rPr>
              <a:t>SHARED MOVEMENT PREDICTION</a:t>
            </a:r>
          </a:p>
        </p:txBody>
      </p:sp>
    </p:spTree>
    <p:extLst>
      <p:ext uri="{BB962C8B-B14F-4D97-AF65-F5344CB8AC3E}">
        <p14:creationId xmlns:p14="http://schemas.microsoft.com/office/powerpoint/2010/main" val="205909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320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Technology Background Video">
            <a:hlinkClick action="ppaction://media"/>
            <a:extLst>
              <a:ext uri="{FF2B5EF4-FFF2-40B4-BE49-F238E27FC236}">
                <a16:creationId xmlns:a16="http://schemas.microsoft.com/office/drawing/2014/main" id="{E5D623C4-D164-1589-97AE-F6D0F9B7C59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slide-6-number">
            <a:extLst>
              <a:ext uri="{FF2B5EF4-FFF2-40B4-BE49-F238E27FC236}">
                <a16:creationId xmlns:a16="http://schemas.microsoft.com/office/drawing/2014/main" id="{98FFDE04-D13E-4D07-91F6-B32A209C3ED9}"/>
              </a:ext>
            </a:extLst>
          </p:cNvPr>
          <p:cNvSpPr>
            <a:spLocks noGrp="1"/>
          </p:cNvSpPr>
          <p:nvPr/>
        </p:nvSpPr>
        <p:spPr>
          <a:xfrm>
            <a:off x="514350" y="3143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00" b="1">
                <a:solidFill>
                  <a:srgbClr val="F4B942"/>
                </a:solidFill>
              </a:defRPr>
            </a:defPPr>
          </a:lstStyle>
          <a:p>
            <a:pPr algn="ctr">
              <a:defRPr sz="900" b="1">
                <a:solidFill>
                  <a:srgbClr val="F4B942"/>
                </a:solidFill>
              </a:defRPr>
            </a:pPr>
            <a:r>
              <a:rPr sz="900" b="1">
                <a:solidFill>
                  <a:srgbClr val="F4B942"/>
                </a:solidFill>
              </a:rPr>
              <a:t>06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D849C4D-7197-40C2-ACEE-9C75552D0693}"/>
              </a:ext>
            </a:extLst>
          </p:cNvPr>
          <p:cNvSpPr>
            <a:spLocks noGrp="1"/>
          </p:cNvSpPr>
          <p:nvPr/>
        </p:nvSpPr>
        <p:spPr>
          <a:xfrm>
            <a:off x="1000125" y="419100"/>
            <a:ext cx="400050" cy="0"/>
          </a:xfrm>
          <a:prstGeom prst="line">
            <a:avLst/>
          </a:prstGeom>
          <a:noFill/>
          <a:ln w="19050">
            <a:solidFill>
              <a:srgbClr val="F4B942"/>
            </a:solidFill>
            <a:prstDash val="solid"/>
          </a:ln>
        </p:spPr>
      </p:sp>
      <p:sp>
        <p:nvSpPr>
          <p:cNvPr id="3" name="slide-6-eyebrow">
            <a:extLst>
              <a:ext uri="{FF2B5EF4-FFF2-40B4-BE49-F238E27FC236}">
                <a16:creationId xmlns:a16="http://schemas.microsoft.com/office/drawing/2014/main" id="{4144B28E-2E7B-44B6-81C6-858DB9A117BD}"/>
              </a:ext>
            </a:extLst>
          </p:cNvPr>
          <p:cNvSpPr>
            <a:spLocks noGrp="1"/>
          </p:cNvSpPr>
          <p:nvPr/>
        </p:nvSpPr>
        <p:spPr>
          <a:xfrm>
            <a:off x="1543050" y="295275"/>
            <a:ext cx="371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1">
                <a:solidFill>
                  <a:srgbClr val="F4B942"/>
                </a:solidFill>
              </a:defRPr>
            </a:defPPr>
          </a:lstStyle>
          <a:p>
            <a:pPr algn="l">
              <a:defRPr sz="900" b="1">
                <a:solidFill>
                  <a:srgbClr val="F4B942"/>
                </a:solidFill>
              </a:defRPr>
            </a:pPr>
            <a:r>
              <a:rPr sz="900" b="1">
                <a:solidFill>
                  <a:srgbClr val="F4B942"/>
                </a:solidFill>
              </a:rPr>
              <a:t>DOMAIN IMPACT</a:t>
            </a:r>
          </a:p>
        </p:txBody>
      </p:sp>
      <p:sp>
        <p:nvSpPr>
          <p:cNvPr id="4" name="slide-6-title">
            <a:extLst>
              <a:ext uri="{FF2B5EF4-FFF2-40B4-BE49-F238E27FC236}">
                <a16:creationId xmlns:a16="http://schemas.microsoft.com/office/drawing/2014/main" id="{8CC9A6FE-43D3-49D6-98ED-3B258FF2DDF8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F7FAFC"/>
                </a:solidFill>
              </a:defRPr>
            </a:defPPr>
          </a:lstStyle>
          <a:p>
            <a:pPr algn="l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A clearer bridge from event intelligence to exposure.</a:t>
            </a:r>
          </a:p>
        </p:txBody>
      </p:sp>
      <p:sp>
        <p:nvSpPr>
          <p:cNvPr id="5" name="slide-6-subtitle">
            <a:extLst>
              <a:ext uri="{FF2B5EF4-FFF2-40B4-BE49-F238E27FC236}">
                <a16:creationId xmlns:a16="http://schemas.microsoft.com/office/drawing/2014/main" id="{7EF7EED7-EC35-4D5B-87AF-E4006E95031B}"/>
              </a:ext>
            </a:extLst>
          </p:cNvPr>
          <p:cNvSpPr>
            <a:spLocks noGrp="1"/>
          </p:cNvSpPr>
          <p:nvPr/>
        </p:nvSpPr>
        <p:spPr>
          <a:xfrm>
            <a:off x="533400" y="1295400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AAB7C4"/>
                </a:solidFill>
              </a:defRPr>
            </a:defPPr>
          </a:lstStyle>
          <a:p>
            <a:pPr algn="l">
              <a:defRPr sz="1200" b="0">
                <a:solidFill>
                  <a:srgbClr val="AAB7C4"/>
                </a:solidFill>
              </a:defRPr>
            </a:pPr>
            <a:r>
              <a:rPr sz="1200" b="0">
                <a:solidFill>
                  <a:srgbClr val="AAB7C4"/>
                </a:solidFill>
              </a:rPr>
              <a:t>For financial research teams, speed matters only when the evidence and the affected position remain visible together.</a:t>
            </a:r>
          </a:p>
        </p:txBody>
      </p:sp>
      <p:sp>
        <p:nvSpPr>
          <p:cNvPr id="6" name="slide-6-footer">
            <a:extLst>
              <a:ext uri="{FF2B5EF4-FFF2-40B4-BE49-F238E27FC236}">
                <a16:creationId xmlns:a16="http://schemas.microsoft.com/office/drawing/2014/main" id="{261D8FAC-D28B-468D-82A2-64BF78AE7A8D}"/>
              </a:ext>
            </a:extLst>
          </p:cNvPr>
          <p:cNvSpPr>
            <a:spLocks noGrp="1"/>
          </p:cNvSpPr>
          <p:nvPr/>
        </p:nvSpPr>
        <p:spPr>
          <a:xfrm>
            <a:off x="9315450" y="63817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750" b="1">
                <a:solidFill>
                  <a:srgbClr val="82909E"/>
                </a:solidFill>
              </a:defRPr>
            </a:defPPr>
          </a:lstStyle>
          <a:p>
            <a:pPr algn="r">
              <a:defRPr sz="750" b="1">
                <a:solidFill>
                  <a:srgbClr val="82909E"/>
                </a:solidFill>
              </a:defRPr>
            </a:pPr>
            <a:r>
              <a:rPr sz="750" b="1">
                <a:solidFill>
                  <a:srgbClr val="82909E"/>
                </a:solidFill>
              </a:rPr>
              <a:t>TRADING WENS   •   6 / 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CCF295-2A7C-4D31-B193-D2CCE0D10A98}"/>
              </a:ext>
            </a:extLst>
          </p:cNvPr>
          <p:cNvSpPr>
            <a:spLocks noGrp="1"/>
          </p:cNvSpPr>
          <p:nvPr/>
        </p:nvSpPr>
        <p:spPr>
          <a:xfrm>
            <a:off x="514350" y="1981200"/>
            <a:ext cx="6153150" cy="3905250"/>
          </a:xfrm>
          <a:prstGeom prst="roundRect">
            <a:avLst>
              <a:gd name="adj" fmla="val 2927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80000E-EC2B-40FC-8641-DD59E4024D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47700" y="2389963"/>
            <a:ext cx="5886450" cy="3087724"/>
          </a:xfrm>
          <a:prstGeom prst="roundRect">
            <a:avLst>
              <a:gd name="adj" fmla="val 3141"/>
            </a:avLst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CFBA20F-EA6C-4E81-B814-0A1F2DF5EFF7}"/>
              </a:ext>
            </a:extLst>
          </p:cNvPr>
          <p:cNvSpPr>
            <a:spLocks noGrp="1"/>
          </p:cNvSpPr>
          <p:nvPr/>
        </p:nvSpPr>
        <p:spPr>
          <a:xfrm>
            <a:off x="6934200" y="1981200"/>
            <a:ext cx="4743450" cy="3905250"/>
          </a:xfrm>
          <a:prstGeom prst="roundRect">
            <a:avLst>
              <a:gd name="adj" fmla="val 2927"/>
            </a:avLst>
          </a:prstGeom>
          <a:solidFill>
            <a:srgbClr val="071019">
              <a:alpha val="78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EEFAE9-487F-4126-AF86-B424F2B40BC0}"/>
              </a:ext>
            </a:extLst>
          </p:cNvPr>
          <p:cNvSpPr>
            <a:spLocks noGrp="1"/>
          </p:cNvSpPr>
          <p:nvPr/>
        </p:nvSpPr>
        <p:spPr>
          <a:xfrm>
            <a:off x="7219950" y="22288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825" b="1">
                <a:solidFill>
                  <a:srgbClr val="F4B942"/>
                </a:solidFill>
              </a:defRPr>
            </a:defPPr>
          </a:lstStyle>
          <a:p>
            <a:pPr algn="l">
              <a:defRPr sz="825" b="1">
                <a:solidFill>
                  <a:srgbClr val="F4B942"/>
                </a:solidFill>
              </a:defRPr>
            </a:pPr>
            <a:r>
              <a:rPr sz="825" b="1">
                <a:solidFill>
                  <a:srgbClr val="F4B942"/>
                </a:solidFill>
              </a:rPr>
              <a:t>WHY THIS MATTERS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4176B9-2033-4F9E-8C9F-8BFF436BA36B}"/>
              </a:ext>
            </a:extLst>
          </p:cNvPr>
          <p:cNvSpPr>
            <a:spLocks noGrp="1"/>
          </p:cNvSpPr>
          <p:nvPr/>
        </p:nvSpPr>
        <p:spPr>
          <a:xfrm>
            <a:off x="7219950" y="2695575"/>
            <a:ext cx="123825" cy="123825"/>
          </a:xfrm>
          <a:prstGeom prst="ellipse">
            <a:avLst/>
          </a:prstGeom>
          <a:solidFill>
            <a:srgbClr val="57A5FF"/>
          </a:solidFill>
          <a:ln w="0">
            <a:solidFill>
              <a:srgbClr val="57A5F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BE9C96-5BBC-452E-B1C0-EF7855182FCD}"/>
              </a:ext>
            </a:extLst>
          </p:cNvPr>
          <p:cNvSpPr>
            <a:spLocks noGrp="1"/>
          </p:cNvSpPr>
          <p:nvPr/>
        </p:nvSpPr>
        <p:spPr>
          <a:xfrm>
            <a:off x="7477125" y="2638425"/>
            <a:ext cx="3790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F7FAFC"/>
                </a:solidFill>
              </a:defRPr>
            </a:defPPr>
          </a:lstStyle>
          <a:p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Surveillance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351B85-44B3-40D9-843A-F03AB4B27F7B}"/>
              </a:ext>
            </a:extLst>
          </p:cNvPr>
          <p:cNvSpPr>
            <a:spLocks noGrp="1"/>
          </p:cNvSpPr>
          <p:nvPr/>
        </p:nvSpPr>
        <p:spPr>
          <a:xfrm>
            <a:off x="7477125" y="2924175"/>
            <a:ext cx="3790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75" b="0">
                <a:solidFill>
                  <a:srgbClr val="AAB7C4"/>
                </a:solidFill>
              </a:defRPr>
            </a:defPPr>
          </a:lstStyle>
          <a:p>
            <a:pPr algn="l">
              <a:defRPr sz="975" b="0">
                <a:solidFill>
                  <a:srgbClr val="AAB7C4"/>
                </a:solidFill>
              </a:defRPr>
            </a:pPr>
            <a:r>
              <a:rPr sz="975" b="0">
                <a:solidFill>
                  <a:srgbClr val="AAB7C4"/>
                </a:solidFill>
              </a:rPr>
              <a:t>Rank issuer events by evidence, direction, and exposure instead of headline volume alone.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80399B3-89C9-4332-B015-9AD5518FD9C2}"/>
              </a:ext>
            </a:extLst>
          </p:cNvPr>
          <p:cNvSpPr>
            <a:spLocks noGrp="1"/>
          </p:cNvSpPr>
          <p:nvPr/>
        </p:nvSpPr>
        <p:spPr>
          <a:xfrm>
            <a:off x="7219950" y="3533775"/>
            <a:ext cx="123825" cy="123825"/>
          </a:xfrm>
          <a:prstGeom prst="ellipse">
            <a:avLst/>
          </a:prstGeom>
          <a:solidFill>
            <a:srgbClr val="2FD07D"/>
          </a:solidFill>
          <a:ln w="0">
            <a:solidFill>
              <a:srgbClr val="2FD07D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E3B84A-A572-42FD-95BA-E0DDA4E43903}"/>
              </a:ext>
            </a:extLst>
          </p:cNvPr>
          <p:cNvSpPr>
            <a:spLocks noGrp="1"/>
          </p:cNvSpPr>
          <p:nvPr/>
        </p:nvSpPr>
        <p:spPr>
          <a:xfrm>
            <a:off x="7477125" y="3476625"/>
            <a:ext cx="3790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F7FAFC"/>
                </a:solidFill>
              </a:defRPr>
            </a:defPPr>
          </a:lstStyle>
          <a:p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Explainability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631FB9-823C-45E4-95EF-39E4B7F0B1A4}"/>
              </a:ext>
            </a:extLst>
          </p:cNvPr>
          <p:cNvSpPr>
            <a:spLocks noGrp="1"/>
          </p:cNvSpPr>
          <p:nvPr/>
        </p:nvSpPr>
        <p:spPr>
          <a:xfrm>
            <a:off x="7477125" y="3762375"/>
            <a:ext cx="3790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75" b="0">
                <a:solidFill>
                  <a:srgbClr val="AAB7C4"/>
                </a:solidFill>
              </a:defRPr>
            </a:defPPr>
          </a:lstStyle>
          <a:p>
            <a:pPr algn="l">
              <a:defRPr sz="975" b="0">
                <a:solidFill>
                  <a:srgbClr val="AAB7C4"/>
                </a:solidFill>
              </a:defRPr>
            </a:pPr>
            <a:r>
              <a:rPr sz="975" b="0">
                <a:solidFill>
                  <a:srgbClr val="AAB7C4"/>
                </a:solidFill>
              </a:rPr>
              <a:t>Keep source URLs, model identity, confidence, current mark, and position side in the review path.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1A23FC-3F3C-4616-82B6-0B420E01F1B2}"/>
              </a:ext>
            </a:extLst>
          </p:cNvPr>
          <p:cNvSpPr>
            <a:spLocks noGrp="1"/>
          </p:cNvSpPr>
          <p:nvPr/>
        </p:nvSpPr>
        <p:spPr>
          <a:xfrm>
            <a:off x="7219950" y="4371975"/>
            <a:ext cx="123825" cy="123825"/>
          </a:xfrm>
          <a:prstGeom prst="ellipse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CC187A-D52C-460D-8A45-664C1CF4EB24}"/>
              </a:ext>
            </a:extLst>
          </p:cNvPr>
          <p:cNvSpPr>
            <a:spLocks noGrp="1"/>
          </p:cNvSpPr>
          <p:nvPr/>
        </p:nvSpPr>
        <p:spPr>
          <a:xfrm>
            <a:off x="7477125" y="4314825"/>
            <a:ext cx="3790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F7FAFC"/>
                </a:solidFill>
              </a:defRPr>
            </a:defPPr>
          </a:lstStyle>
          <a:p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Portfolio context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4868B5-6572-4B61-AEC6-D882EBBAB48E}"/>
              </a:ext>
            </a:extLst>
          </p:cNvPr>
          <p:cNvSpPr>
            <a:spLocks noGrp="1"/>
          </p:cNvSpPr>
          <p:nvPr/>
        </p:nvSpPr>
        <p:spPr>
          <a:xfrm>
            <a:off x="7477125" y="4600575"/>
            <a:ext cx="3790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75" b="0">
                <a:solidFill>
                  <a:srgbClr val="AAB7C4"/>
                </a:solidFill>
              </a:defRPr>
            </a:defPPr>
          </a:lstStyle>
          <a:p>
            <a:pPr algn="l">
              <a:defRPr sz="975" b="0">
                <a:solidFill>
                  <a:srgbClr val="AAB7C4"/>
                </a:solidFill>
              </a:defRPr>
            </a:pPr>
            <a:r>
              <a:rPr sz="975" b="0">
                <a:solidFill>
                  <a:srgbClr val="AAB7C4"/>
                </a:solidFill>
              </a:rPr>
              <a:t>Aggregate individual adverse exposure into one interpretable portfolio signal without losing symbol-level detail.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D0859B-2CAF-4984-95B5-39A03A63D97D}"/>
              </a:ext>
            </a:extLst>
          </p:cNvPr>
          <p:cNvSpPr>
            <a:spLocks noGrp="1"/>
          </p:cNvSpPr>
          <p:nvPr/>
        </p:nvSpPr>
        <p:spPr>
          <a:xfrm>
            <a:off x="7219950" y="5334000"/>
            <a:ext cx="3981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75" b="1">
                <a:solidFill>
                  <a:srgbClr val="DDE7EF"/>
                </a:solidFill>
              </a:defRPr>
            </a:defPPr>
          </a:lstStyle>
          <a:p>
            <a:pPr algn="l">
              <a:defRPr sz="975" b="1">
                <a:solidFill>
                  <a:srgbClr val="DDE7EF"/>
                </a:solidFill>
              </a:defRPr>
            </a:pPr>
            <a:r>
              <a:rPr sz="975" b="1">
                <a:solidFill>
                  <a:srgbClr val="DDE7EF"/>
                </a:solidFill>
              </a:rPr>
              <a:t>Extendable to issuer monitoring, credit events, and index constituents</a:t>
            </a:r>
          </a:p>
        </p:txBody>
      </p:sp>
    </p:spTree>
    <p:extLst>
      <p:ext uri="{BB962C8B-B14F-4D97-AF65-F5344CB8AC3E}">
        <p14:creationId xmlns:p14="http://schemas.microsoft.com/office/powerpoint/2010/main" val="65622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320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Technology Background Video">
            <a:hlinkClick action="ppaction://media"/>
            <a:extLst>
              <a:ext uri="{FF2B5EF4-FFF2-40B4-BE49-F238E27FC236}">
                <a16:creationId xmlns:a16="http://schemas.microsoft.com/office/drawing/2014/main" id="{AB65112D-D95C-0E61-6573-71D78A8256E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slide-7-number">
            <a:extLst>
              <a:ext uri="{FF2B5EF4-FFF2-40B4-BE49-F238E27FC236}">
                <a16:creationId xmlns:a16="http://schemas.microsoft.com/office/drawing/2014/main" id="{3CF53549-68AD-49E6-8890-5186961F56DD}"/>
              </a:ext>
            </a:extLst>
          </p:cNvPr>
          <p:cNvSpPr>
            <a:spLocks noGrp="1"/>
          </p:cNvSpPr>
          <p:nvPr/>
        </p:nvSpPr>
        <p:spPr>
          <a:xfrm>
            <a:off x="514350" y="3143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00" b="1">
                <a:solidFill>
                  <a:srgbClr val="F4B942"/>
                </a:solidFill>
              </a:defRPr>
            </a:defPPr>
          </a:lstStyle>
          <a:p>
            <a:pPr algn="ctr">
              <a:defRPr sz="900" b="1">
                <a:solidFill>
                  <a:srgbClr val="F4B942"/>
                </a:solidFill>
              </a:defRPr>
            </a:pPr>
            <a:r>
              <a:rPr sz="900" b="1">
                <a:solidFill>
                  <a:srgbClr val="F4B942"/>
                </a:solidFill>
              </a:rPr>
              <a:t>07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6048A53A-3BA3-4A02-A3A1-40835D80FBB0}"/>
              </a:ext>
            </a:extLst>
          </p:cNvPr>
          <p:cNvSpPr>
            <a:spLocks noGrp="1"/>
          </p:cNvSpPr>
          <p:nvPr/>
        </p:nvSpPr>
        <p:spPr>
          <a:xfrm>
            <a:off x="1000125" y="419100"/>
            <a:ext cx="400050" cy="0"/>
          </a:xfrm>
          <a:prstGeom prst="line">
            <a:avLst/>
          </a:prstGeom>
          <a:noFill/>
          <a:ln w="19050">
            <a:solidFill>
              <a:srgbClr val="F4B942"/>
            </a:solidFill>
            <a:prstDash val="solid"/>
          </a:ln>
        </p:spPr>
      </p:sp>
      <p:sp>
        <p:nvSpPr>
          <p:cNvPr id="3" name="slide-7-eyebrow">
            <a:extLst>
              <a:ext uri="{FF2B5EF4-FFF2-40B4-BE49-F238E27FC236}">
                <a16:creationId xmlns:a16="http://schemas.microsoft.com/office/drawing/2014/main" id="{288C0B8B-8FE7-4C16-A241-7D8FAFBDBE88}"/>
              </a:ext>
            </a:extLst>
          </p:cNvPr>
          <p:cNvSpPr>
            <a:spLocks noGrp="1"/>
          </p:cNvSpPr>
          <p:nvPr/>
        </p:nvSpPr>
        <p:spPr>
          <a:xfrm>
            <a:off x="1543050" y="295275"/>
            <a:ext cx="371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1">
                <a:solidFill>
                  <a:srgbClr val="F4B942"/>
                </a:solidFill>
              </a:defRPr>
            </a:defPPr>
          </a:lstStyle>
          <a:p>
            <a:pPr algn="l">
              <a:defRPr sz="900" b="1">
                <a:solidFill>
                  <a:srgbClr val="F4B942"/>
                </a:solidFill>
              </a:defRPr>
            </a:pPr>
            <a:r>
              <a:rPr sz="900" b="1">
                <a:solidFill>
                  <a:srgbClr val="F4B942"/>
                </a:solidFill>
              </a:rPr>
              <a:t>LIMITATIONS AND NEXT STEPS</a:t>
            </a:r>
          </a:p>
        </p:txBody>
      </p:sp>
      <p:sp>
        <p:nvSpPr>
          <p:cNvPr id="4" name="slide-7-title">
            <a:extLst>
              <a:ext uri="{FF2B5EF4-FFF2-40B4-BE49-F238E27FC236}">
                <a16:creationId xmlns:a16="http://schemas.microsoft.com/office/drawing/2014/main" id="{782992CA-929D-48D4-9B60-297F5A01676D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F7FAFC"/>
                </a:solidFill>
              </a:defRPr>
            </a:defPPr>
          </a:lstStyle>
          <a:p>
            <a:pPr algn="l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Keep the signal honest. Make the evidence stronger.</a:t>
            </a:r>
          </a:p>
        </p:txBody>
      </p:sp>
      <p:sp>
        <p:nvSpPr>
          <p:cNvPr id="5" name="slide-7-subtitle">
            <a:extLst>
              <a:ext uri="{FF2B5EF4-FFF2-40B4-BE49-F238E27FC236}">
                <a16:creationId xmlns:a16="http://schemas.microsoft.com/office/drawing/2014/main" id="{004930B8-E5E7-40C9-A30E-205FED7FDA3C}"/>
              </a:ext>
            </a:extLst>
          </p:cNvPr>
          <p:cNvSpPr>
            <a:spLocks noGrp="1"/>
          </p:cNvSpPr>
          <p:nvPr/>
        </p:nvSpPr>
        <p:spPr>
          <a:xfrm>
            <a:off x="533400" y="1295400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AAB7C4"/>
                </a:solidFill>
              </a:defRPr>
            </a:defPPr>
          </a:lstStyle>
          <a:p>
            <a:pPr algn="l">
              <a:defRPr sz="1200" b="0">
                <a:solidFill>
                  <a:srgbClr val="AAB7C4"/>
                </a:solidFill>
              </a:defRPr>
            </a:pPr>
            <a:r>
              <a:rPr sz="1200" b="0">
                <a:solidFill>
                  <a:srgbClr val="AAB7C4"/>
                </a:solidFill>
              </a:rPr>
              <a:t>The current system is a working decision-support prototype. The next phase is disciplined validation, not a larger promise.</a:t>
            </a:r>
          </a:p>
        </p:txBody>
      </p:sp>
      <p:sp>
        <p:nvSpPr>
          <p:cNvPr id="6" name="slide-7-footer">
            <a:extLst>
              <a:ext uri="{FF2B5EF4-FFF2-40B4-BE49-F238E27FC236}">
                <a16:creationId xmlns:a16="http://schemas.microsoft.com/office/drawing/2014/main" id="{E99605A2-3D40-4D25-AE43-C64E2169AFA8}"/>
              </a:ext>
            </a:extLst>
          </p:cNvPr>
          <p:cNvSpPr>
            <a:spLocks noGrp="1"/>
          </p:cNvSpPr>
          <p:nvPr/>
        </p:nvSpPr>
        <p:spPr>
          <a:xfrm>
            <a:off x="9315450" y="63817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750" b="1">
                <a:solidFill>
                  <a:srgbClr val="82909E"/>
                </a:solidFill>
              </a:defRPr>
            </a:defPPr>
          </a:lstStyle>
          <a:p>
            <a:pPr algn="r">
              <a:defRPr sz="750" b="1">
                <a:solidFill>
                  <a:srgbClr val="82909E"/>
                </a:solidFill>
              </a:defRPr>
            </a:pPr>
            <a:r>
              <a:rPr sz="750" b="1">
                <a:solidFill>
                  <a:srgbClr val="82909E"/>
                </a:solidFill>
              </a:rPr>
              <a:t>TRADING WENS   •   7 / 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C00B61C-65D4-46A1-890A-ADBAFCA45E51}"/>
              </a:ext>
            </a:extLst>
          </p:cNvPr>
          <p:cNvSpPr>
            <a:spLocks noGrp="1"/>
          </p:cNvSpPr>
          <p:nvPr/>
        </p:nvSpPr>
        <p:spPr>
          <a:xfrm>
            <a:off x="514350" y="2009775"/>
            <a:ext cx="4572000" cy="3495675"/>
          </a:xfrm>
          <a:prstGeom prst="roundRect">
            <a:avLst>
              <a:gd name="adj" fmla="val 4360"/>
            </a:avLst>
          </a:prstGeom>
          <a:solidFill>
            <a:srgbClr val="071019">
              <a:alpha val="92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463D12-C860-4804-9D71-CE7830EB6491}"/>
              </a:ext>
            </a:extLst>
          </p:cNvPr>
          <p:cNvSpPr>
            <a:spLocks noGrp="1"/>
          </p:cNvSpPr>
          <p:nvPr/>
        </p:nvSpPr>
        <p:spPr>
          <a:xfrm>
            <a:off x="800100" y="22669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825" b="1">
                <a:solidFill>
                  <a:srgbClr val="FF5A67"/>
                </a:solidFill>
              </a:defRPr>
            </a:defPPr>
          </a:lstStyle>
          <a:p>
            <a:pPr algn="l">
              <a:defRPr sz="825" b="1">
                <a:solidFill>
                  <a:srgbClr val="FF5A67"/>
                </a:solidFill>
              </a:defRPr>
            </a:pPr>
            <a:r>
              <a:rPr sz="825" b="1">
                <a:solidFill>
                  <a:srgbClr val="FF5A67"/>
                </a:solidFill>
              </a:rPr>
              <a:t>CURRENT LIMITS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045C006-8524-403D-B70A-68279FB33310}"/>
              </a:ext>
            </a:extLst>
          </p:cNvPr>
          <p:cNvSpPr>
            <a:spLocks noGrp="1"/>
          </p:cNvSpPr>
          <p:nvPr/>
        </p:nvSpPr>
        <p:spPr>
          <a:xfrm>
            <a:off x="800100" y="2705100"/>
            <a:ext cx="123825" cy="123825"/>
          </a:xfrm>
          <a:prstGeom prst="ellipse">
            <a:avLst/>
          </a:prstGeom>
          <a:solidFill>
            <a:srgbClr val="FF5A67"/>
          </a:solidFill>
          <a:ln w="0">
            <a:solidFill>
              <a:srgbClr val="FF5A67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0FA54B-00B1-4626-87FE-2587B32B3ED2}"/>
              </a:ext>
            </a:extLst>
          </p:cNvPr>
          <p:cNvSpPr>
            <a:spLocks noGrp="1"/>
          </p:cNvSpPr>
          <p:nvPr/>
        </p:nvSpPr>
        <p:spPr>
          <a:xfrm>
            <a:off x="1057275" y="2647950"/>
            <a:ext cx="3552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F7FAFC"/>
                </a:solidFill>
              </a:defRPr>
            </a:defPPr>
          </a:lstStyle>
          <a:p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No price guarantee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5040EA-49B7-4A17-999F-6CB83546DEAC}"/>
              </a:ext>
            </a:extLst>
          </p:cNvPr>
          <p:cNvSpPr>
            <a:spLocks noGrp="1"/>
          </p:cNvSpPr>
          <p:nvPr/>
        </p:nvSpPr>
        <p:spPr>
          <a:xfrm>
            <a:off x="1057275" y="2933700"/>
            <a:ext cx="35528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75" b="0">
                <a:solidFill>
                  <a:srgbClr val="AAB7C4"/>
                </a:solidFill>
              </a:defRPr>
            </a:defPPr>
          </a:lstStyle>
          <a:p>
            <a:pPr algn="l">
              <a:defRPr sz="975" b="0">
                <a:solidFill>
                  <a:srgbClr val="AAB7C4"/>
                </a:solidFill>
              </a:defRPr>
            </a:pPr>
            <a:r>
              <a:rPr sz="975" b="0">
                <a:solidFill>
                  <a:srgbClr val="AAB7C4"/>
                </a:solidFill>
              </a:rPr>
              <a:t>Direction is a thresholded signal, not a forecast contract or investment recommendation.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1A7520-FEBE-4A76-B8B5-D93B34CDBAF6}"/>
              </a:ext>
            </a:extLst>
          </p:cNvPr>
          <p:cNvSpPr>
            <a:spLocks noGrp="1"/>
          </p:cNvSpPr>
          <p:nvPr/>
        </p:nvSpPr>
        <p:spPr>
          <a:xfrm>
            <a:off x="800100" y="3581400"/>
            <a:ext cx="123825" cy="123825"/>
          </a:xfrm>
          <a:prstGeom prst="ellipse">
            <a:avLst/>
          </a:prstGeom>
          <a:solidFill>
            <a:srgbClr val="FF5A67"/>
          </a:solidFill>
          <a:ln w="0">
            <a:solidFill>
              <a:srgbClr val="FF5A67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715736-5816-4E91-9081-DC5FD8D6659D}"/>
              </a:ext>
            </a:extLst>
          </p:cNvPr>
          <p:cNvSpPr>
            <a:spLocks noGrp="1"/>
          </p:cNvSpPr>
          <p:nvPr/>
        </p:nvSpPr>
        <p:spPr>
          <a:xfrm>
            <a:off x="1057275" y="3524250"/>
            <a:ext cx="3552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F7FAFC"/>
                </a:solidFill>
              </a:defRPr>
            </a:defPPr>
          </a:lstStyle>
          <a:p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Provider dependence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44D1A9-B83C-4160-90D4-7DAA3517F33F}"/>
              </a:ext>
            </a:extLst>
          </p:cNvPr>
          <p:cNvSpPr>
            <a:spLocks noGrp="1"/>
          </p:cNvSpPr>
          <p:nvPr/>
        </p:nvSpPr>
        <p:spPr>
          <a:xfrm>
            <a:off x="1057275" y="3810000"/>
            <a:ext cx="35528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75" b="0">
                <a:solidFill>
                  <a:srgbClr val="AAB7C4"/>
                </a:solidFill>
              </a:defRPr>
            </a:defPPr>
          </a:lstStyle>
          <a:p>
            <a:pPr algn="l">
              <a:defRPr sz="975" b="0">
                <a:solidFill>
                  <a:srgbClr val="AAB7C4"/>
                </a:solidFill>
              </a:defRPr>
            </a:pPr>
            <a:r>
              <a:rPr sz="975" b="0">
                <a:solidFill>
                  <a:srgbClr val="AAB7C4"/>
                </a:solidFill>
              </a:rPr>
              <a:t>Coverage and freshness depend on entitlement, publication latency, and source availability.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B0CBB4-89AD-421A-BEA5-B5610C2B9E10}"/>
              </a:ext>
            </a:extLst>
          </p:cNvPr>
          <p:cNvSpPr>
            <a:spLocks noGrp="1"/>
          </p:cNvSpPr>
          <p:nvPr/>
        </p:nvSpPr>
        <p:spPr>
          <a:xfrm>
            <a:off x="800100" y="4457700"/>
            <a:ext cx="123825" cy="123825"/>
          </a:xfrm>
          <a:prstGeom prst="ellipse">
            <a:avLst/>
          </a:prstGeom>
          <a:solidFill>
            <a:srgbClr val="FF5A67"/>
          </a:solidFill>
          <a:ln w="0">
            <a:solidFill>
              <a:srgbClr val="FF5A67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ADB657-A798-405E-9721-757F915378DF}"/>
              </a:ext>
            </a:extLst>
          </p:cNvPr>
          <p:cNvSpPr>
            <a:spLocks noGrp="1"/>
          </p:cNvSpPr>
          <p:nvPr/>
        </p:nvSpPr>
        <p:spPr>
          <a:xfrm>
            <a:off x="1057275" y="4400550"/>
            <a:ext cx="3552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F7FAFC"/>
                </a:solidFill>
              </a:defRPr>
            </a:defPPr>
          </a:lstStyle>
          <a:p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Heuristic portfolio risk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1AC231-1710-4CA7-B4C1-3906A9BD818D}"/>
              </a:ext>
            </a:extLst>
          </p:cNvPr>
          <p:cNvSpPr>
            <a:spLocks noGrp="1"/>
          </p:cNvSpPr>
          <p:nvPr/>
        </p:nvSpPr>
        <p:spPr>
          <a:xfrm>
            <a:off x="1057275" y="4686300"/>
            <a:ext cx="35528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75" b="0">
                <a:solidFill>
                  <a:srgbClr val="AAB7C4"/>
                </a:solidFill>
              </a:defRPr>
            </a:defPPr>
          </a:lstStyle>
          <a:p>
            <a:pPr algn="l">
              <a:defRPr sz="975" b="0">
                <a:solidFill>
                  <a:srgbClr val="AAB7C4"/>
                </a:solidFill>
              </a:defRPr>
            </a:pPr>
            <a:r>
              <a:rPr sz="975" b="0">
                <a:solidFill>
                  <a:srgbClr val="AAB7C4"/>
                </a:solidFill>
              </a:rPr>
              <a:t>The score is interpretable exposure, not full VaR, stress loss, or regulatory capital.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D8785AB-701F-4FA6-ACDD-114D9F1E68F2}"/>
              </a:ext>
            </a:extLst>
          </p:cNvPr>
          <p:cNvSpPr>
            <a:spLocks noGrp="1"/>
          </p:cNvSpPr>
          <p:nvPr/>
        </p:nvSpPr>
        <p:spPr>
          <a:xfrm>
            <a:off x="5391150" y="2009775"/>
            <a:ext cx="6286500" cy="3495675"/>
          </a:xfrm>
          <a:prstGeom prst="roundRect">
            <a:avLst>
              <a:gd name="adj" fmla="val 4360"/>
            </a:avLst>
          </a:prstGeom>
          <a:solidFill>
            <a:srgbClr val="071019">
              <a:alpha val="78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3C685C-7541-4F8F-BD94-80288E9F9FC1}"/>
              </a:ext>
            </a:extLst>
          </p:cNvPr>
          <p:cNvSpPr>
            <a:spLocks noGrp="1"/>
          </p:cNvSpPr>
          <p:nvPr/>
        </p:nvSpPr>
        <p:spPr>
          <a:xfrm>
            <a:off x="5676900" y="22669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825" b="1">
                <a:solidFill>
                  <a:srgbClr val="2FD07D"/>
                </a:solidFill>
              </a:defRPr>
            </a:defPPr>
          </a:lstStyle>
          <a:p>
            <a:pPr algn="l">
              <a:defRPr sz="825" b="1">
                <a:solidFill>
                  <a:srgbClr val="2FD07D"/>
                </a:solidFill>
              </a:defRPr>
            </a:pPr>
            <a:r>
              <a:rPr sz="825" b="1">
                <a:solidFill>
                  <a:srgbClr val="2FD07D"/>
                </a:solidFill>
              </a:rPr>
              <a:t>NEXT THREE RELEASES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6D9D6C8-A126-4A74-9B66-A8CBFE1ABB77}"/>
              </a:ext>
            </a:extLst>
          </p:cNvPr>
          <p:cNvSpPr>
            <a:spLocks noGrp="1"/>
          </p:cNvSpPr>
          <p:nvPr/>
        </p:nvSpPr>
        <p:spPr>
          <a:xfrm>
            <a:off x="6057900" y="3143250"/>
            <a:ext cx="3981450" cy="0"/>
          </a:xfrm>
          <a:prstGeom prst="line">
            <a:avLst/>
          </a:prstGeom>
          <a:noFill/>
          <a:ln w="190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2D82B37-208F-44A9-8403-980BCE044E68}"/>
              </a:ext>
            </a:extLst>
          </p:cNvPr>
          <p:cNvSpPr>
            <a:spLocks noGrp="1"/>
          </p:cNvSpPr>
          <p:nvPr/>
        </p:nvSpPr>
        <p:spPr>
          <a:xfrm>
            <a:off x="5676900" y="2924175"/>
            <a:ext cx="457200" cy="457200"/>
          </a:xfrm>
          <a:prstGeom prst="ellipse">
            <a:avLst/>
          </a:prstGeom>
          <a:solidFill>
            <a:srgbClr val="2FD07D">
              <a:alpha val="18000"/>
            </a:srgbClr>
          </a:solidFill>
          <a:ln w="19050">
            <a:solidFill>
              <a:srgbClr val="2FD07D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10DAAD-9E59-4A68-BA57-5A95342E3178}"/>
              </a:ext>
            </a:extLst>
          </p:cNvPr>
          <p:cNvSpPr>
            <a:spLocks noGrp="1"/>
          </p:cNvSpPr>
          <p:nvPr/>
        </p:nvSpPr>
        <p:spPr>
          <a:xfrm>
            <a:off x="5676900" y="2924175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2FD07D"/>
                </a:solidFill>
              </a:defRPr>
            </a:defPPr>
          </a:lstStyle>
          <a:p>
            <a:pPr algn="ctr">
              <a:defRPr sz="975" b="1">
                <a:solidFill>
                  <a:srgbClr val="2FD07D"/>
                </a:solidFill>
              </a:defRPr>
            </a:pPr>
            <a:r>
              <a:rPr sz="975" b="1">
                <a:solidFill>
                  <a:srgbClr val="2FD07D"/>
                </a:solidFill>
              </a:rPr>
              <a:t>01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B4D182-64DC-49B4-9C7A-991210058F6C}"/>
              </a:ext>
            </a:extLst>
          </p:cNvPr>
          <p:cNvSpPr>
            <a:spLocks noGrp="1"/>
          </p:cNvSpPr>
          <p:nvPr/>
        </p:nvSpPr>
        <p:spPr>
          <a:xfrm>
            <a:off x="5610225" y="3533775"/>
            <a:ext cx="1333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7FAFC"/>
                </a:solidFill>
              </a:defRPr>
            </a:defPPr>
          </a:lstStyle>
          <a:p>
            <a:pPr algn="l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Calibrate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13FA3B-9FE4-4FF0-A45F-E1672CD2A8B3}"/>
              </a:ext>
            </a:extLst>
          </p:cNvPr>
          <p:cNvSpPr>
            <a:spLocks noGrp="1"/>
          </p:cNvSpPr>
          <p:nvPr/>
        </p:nvSpPr>
        <p:spPr>
          <a:xfrm>
            <a:off x="5610225" y="3867150"/>
            <a:ext cx="157162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AAB7C4"/>
                </a:solidFill>
              </a:defRPr>
            </a:defPPr>
          </a:lstStyle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Walk-forward evaluation and neutral thresholds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47ABF5C-912F-47E9-9E58-EA68E4050CEA}"/>
              </a:ext>
            </a:extLst>
          </p:cNvPr>
          <p:cNvSpPr>
            <a:spLocks noGrp="1"/>
          </p:cNvSpPr>
          <p:nvPr/>
        </p:nvSpPr>
        <p:spPr>
          <a:xfrm>
            <a:off x="7667625" y="2924175"/>
            <a:ext cx="457200" cy="457200"/>
          </a:xfrm>
          <a:prstGeom prst="ellipse">
            <a:avLst/>
          </a:prstGeom>
          <a:solidFill>
            <a:srgbClr val="2FD07D">
              <a:alpha val="18000"/>
            </a:srgbClr>
          </a:solidFill>
          <a:ln w="19050">
            <a:solidFill>
              <a:srgbClr val="2FD07D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6E6F2E-79F9-4899-BCC7-4AA3BC0EAE84}"/>
              </a:ext>
            </a:extLst>
          </p:cNvPr>
          <p:cNvSpPr>
            <a:spLocks noGrp="1"/>
          </p:cNvSpPr>
          <p:nvPr/>
        </p:nvSpPr>
        <p:spPr>
          <a:xfrm>
            <a:off x="7667625" y="2924175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2FD07D"/>
                </a:solidFill>
              </a:defRPr>
            </a:defPPr>
          </a:lstStyle>
          <a:p>
            <a:pPr algn="ctr">
              <a:defRPr sz="975" b="1">
                <a:solidFill>
                  <a:srgbClr val="2FD07D"/>
                </a:solidFill>
              </a:defRPr>
            </a:pPr>
            <a:r>
              <a:rPr sz="975" b="1">
                <a:solidFill>
                  <a:srgbClr val="2FD07D"/>
                </a:solidFill>
              </a:rPr>
              <a:t>02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9C4F83-EBB4-4AD4-B736-A13D832F934F}"/>
              </a:ext>
            </a:extLst>
          </p:cNvPr>
          <p:cNvSpPr>
            <a:spLocks noGrp="1"/>
          </p:cNvSpPr>
          <p:nvPr/>
        </p:nvSpPr>
        <p:spPr>
          <a:xfrm>
            <a:off x="7600950" y="3533775"/>
            <a:ext cx="1333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7FAFC"/>
                </a:solidFill>
              </a:defRPr>
            </a:defPPr>
          </a:lstStyle>
          <a:p>
            <a:pPr algn="l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Cluster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74B62F-BC2C-44E1-887C-2245078E2A72}"/>
              </a:ext>
            </a:extLst>
          </p:cNvPr>
          <p:cNvSpPr>
            <a:spLocks noGrp="1"/>
          </p:cNvSpPr>
          <p:nvPr/>
        </p:nvSpPr>
        <p:spPr>
          <a:xfrm>
            <a:off x="7600950" y="3867150"/>
            <a:ext cx="157162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AAB7C4"/>
                </a:solidFill>
              </a:defRPr>
            </a:defPPr>
          </a:lstStyle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Group repeated coverage into one event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C4E353D-B730-4E3A-B25C-E3EA90C2EF9E}"/>
              </a:ext>
            </a:extLst>
          </p:cNvPr>
          <p:cNvSpPr>
            <a:spLocks noGrp="1"/>
          </p:cNvSpPr>
          <p:nvPr/>
        </p:nvSpPr>
        <p:spPr>
          <a:xfrm>
            <a:off x="9658350" y="2924175"/>
            <a:ext cx="457200" cy="457200"/>
          </a:xfrm>
          <a:prstGeom prst="ellipse">
            <a:avLst/>
          </a:prstGeom>
          <a:solidFill>
            <a:srgbClr val="2FD07D">
              <a:alpha val="18000"/>
            </a:srgbClr>
          </a:solidFill>
          <a:ln w="19050">
            <a:solidFill>
              <a:srgbClr val="2FD07D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3CEE124-C533-48DB-A11A-2A09424E22A6}"/>
              </a:ext>
            </a:extLst>
          </p:cNvPr>
          <p:cNvSpPr>
            <a:spLocks noGrp="1"/>
          </p:cNvSpPr>
          <p:nvPr/>
        </p:nvSpPr>
        <p:spPr>
          <a:xfrm>
            <a:off x="9658350" y="2924175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2FD07D"/>
                </a:solidFill>
              </a:defRPr>
            </a:defPPr>
          </a:lstStyle>
          <a:p>
            <a:pPr algn="ctr">
              <a:defRPr sz="975" b="1">
                <a:solidFill>
                  <a:srgbClr val="2FD07D"/>
                </a:solidFill>
              </a:defRPr>
            </a:pPr>
            <a:r>
              <a:rPr sz="975" b="1">
                <a:solidFill>
                  <a:srgbClr val="2FD07D"/>
                </a:solidFill>
              </a:rPr>
              <a:t>03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8A6FFAF-D7B9-41B0-88A3-2D4B21300CAA}"/>
              </a:ext>
            </a:extLst>
          </p:cNvPr>
          <p:cNvSpPr>
            <a:spLocks noGrp="1"/>
          </p:cNvSpPr>
          <p:nvPr/>
        </p:nvSpPr>
        <p:spPr>
          <a:xfrm>
            <a:off x="9591675" y="3533775"/>
            <a:ext cx="1333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7FAFC"/>
                </a:solidFill>
              </a:defRPr>
            </a:defPPr>
          </a:lstStyle>
          <a:p>
            <a:pPr algn="l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Monitor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323B02F-AB3C-422B-BE5D-FAEB0440DB44}"/>
              </a:ext>
            </a:extLst>
          </p:cNvPr>
          <p:cNvSpPr>
            <a:spLocks noGrp="1"/>
          </p:cNvSpPr>
          <p:nvPr/>
        </p:nvSpPr>
        <p:spPr>
          <a:xfrm>
            <a:off x="9591675" y="3867150"/>
            <a:ext cx="157162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AAB7C4"/>
                </a:solidFill>
              </a:defRPr>
            </a:defPPr>
          </a:lstStyle>
          <a:p>
            <a:pPr algn="l">
              <a:defRPr sz="900" b="0">
                <a:solidFill>
                  <a:srgbClr val="AAB7C4"/>
                </a:solidFill>
              </a:defRPr>
            </a:pPr>
            <a:r>
              <a:rPr sz="900" b="0">
                <a:solidFill>
                  <a:srgbClr val="AAB7C4"/>
                </a:solidFill>
              </a:rPr>
              <a:t>WebSockets, drift, latency, and provider health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7376CE-DA3E-4431-9CE5-F1E1E4CAD626}"/>
              </a:ext>
            </a:extLst>
          </p:cNvPr>
          <p:cNvSpPr>
            <a:spLocks noGrp="1"/>
          </p:cNvSpPr>
          <p:nvPr/>
        </p:nvSpPr>
        <p:spPr>
          <a:xfrm>
            <a:off x="514350" y="5810250"/>
            <a:ext cx="361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F7FAFC"/>
                </a:solidFill>
              </a:defRPr>
            </a:defPPr>
          </a:lstStyle>
          <a:p>
            <a:pPr algn="l">
              <a:defRPr sz="2100" b="1">
                <a:solidFill>
                  <a:srgbClr val="F7FAFC"/>
                </a:solidFill>
              </a:defRPr>
            </a:pPr>
            <a:r>
              <a:rPr sz="2100" b="1">
                <a:solidFill>
                  <a:srgbClr val="F7FAFC"/>
                </a:solidFill>
              </a:rPr>
              <a:t>Trading Wens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AC2C502-419C-4503-9A42-5F6CDC88E208}"/>
              </a:ext>
            </a:extLst>
          </p:cNvPr>
          <p:cNvSpPr>
            <a:spLocks noGrp="1"/>
          </p:cNvSpPr>
          <p:nvPr/>
        </p:nvSpPr>
        <p:spPr>
          <a:xfrm>
            <a:off x="5391150" y="5848350"/>
            <a:ext cx="628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275" b="1">
                <a:solidFill>
                  <a:srgbClr val="F4B942"/>
                </a:solidFill>
              </a:defRPr>
            </a:defPPr>
          </a:lstStyle>
          <a:p>
            <a:pPr algn="r">
              <a:defRPr sz="1275" b="1">
                <a:solidFill>
                  <a:srgbClr val="F4B942"/>
                </a:solidFill>
              </a:defRPr>
            </a:pPr>
            <a:r>
              <a:rPr sz="1275" b="1">
                <a:solidFill>
                  <a:srgbClr val="F4B942"/>
                </a:solidFill>
              </a:rPr>
              <a:t>Evidence first. Position aware. Explicitly uncertain.</a:t>
            </a:r>
          </a:p>
        </p:txBody>
      </p:sp>
    </p:spTree>
    <p:extLst>
      <p:ext uri="{BB962C8B-B14F-4D97-AF65-F5344CB8AC3E}">
        <p14:creationId xmlns:p14="http://schemas.microsoft.com/office/powerpoint/2010/main" val="1375960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320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1009</Words>
  <Application>Microsoft Office PowerPoint</Application>
  <DocSecurity>0</DocSecurity>
  <PresentationFormat>Widescreen</PresentationFormat>
  <Paragraphs>163</Paragraphs>
  <Slides>7</Slides>
  <Notes>7</Notes>
  <HiddenSlides>0</HiddenSlides>
  <MMClips>7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SHIVANSH DWIVEDI</cp:lastModifiedBy>
  <cp:revision>1</cp:revision>
  <dcterms:created xsi:type="dcterms:W3CDTF">2026-10-11T16:13:29Z</dcterms:created>
  <dcterms:modified xsi:type="dcterms:W3CDTF">2026-10-11T16:14:08Z</dcterms:modified>
</cp:coreProperties>
</file>