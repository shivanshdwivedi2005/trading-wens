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decision problem: traders must connect market movement, news evidence, and their actual position before acting.</a:t>
            </a:r>
          </a:p>
          <a:p>
            <a:r>
              <a:t>Trading Wens is a research and paper-trading aid, not an investment recommendation.</a:t>
            </a:r>
          </a:p>
          <a:p>
            <a:r>
              <a:t>Background media supplied by the candidate: https://d33g0704mc6hny.cloudfront.net/technology_page_banner_video.mp4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 framing and implemented approach are based on the repository architecture and frontend risk logic.</a:t>
            </a:r>
          </a:p>
          <a:p>
            <a:r>
              <a:t>Clarify confidence: sentiment-class confidence and directional price confidence are distinct outputs. Sideways can coexist with high confidence in a neutral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repository docs/architecture.md and docs/api-v1.yaml.</a:t>
            </a:r>
          </a:p>
          <a:p>
            <a:r>
              <a:t>Alpaca documentation: https://docs.alpaca.markets/</a:t>
            </a:r>
          </a:p>
          <a:p>
            <a:r>
              <a:t>GDELT DOC 2.0: https://blog.gdeltproject.org/gdelt-doc-2-0-api-debuts/</a:t>
            </a:r>
          </a:p>
          <a:p>
            <a:r>
              <a:t>Bluesky HTTP reference: https://docs.bsky.app/docs/category/http-reference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Implementation claims are based on src/backend, src/frontend, src/ml, and the database migrations in this repository.</a:t>
            </a:r>
          </a:p>
          <a:p>
            <a:r>
              <a:t>The paper-trading endpoint is deliberately restricted to https://paper-api.alpaca.markets.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Screenshots were captured from the Trading Wens application supplied with this submission.</a:t>
            </a:r>
          </a:p>
          <a:p>
            <a:r>
              <a:t>Figures are implementation bounds or verified test counts, not trading-performance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screenshot uses Alpaca simulation-account positions and the application risk heuristic.</a:t>
            </a:r>
          </a:p>
          <a:p>
            <a:r>
              <a:t>Potential S&amp;P Global and Crisil use cases are proposed extensions, not claims of deployment inside either organization.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naming limits before ambition. The project should be judged as a traceable prototype, not a claim of profitable forecasting.</a:t>
            </a:r>
          </a:p>
          <a:p>
            <a:r>
              <a:t>Add the confirmed college identity and unlisted demo video link before final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FC01A13-222A-4111-824B-71DFA8374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ECD8BCF5-3D02-4019-BD65-34D7A7FBB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6320168-98DD-4C52-AA89-D7515426E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D05CBA2-9C7F-440E-B3A2-DE8AC2B27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1BB7698-B6F3-481B-8456-C64A46515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4CB9CC5-6981-41C3-AAFF-05ABA4D51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4557EC0-980E-444D-B3ED-DD22AAD914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DA4FBD2D-67CE-4BF5-93D5-DA5F4304F9A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D766566-ED41-4219-B419-704185E45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8664C4D-5CDC-48C1-B673-07D8735E6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94647510-3FB2-43B7-37D4-31A8574B2FA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video-tint">
            <a:extLst>
              <a:ext uri="{FF2B5EF4-FFF2-40B4-BE49-F238E27FC236}">
                <a16:creationId xmlns:a16="http://schemas.microsoft.com/office/drawing/2014/main" id="{024F8362-4374-4FD1-BC3F-24C0627C20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70D">
              <a:alpha val="42000"/>
            </a:srgbClr>
          </a:solidFill>
          <a:ln w="0">
            <a:noFill/>
            <a:prstDash val="solid"/>
          </a:ln>
        </p:spPr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EC7793B-476B-4ABD-B2A7-82354F35AD6D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9144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9F6B1E-55C3-480D-B070-C7F7B1000AB6}"/>
              </a:ext>
            </a:extLst>
          </p:cNvPr>
          <p:cNvSpPr>
            <a:spLocks noGrp="1"/>
          </p:cNvSpPr>
          <p:nvPr/>
        </p:nvSpPr>
        <p:spPr>
          <a:xfrm>
            <a:off x="590550" y="895350"/>
            <a:ext cx="533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F4B942"/>
                </a:solidFill>
              </a:defRPr>
            </a:defPPr>
          </a:lstStyle>
          <a:p>
            <a:pPr algn="l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S&amp;P GLOBAL &amp; CRISIL CAMPUS HACKATHON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2FF954-9279-4BDD-8357-94F4D59C50BC}"/>
              </a:ext>
            </a:extLst>
          </p:cNvPr>
          <p:cNvSpPr>
            <a:spLocks noGrp="1"/>
          </p:cNvSpPr>
          <p:nvPr/>
        </p:nvSpPr>
        <p:spPr>
          <a:xfrm>
            <a:off x="590550" y="1466850"/>
            <a:ext cx="73342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4800" b="1">
                <a:solidFill>
                  <a:srgbClr val="F7FAFC"/>
                </a:solidFill>
              </a:defRPr>
            </a:defPPr>
          </a:lstStyle>
          <a:p>
            <a:pPr algn="l">
              <a:defRPr sz="4800" b="1">
                <a:solidFill>
                  <a:srgbClr val="F7FAFC"/>
                </a:solidFill>
              </a:defRPr>
            </a:pPr>
            <a:r>
              <a:rPr sz="4800" b="1">
                <a:solidFill>
                  <a:srgbClr val="F7FAFC"/>
                </a:solidFill>
              </a:rPr>
              <a:t>Trading Wens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0E7E4F-2DA9-4F81-8CAC-4EBCA6F2B248}"/>
              </a:ext>
            </a:extLst>
          </p:cNvPr>
          <p:cNvSpPr>
            <a:spLocks noGrp="1"/>
          </p:cNvSpPr>
          <p:nvPr/>
        </p:nvSpPr>
        <p:spPr>
          <a:xfrm>
            <a:off x="628650" y="2590800"/>
            <a:ext cx="6858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875" b="0">
                <a:solidFill>
                  <a:srgbClr val="D9E4EE"/>
                </a:solidFill>
              </a:defRPr>
            </a:defPPr>
          </a:lstStyle>
          <a:p>
            <a:pPr algn="l">
              <a:defRPr sz="1875" b="0">
                <a:solidFill>
                  <a:srgbClr val="D9E4EE"/>
                </a:solidFill>
              </a:defRPr>
            </a:pPr>
            <a:r>
              <a:rPr sz="1875" b="0">
                <a:solidFill>
                  <a:srgbClr val="D9E4EE"/>
                </a:solidFill>
              </a:rPr>
              <a:t>From live market evidence to position-aware risk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F527CD-D713-4027-B8C9-F6FD0F6DF45B}"/>
              </a:ext>
            </a:extLst>
          </p:cNvPr>
          <p:cNvSpPr>
            <a:spLocks noGrp="1"/>
          </p:cNvSpPr>
          <p:nvPr/>
        </p:nvSpPr>
        <p:spPr>
          <a:xfrm>
            <a:off x="628650" y="3257550"/>
            <a:ext cx="6572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AAB7C4"/>
                </a:solidFill>
              </a:defRPr>
            </a:defPPr>
          </a:lstStyle>
          <a:p>
            <a:pPr algn="l">
              <a:defRPr sz="1275" b="0">
                <a:solidFill>
                  <a:srgbClr val="AAB7C4"/>
                </a:solidFill>
              </a:defRPr>
            </a:pPr>
            <a:r>
              <a:rPr sz="1275" b="0">
                <a:solidFill>
                  <a:srgbClr val="AAB7C4"/>
                </a:solidFill>
              </a:rPr>
              <a:t>A paper-trading intelligence workspace that connects provider data, trained financial sentiment, directional signals, and portfolio exposure without hiding uncertainty.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3A56A6-6DD2-432E-BFAB-213E706673D3}"/>
              </a:ext>
            </a:extLst>
          </p:cNvPr>
          <p:cNvSpPr>
            <a:spLocks noGrp="1"/>
          </p:cNvSpPr>
          <p:nvPr/>
        </p:nvSpPr>
        <p:spPr>
          <a:xfrm>
            <a:off x="628650" y="4457700"/>
            <a:ext cx="1619250" cy="295275"/>
          </a:xfrm>
          <a:prstGeom prst="roundRect">
            <a:avLst>
              <a:gd name="adj" fmla="val 50000"/>
            </a:avLst>
          </a:prstGeom>
          <a:solidFill>
            <a:srgbClr val="57A5FF">
              <a:alpha val="16000"/>
            </a:srgbClr>
          </a:solidFill>
          <a:ln w="9525">
            <a:solidFill>
              <a:srgbClr val="57A5FF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57A5FF"/>
                </a:solidFill>
              </a:defRPr>
            </a:defPPr>
          </a:lstStyle>
          <a:p>
            <a:pPr algn="ctr">
              <a:defRPr sz="825" b="1">
                <a:solidFill>
                  <a:srgbClr val="57A5FF"/>
                </a:solidFill>
              </a:defRPr>
            </a:pPr>
            <a:r>
              <a:rPr sz="825" b="1">
                <a:solidFill>
                  <a:srgbClr val="57A5FF"/>
                </a:solidFill>
              </a:rPr>
              <a:t>LIVE MARKET CONTEXT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F57C557-E647-4620-BA11-435D585A4B5F}"/>
              </a:ext>
            </a:extLst>
          </p:cNvPr>
          <p:cNvSpPr>
            <a:spLocks noGrp="1"/>
          </p:cNvSpPr>
          <p:nvPr/>
        </p:nvSpPr>
        <p:spPr>
          <a:xfrm>
            <a:off x="2362200" y="4457700"/>
            <a:ext cx="1438275" cy="295275"/>
          </a:xfrm>
          <a:prstGeom prst="roundRect">
            <a:avLst>
              <a:gd name="adj" fmla="val 50000"/>
            </a:avLst>
          </a:prstGeom>
          <a:solidFill>
            <a:srgbClr val="2FD07D">
              <a:alpha val="16000"/>
            </a:srgbClr>
          </a:solidFill>
          <a:ln w="9525">
            <a:solidFill>
              <a:srgbClr val="2FD07D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2FD07D"/>
                </a:solidFill>
              </a:defRPr>
            </a:defPPr>
          </a:lstStyle>
          <a:p>
            <a:pPr algn="ctr">
              <a:defRPr sz="825" b="1">
                <a:solidFill>
                  <a:srgbClr val="2FD07D"/>
                </a:solidFill>
              </a:defRPr>
            </a:pPr>
            <a:r>
              <a:rPr sz="825" b="1">
                <a:solidFill>
                  <a:srgbClr val="2FD07D"/>
                </a:solidFill>
              </a:rPr>
              <a:t>TRAINED FINBERT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3713DC-E829-4F85-9DAF-54D130914D8A}"/>
              </a:ext>
            </a:extLst>
          </p:cNvPr>
          <p:cNvSpPr>
            <a:spLocks noGrp="1"/>
          </p:cNvSpPr>
          <p:nvPr/>
        </p:nvSpPr>
        <p:spPr>
          <a:xfrm>
            <a:off x="3914775" y="4457700"/>
            <a:ext cx="1438275" cy="295275"/>
          </a:xfrm>
          <a:prstGeom prst="roundRect">
            <a:avLst>
              <a:gd name="adj" fmla="val 50000"/>
            </a:avLst>
          </a:prstGeom>
          <a:solidFill>
            <a:srgbClr val="F4B942">
              <a:alpha val="16000"/>
            </a:srgbClr>
          </a:solidFill>
          <a:ln w="9525">
            <a:solidFill>
              <a:srgbClr val="F4B942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F4B942"/>
                </a:solidFill>
              </a:defRPr>
            </a:defPPr>
          </a:lstStyle>
          <a:p>
            <a:pPr algn="ctr">
              <a:defRPr sz="825" b="1">
                <a:solidFill>
                  <a:srgbClr val="F4B942"/>
                </a:solidFill>
              </a:defRPr>
            </a:pPr>
            <a:r>
              <a:rPr sz="825" b="1">
                <a:solidFill>
                  <a:srgbClr val="F4B942"/>
                </a:solidFill>
              </a:rPr>
              <a:t>PAPER EXECUTION</a:t>
            </a:r>
          </a:p>
        </p:txBody>
      </p:sp>
      <p:sp>
        <p:nvSpPr>
          <p:cNvPr id="10" name="candidate-card">
            <a:extLst>
              <a:ext uri="{FF2B5EF4-FFF2-40B4-BE49-F238E27FC236}">
                <a16:creationId xmlns:a16="http://schemas.microsoft.com/office/drawing/2014/main" id="{A22D2D1E-7BDD-4987-B365-E489D75BEC05}"/>
              </a:ext>
            </a:extLst>
          </p:cNvPr>
          <p:cNvSpPr>
            <a:spLocks noGrp="1"/>
          </p:cNvSpPr>
          <p:nvPr/>
        </p:nvSpPr>
        <p:spPr>
          <a:xfrm>
            <a:off x="8229600" y="1066800"/>
            <a:ext cx="3295650" cy="4095750"/>
          </a:xfrm>
          <a:prstGeom prst="roundRect">
            <a:avLst>
              <a:gd name="adj" fmla="val 4624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43015C-F610-49F1-970C-1653B8213A33}"/>
              </a:ext>
            </a:extLst>
          </p:cNvPr>
          <p:cNvSpPr>
            <a:spLocks noGrp="1"/>
          </p:cNvSpPr>
          <p:nvPr/>
        </p:nvSpPr>
        <p:spPr>
          <a:xfrm>
            <a:off x="8524875" y="140017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F4B942"/>
                </a:solidFill>
              </a:defRPr>
            </a:defPPr>
          </a:lstStyle>
          <a:p>
            <a:pPr algn="l">
              <a:defRPr sz="825" b="1">
                <a:solidFill>
                  <a:srgbClr val="F4B942"/>
                </a:solidFill>
              </a:defRPr>
            </a:pPr>
            <a:r>
              <a:rPr sz="825" b="1">
                <a:solidFill>
                  <a:srgbClr val="F4B942"/>
                </a:solidFill>
              </a:rPr>
              <a:t>CANDIDATE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912479-9E98-4C35-A107-E7DC741E9124}"/>
              </a:ext>
            </a:extLst>
          </p:cNvPr>
          <p:cNvSpPr>
            <a:spLocks noGrp="1"/>
          </p:cNvSpPr>
          <p:nvPr/>
        </p:nvSpPr>
        <p:spPr>
          <a:xfrm>
            <a:off x="8524875" y="1714500"/>
            <a:ext cx="2667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625" b="1">
                <a:solidFill>
                  <a:srgbClr val="F7FAFC"/>
                </a:solidFill>
              </a:defRPr>
            </a:defPPr>
          </a:lstStyle>
          <a:p>
            <a:pPr algn="l">
              <a:defRPr sz="2625" b="1">
                <a:solidFill>
                  <a:srgbClr val="F7FAFC"/>
                </a:solidFill>
              </a:defRPr>
            </a:pPr>
            <a:r>
              <a:rPr sz="2625" b="1">
                <a:solidFill>
                  <a:srgbClr val="F7FAFC"/>
                </a:solidFill>
              </a:rPr>
              <a:t>Shivansh</a:t>
            </a:r>
          </a:p>
          <a:p>
            <a:pPr algn="l">
              <a:defRPr sz="2625" b="1">
                <a:solidFill>
                  <a:srgbClr val="F7FAFC"/>
                </a:solidFill>
              </a:defRPr>
            </a:pPr>
            <a:r>
              <a:rPr sz="2625" b="1">
                <a:solidFill>
                  <a:srgbClr val="F7FAFC"/>
                </a:solidFill>
              </a:rPr>
              <a:t>Dwivedi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F5F24377-7C52-48CB-974D-14281EBDE5CD}"/>
              </a:ext>
            </a:extLst>
          </p:cNvPr>
          <p:cNvSpPr>
            <a:spLocks noGrp="1"/>
          </p:cNvSpPr>
          <p:nvPr/>
        </p:nvSpPr>
        <p:spPr>
          <a:xfrm>
            <a:off x="8524875" y="2914650"/>
            <a:ext cx="26670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C56575-5585-4691-845B-27F43657BBF2}"/>
              </a:ext>
            </a:extLst>
          </p:cNvPr>
          <p:cNvSpPr>
            <a:spLocks noGrp="1"/>
          </p:cNvSpPr>
          <p:nvPr/>
        </p:nvSpPr>
        <p:spPr>
          <a:xfrm>
            <a:off x="8524875" y="3133725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750" b="1">
                <a:solidFill>
                  <a:srgbClr val="AAB7C4"/>
                </a:solidFill>
              </a:defRPr>
            </a:defPPr>
          </a:lstStyle>
          <a:p>
            <a:pPr algn="l">
              <a:defRPr sz="750" b="1">
                <a:solidFill>
                  <a:srgbClr val="AAB7C4"/>
                </a:solidFill>
              </a:defRPr>
            </a:pPr>
            <a:r>
              <a:rPr sz="750" b="1">
                <a:solidFill>
                  <a:srgbClr val="AAB7C4"/>
                </a:solidFill>
              </a:rPr>
              <a:t>COLLEGE / CAMPUS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232D76-D48B-4B72-AD5A-740A01326215}"/>
              </a:ext>
            </a:extLst>
          </p:cNvPr>
          <p:cNvSpPr>
            <a:spLocks noGrp="1"/>
          </p:cNvSpPr>
          <p:nvPr/>
        </p:nvSpPr>
        <p:spPr>
          <a:xfrm>
            <a:off x="8524875" y="3400425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1">
                <a:solidFill>
                  <a:srgbClr val="E8EEF4"/>
                </a:solidFill>
              </a:defRPr>
            </a:defPPr>
          </a:lstStyle>
          <a:p>
            <a:pPr algn="l">
              <a:defRPr sz="1275" b="1">
                <a:solidFill>
                  <a:srgbClr val="E8EEF4"/>
                </a:solidFill>
              </a:defRPr>
            </a:pPr>
            <a:r>
              <a:rPr sz="1275" b="1">
                <a:solidFill>
                  <a:srgbClr val="E8EEF4"/>
                </a:solidFill>
              </a:rPr>
              <a:t>IIIT Nagpur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AA1CDC-2DC8-43BF-92FE-5C540E165BF0}"/>
              </a:ext>
            </a:extLst>
          </p:cNvPr>
          <p:cNvSpPr>
            <a:spLocks noGrp="1"/>
          </p:cNvSpPr>
          <p:nvPr/>
        </p:nvSpPr>
        <p:spPr>
          <a:xfrm>
            <a:off x="8524875" y="439102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2FD07D"/>
                </a:solidFill>
              </a:defRPr>
            </a:defPPr>
          </a:lstStyle>
          <a:p>
            <a:pPr algn="l">
              <a:defRPr sz="825" b="1">
                <a:solidFill>
                  <a:srgbClr val="2FD07D"/>
                </a:solidFill>
              </a:defRPr>
            </a:pPr>
            <a:r>
              <a:rPr sz="825" b="1">
                <a:solidFill>
                  <a:srgbClr val="2FD07D"/>
                </a:solidFill>
              </a:rPr>
              <a:t>SUBMISSION 2026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2BC0B4-A92C-4D7B-BFE3-C190BDF23BD9}"/>
              </a:ext>
            </a:extLst>
          </p:cNvPr>
          <p:cNvSpPr>
            <a:spLocks noGrp="1"/>
          </p:cNvSpPr>
          <p:nvPr/>
        </p:nvSpPr>
        <p:spPr>
          <a:xfrm>
            <a:off x="590550" y="621982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82909E"/>
                </a:solidFill>
              </a:defRPr>
            </a:defPPr>
          </a:lstStyle>
          <a:p>
            <a:pPr algn="l">
              <a:defRPr sz="825" b="1">
                <a:solidFill>
                  <a:srgbClr val="82909E"/>
                </a:solidFill>
              </a:defRPr>
            </a:pPr>
            <a:r>
              <a:rPr sz="825" b="1">
                <a:solidFill>
                  <a:srgbClr val="82909E"/>
                </a:solidFill>
              </a:rPr>
              <a:t>01  /  07</a:t>
            </a:r>
          </a:p>
        </p:txBody>
      </p:sp>
    </p:spTree>
    <p:extLst>
      <p:ext uri="{BB962C8B-B14F-4D97-AF65-F5344CB8AC3E}">
        <p14:creationId xmlns:p14="http://schemas.microsoft.com/office/powerpoint/2010/main" val="1358220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42341ABE-866F-AF45-B827-11B5D2CE98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8" name="slide-2-number">
            <a:extLst>
              <a:ext uri="{FF2B5EF4-FFF2-40B4-BE49-F238E27FC236}">
                <a16:creationId xmlns:a16="http://schemas.microsoft.com/office/drawing/2014/main" id="{2D407676-EDCE-4BCD-B53D-674A8C415F34}"/>
              </a:ext>
            </a:extLst>
          </p:cNvPr>
          <p:cNvSpPr>
            <a:spLocks noGrp="1"/>
          </p:cNvSpPr>
          <p:nvPr/>
        </p:nvSpPr>
        <p:spPr>
          <a:xfrm>
            <a:off x="514350" y="3143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4B942"/>
                </a:solidFill>
              </a:defRPr>
            </a:defPPr>
          </a:lstStyle>
          <a:p>
            <a:pPr algn="ctr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02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68EF76D-A778-4450-8F8F-62D8F7D9CCB4}"/>
              </a:ext>
            </a:extLst>
          </p:cNvPr>
          <p:cNvSpPr>
            <a:spLocks noGrp="1"/>
          </p:cNvSpPr>
          <p:nvPr/>
        </p:nvSpPr>
        <p:spPr>
          <a:xfrm>
            <a:off x="1000125" y="419100"/>
            <a:ext cx="400050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3" name="slide-2-eyebrow">
            <a:extLst>
              <a:ext uri="{FF2B5EF4-FFF2-40B4-BE49-F238E27FC236}">
                <a16:creationId xmlns:a16="http://schemas.microsoft.com/office/drawing/2014/main" id="{74E9F25A-BBDE-4C50-BC36-DED09CFCDB8D}"/>
              </a:ext>
            </a:extLst>
          </p:cNvPr>
          <p:cNvSpPr>
            <a:spLocks noGrp="1"/>
          </p:cNvSpPr>
          <p:nvPr/>
        </p:nvSpPr>
        <p:spPr>
          <a:xfrm>
            <a:off x="1543050" y="295275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1">
                <a:solidFill>
                  <a:srgbClr val="F4B942"/>
                </a:solidFill>
              </a:defRPr>
            </a:defPPr>
          </a:lstStyle>
          <a:p>
            <a:pPr algn="l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PROBLEM AND APPROACH</a:t>
            </a:r>
          </a:p>
        </p:txBody>
      </p:sp>
      <p:sp>
        <p:nvSpPr>
          <p:cNvPr id="4" name="slide-2-title">
            <a:extLst>
              <a:ext uri="{FF2B5EF4-FFF2-40B4-BE49-F238E27FC236}">
                <a16:creationId xmlns:a16="http://schemas.microsoft.com/office/drawing/2014/main" id="{751A2670-04A1-4C92-AF35-FAF9E14B93B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700" b="1">
                <a:solidFill>
                  <a:srgbClr val="F7FAFC"/>
                </a:solidFill>
              </a:defRPr>
            </a:defPPr>
          </a:lstStyle>
          <a:p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Four disconnected views. One decision loop.</a:t>
            </a:r>
          </a:p>
        </p:txBody>
      </p:sp>
      <p:sp>
        <p:nvSpPr>
          <p:cNvPr id="5" name="slide-2-subtitle">
            <a:extLst>
              <a:ext uri="{FF2B5EF4-FFF2-40B4-BE49-F238E27FC236}">
                <a16:creationId xmlns:a16="http://schemas.microsoft.com/office/drawing/2014/main" id="{514DB594-933A-4F78-BC17-DE8908D92A24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000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0">
                <a:solidFill>
                  <a:srgbClr val="AAB7C4"/>
                </a:solidFill>
              </a:defRPr>
            </a:defPPr>
          </a:lstStyle>
          <a:p>
            <a:pPr algn="l">
              <a:defRPr sz="1200" b="0">
                <a:solidFill>
                  <a:srgbClr val="AAB7C4"/>
                </a:solidFill>
              </a:defRPr>
            </a:pPr>
            <a:r>
              <a:rPr sz="1200" b="0">
                <a:solidFill>
                  <a:srgbClr val="AAB7C4"/>
                </a:solidFill>
              </a:rPr>
              <a:t>The project treats news sentiment as evidence, then asks whether it matters to the position the user actually holds.</a:t>
            </a:r>
          </a:p>
        </p:txBody>
      </p:sp>
      <p:sp>
        <p:nvSpPr>
          <p:cNvPr id="6" name="slide-2-footer">
            <a:extLst>
              <a:ext uri="{FF2B5EF4-FFF2-40B4-BE49-F238E27FC236}">
                <a16:creationId xmlns:a16="http://schemas.microsoft.com/office/drawing/2014/main" id="{1C6CB329-AF1F-48E8-8447-83CA9B533CEE}"/>
              </a:ext>
            </a:extLst>
          </p:cNvPr>
          <p:cNvSpPr>
            <a:spLocks noGrp="1"/>
          </p:cNvSpPr>
          <p:nvPr/>
        </p:nvSpPr>
        <p:spPr>
          <a:xfrm>
            <a:off x="9315450" y="638175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750" b="1">
                <a:solidFill>
                  <a:srgbClr val="82909E"/>
                </a:solidFill>
              </a:defRPr>
            </a:defPPr>
          </a:lstStyle>
          <a:p>
            <a:pPr algn="r">
              <a:defRPr sz="750" b="1">
                <a:solidFill>
                  <a:srgbClr val="82909E"/>
                </a:solidFill>
              </a:defRPr>
            </a:pPr>
            <a:r>
              <a:rPr sz="750" b="1">
                <a:solidFill>
                  <a:srgbClr val="82909E"/>
                </a:solidFill>
              </a:rPr>
              <a:t>TRADING WENS   •   2 / 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DF3572-F290-432F-917E-74CB7D4D467A}"/>
              </a:ext>
            </a:extLst>
          </p:cNvPr>
          <p:cNvSpPr>
            <a:spLocks noGrp="1"/>
          </p:cNvSpPr>
          <p:nvPr/>
        </p:nvSpPr>
        <p:spPr>
          <a:xfrm>
            <a:off x="514350" y="2076450"/>
            <a:ext cx="2343150" cy="1638300"/>
          </a:xfrm>
          <a:prstGeom prst="roundRect">
            <a:avLst>
              <a:gd name="adj" fmla="val 697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E7094D7-6C6F-426F-BB7A-FCD916EFF7F1}"/>
              </a:ext>
            </a:extLst>
          </p:cNvPr>
          <p:cNvSpPr>
            <a:spLocks noGrp="1"/>
          </p:cNvSpPr>
          <p:nvPr/>
        </p:nvSpPr>
        <p:spPr>
          <a:xfrm>
            <a:off x="704850" y="2286000"/>
            <a:ext cx="323850" cy="323850"/>
          </a:xfrm>
          <a:prstGeom prst="ellipse">
            <a:avLst/>
          </a:prstGeom>
          <a:solidFill>
            <a:srgbClr val="57A5FF">
              <a:alpha val="20000"/>
            </a:srgbClr>
          </a:solidFill>
          <a:ln w="9525">
            <a:solidFill>
              <a:srgbClr val="57A5FF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E7AD55-63BC-4AEA-8CD7-6D5C8072BA47}"/>
              </a:ext>
            </a:extLst>
          </p:cNvPr>
          <p:cNvSpPr>
            <a:spLocks noGrp="1"/>
          </p:cNvSpPr>
          <p:nvPr/>
        </p:nvSpPr>
        <p:spPr>
          <a:xfrm>
            <a:off x="704850" y="22860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050" b="1">
                <a:solidFill>
                  <a:srgbClr val="57A5FF"/>
                </a:solidFill>
              </a:defRPr>
            </a:defPPr>
          </a:lstStyle>
          <a:p>
            <a:pPr algn="ctr">
              <a:defRPr sz="1050" b="1">
                <a:solidFill>
                  <a:srgbClr val="57A5FF"/>
                </a:solidFill>
              </a:defRPr>
            </a:pPr>
            <a:r>
              <a:rPr sz="1050" b="1">
                <a:solidFill>
                  <a:srgbClr val="57A5FF"/>
                </a:solidFill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90913-2C4F-4CF2-86CD-CAAB5EC3CF9F}"/>
              </a:ext>
            </a:extLst>
          </p:cNvPr>
          <p:cNvSpPr>
            <a:spLocks noGrp="1"/>
          </p:cNvSpPr>
          <p:nvPr/>
        </p:nvSpPr>
        <p:spPr>
          <a:xfrm>
            <a:off x="704850" y="2771775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500" b="1">
                <a:solidFill>
                  <a:srgbClr val="F7FAFC"/>
                </a:solidFill>
              </a:defRPr>
            </a:defPPr>
          </a:lstStyle>
          <a:p>
            <a:pPr algn="l">
              <a:defRPr sz="1500" b="1">
                <a:solidFill>
                  <a:srgbClr val="F7FAFC"/>
                </a:solidFill>
              </a:defRPr>
            </a:pPr>
            <a:r>
              <a:rPr sz="1500" b="1">
                <a:solidFill>
                  <a:srgbClr val="F7FAFC"/>
                </a:solidFill>
              </a:rPr>
              <a:t>Market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493517-6F95-432C-9CB7-313B57361FED}"/>
              </a:ext>
            </a:extLst>
          </p:cNvPr>
          <p:cNvSpPr>
            <a:spLocks noGrp="1"/>
          </p:cNvSpPr>
          <p:nvPr/>
        </p:nvSpPr>
        <p:spPr>
          <a:xfrm>
            <a:off x="704850" y="3124200"/>
            <a:ext cx="19621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Price, range, volume, and current session movement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0A84A7B5-BD72-41CD-8A7D-1C4D9583127D}"/>
              </a:ext>
            </a:extLst>
          </p:cNvPr>
          <p:cNvSpPr>
            <a:spLocks noGrp="1"/>
          </p:cNvSpPr>
          <p:nvPr/>
        </p:nvSpPr>
        <p:spPr>
          <a:xfrm>
            <a:off x="2952750" y="2686050"/>
            <a:ext cx="266700" cy="409575"/>
          </a:xfrm>
          <a:prstGeom prst="chevron">
            <a:avLst/>
          </a:prstGeom>
          <a:solidFill>
            <a:srgbClr val="F4B942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FEC1BD3-4E8B-48B5-9FC2-3A789B1BE3AA}"/>
              </a:ext>
            </a:extLst>
          </p:cNvPr>
          <p:cNvSpPr>
            <a:spLocks noGrp="1"/>
          </p:cNvSpPr>
          <p:nvPr/>
        </p:nvSpPr>
        <p:spPr>
          <a:xfrm>
            <a:off x="3333750" y="2076450"/>
            <a:ext cx="2343150" cy="1638300"/>
          </a:xfrm>
          <a:prstGeom prst="roundRect">
            <a:avLst>
              <a:gd name="adj" fmla="val 697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5C1A9B-B486-4DF3-9F31-FB6D1DE7F51B}"/>
              </a:ext>
            </a:extLst>
          </p:cNvPr>
          <p:cNvSpPr>
            <a:spLocks noGrp="1"/>
          </p:cNvSpPr>
          <p:nvPr/>
        </p:nvSpPr>
        <p:spPr>
          <a:xfrm>
            <a:off x="3524250" y="2286000"/>
            <a:ext cx="323850" cy="323850"/>
          </a:xfrm>
          <a:prstGeom prst="ellipse">
            <a:avLst/>
          </a:prstGeom>
          <a:solidFill>
            <a:srgbClr val="2FD07D">
              <a:alpha val="20000"/>
            </a:srgbClr>
          </a:solidFill>
          <a:ln w="9525">
            <a:solidFill>
              <a:srgbClr val="2FD07D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F088D7-8B60-4076-8ECE-1C7B8955B952}"/>
              </a:ext>
            </a:extLst>
          </p:cNvPr>
          <p:cNvSpPr>
            <a:spLocks noGrp="1"/>
          </p:cNvSpPr>
          <p:nvPr/>
        </p:nvSpPr>
        <p:spPr>
          <a:xfrm>
            <a:off x="3524250" y="22860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050" b="1">
                <a:solidFill>
                  <a:srgbClr val="2FD07D"/>
                </a:solidFill>
              </a:defRPr>
            </a:defPPr>
          </a:lstStyle>
          <a:p>
            <a:pPr algn="ctr">
              <a:defRPr sz="1050" b="1">
                <a:solidFill>
                  <a:srgbClr val="2FD07D"/>
                </a:solidFill>
              </a:defRPr>
            </a:pPr>
            <a:r>
              <a:rPr sz="1050" b="1">
                <a:solidFill>
                  <a:srgbClr val="2FD07D"/>
                </a:solidFill>
              </a:rPr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91E33C5-46AF-4096-A49F-F0746471EF5C}"/>
              </a:ext>
            </a:extLst>
          </p:cNvPr>
          <p:cNvSpPr>
            <a:spLocks noGrp="1"/>
          </p:cNvSpPr>
          <p:nvPr/>
        </p:nvSpPr>
        <p:spPr>
          <a:xfrm>
            <a:off x="3524250" y="2771775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500" b="1">
                <a:solidFill>
                  <a:srgbClr val="F7FAFC"/>
                </a:solidFill>
              </a:defRPr>
            </a:defPPr>
          </a:lstStyle>
          <a:p>
            <a:pPr algn="l">
              <a:defRPr sz="1500" b="1">
                <a:solidFill>
                  <a:srgbClr val="F7FAFC"/>
                </a:solidFill>
              </a:defRPr>
            </a:pPr>
            <a:r>
              <a:rPr sz="1500" b="1">
                <a:solidFill>
                  <a:srgbClr val="F7FAFC"/>
                </a:solidFill>
              </a:rPr>
              <a:t>News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820D94-9D3E-4250-A145-5F18110EEAF3}"/>
              </a:ext>
            </a:extLst>
          </p:cNvPr>
          <p:cNvSpPr>
            <a:spLocks noGrp="1"/>
          </p:cNvSpPr>
          <p:nvPr/>
        </p:nvSpPr>
        <p:spPr>
          <a:xfrm>
            <a:off x="3524250" y="3124200"/>
            <a:ext cx="19621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Authenticated and public headlines with trained sentiment</a:t>
            </a:r>
          </a:p>
        </p:txBody>
      </p:sp>
      <p:sp>
        <p:nvSpPr>
          <p:cNvPr id="18" name="Arrow: Chevron 17">
            <a:extLst>
              <a:ext uri="{FF2B5EF4-FFF2-40B4-BE49-F238E27FC236}">
                <a16:creationId xmlns:a16="http://schemas.microsoft.com/office/drawing/2014/main" id="{EFB72722-F221-48EA-9F56-072B7565E1F6}"/>
              </a:ext>
            </a:extLst>
          </p:cNvPr>
          <p:cNvSpPr>
            <a:spLocks noGrp="1"/>
          </p:cNvSpPr>
          <p:nvPr/>
        </p:nvSpPr>
        <p:spPr>
          <a:xfrm>
            <a:off x="5772150" y="2686050"/>
            <a:ext cx="266700" cy="409575"/>
          </a:xfrm>
          <a:prstGeom prst="chevron">
            <a:avLst/>
          </a:prstGeom>
          <a:solidFill>
            <a:srgbClr val="F4B942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1B8AD27-840D-4F83-8F9A-F748AD3AE8DB}"/>
              </a:ext>
            </a:extLst>
          </p:cNvPr>
          <p:cNvSpPr>
            <a:spLocks noGrp="1"/>
          </p:cNvSpPr>
          <p:nvPr/>
        </p:nvSpPr>
        <p:spPr>
          <a:xfrm>
            <a:off x="6153150" y="2076450"/>
            <a:ext cx="2343150" cy="1638300"/>
          </a:xfrm>
          <a:prstGeom prst="roundRect">
            <a:avLst>
              <a:gd name="adj" fmla="val 697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AAE54-A8F1-44E2-969B-ACED3F95F0DD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323850" cy="323850"/>
          </a:xfrm>
          <a:prstGeom prst="ellipse">
            <a:avLst/>
          </a:prstGeom>
          <a:solidFill>
            <a:srgbClr val="F4B942">
              <a:alpha val="20000"/>
            </a:srgbClr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67B857-264B-4118-854B-62F0B8D28365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050" b="1">
                <a:solidFill>
                  <a:srgbClr val="F4B942"/>
                </a:solidFill>
              </a:defRPr>
            </a:defPPr>
          </a:lstStyle>
          <a:p>
            <a:pPr algn="ctr">
              <a:defRPr sz="1050" b="1">
                <a:solidFill>
                  <a:srgbClr val="F4B942"/>
                </a:solidFill>
              </a:defRPr>
            </a:pPr>
            <a:r>
              <a:rPr sz="1050" b="1">
                <a:solidFill>
                  <a:srgbClr val="F4B942"/>
                </a:solidFill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88E7CC-05DE-4480-B1FC-B1EAC459359A}"/>
              </a:ext>
            </a:extLst>
          </p:cNvPr>
          <p:cNvSpPr>
            <a:spLocks noGrp="1"/>
          </p:cNvSpPr>
          <p:nvPr/>
        </p:nvSpPr>
        <p:spPr>
          <a:xfrm>
            <a:off x="6343650" y="2771775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500" b="1">
                <a:solidFill>
                  <a:srgbClr val="F7FAFC"/>
                </a:solidFill>
              </a:defRPr>
            </a:defPPr>
          </a:lstStyle>
          <a:p>
            <a:pPr algn="l">
              <a:defRPr sz="1500" b="1">
                <a:solidFill>
                  <a:srgbClr val="F7FAFC"/>
                </a:solidFill>
              </a:defRPr>
            </a:pPr>
            <a:r>
              <a:rPr sz="1500" b="1">
                <a:solidFill>
                  <a:srgbClr val="F7FAFC"/>
                </a:solidFill>
              </a:rPr>
              <a:t>Position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16B44B-A37B-4BE9-84BD-14920E64B727}"/>
              </a:ext>
            </a:extLst>
          </p:cNvPr>
          <p:cNvSpPr>
            <a:spLocks noGrp="1"/>
          </p:cNvSpPr>
          <p:nvPr/>
        </p:nvSpPr>
        <p:spPr>
          <a:xfrm>
            <a:off x="6343650" y="3124200"/>
            <a:ext cx="19621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Live quantity, side, market value, and unrealized P/L</a:t>
            </a:r>
          </a:p>
        </p:txBody>
      </p:sp>
      <p:sp>
        <p:nvSpPr>
          <p:cNvPr id="24" name="Arrow: Chevron 23">
            <a:extLst>
              <a:ext uri="{FF2B5EF4-FFF2-40B4-BE49-F238E27FC236}">
                <a16:creationId xmlns:a16="http://schemas.microsoft.com/office/drawing/2014/main" id="{9DB773C9-857A-445F-AF86-968E8CABBA62}"/>
              </a:ext>
            </a:extLst>
          </p:cNvPr>
          <p:cNvSpPr>
            <a:spLocks noGrp="1"/>
          </p:cNvSpPr>
          <p:nvPr/>
        </p:nvSpPr>
        <p:spPr>
          <a:xfrm>
            <a:off x="8591550" y="2686050"/>
            <a:ext cx="266700" cy="409575"/>
          </a:xfrm>
          <a:prstGeom prst="chevron">
            <a:avLst/>
          </a:prstGeom>
          <a:solidFill>
            <a:srgbClr val="F4B942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E452230-6F4B-4341-BF4B-B53EE5F9A714}"/>
              </a:ext>
            </a:extLst>
          </p:cNvPr>
          <p:cNvSpPr>
            <a:spLocks noGrp="1"/>
          </p:cNvSpPr>
          <p:nvPr/>
        </p:nvSpPr>
        <p:spPr>
          <a:xfrm>
            <a:off x="8972550" y="2076450"/>
            <a:ext cx="2343150" cy="1638300"/>
          </a:xfrm>
          <a:prstGeom prst="roundRect">
            <a:avLst>
              <a:gd name="adj" fmla="val 697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2DCD9B1-2CA7-4D44-A56E-E1DFE5D6B067}"/>
              </a:ext>
            </a:extLst>
          </p:cNvPr>
          <p:cNvSpPr>
            <a:spLocks noGrp="1"/>
          </p:cNvSpPr>
          <p:nvPr/>
        </p:nvSpPr>
        <p:spPr>
          <a:xfrm>
            <a:off x="9163050" y="2286000"/>
            <a:ext cx="323850" cy="323850"/>
          </a:xfrm>
          <a:prstGeom prst="ellipse">
            <a:avLst/>
          </a:prstGeom>
          <a:solidFill>
            <a:srgbClr val="FF5A67">
              <a:alpha val="20000"/>
            </a:srgbClr>
          </a:solidFill>
          <a:ln w="9525">
            <a:solidFill>
              <a:srgbClr val="FF5A67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8E016B-1BAC-4FE4-AB01-3986D4EFECEE}"/>
              </a:ext>
            </a:extLst>
          </p:cNvPr>
          <p:cNvSpPr>
            <a:spLocks noGrp="1"/>
          </p:cNvSpPr>
          <p:nvPr/>
        </p:nvSpPr>
        <p:spPr>
          <a:xfrm>
            <a:off x="9163050" y="22860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050" b="1">
                <a:solidFill>
                  <a:srgbClr val="FF5A67"/>
                </a:solidFill>
              </a:defRPr>
            </a:defPPr>
          </a:lstStyle>
          <a:p>
            <a:pPr algn="ctr">
              <a:defRPr sz="1050" b="1">
                <a:solidFill>
                  <a:srgbClr val="FF5A67"/>
                </a:solidFill>
              </a:defRPr>
            </a:pPr>
            <a:r>
              <a:rPr sz="1050" b="1">
                <a:solidFill>
                  <a:srgbClr val="FF5A67"/>
                </a:solidFill>
              </a:rPr>
              <a:t>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473A2A-C951-4798-BC08-3139089BA7CB}"/>
              </a:ext>
            </a:extLst>
          </p:cNvPr>
          <p:cNvSpPr>
            <a:spLocks noGrp="1"/>
          </p:cNvSpPr>
          <p:nvPr/>
        </p:nvSpPr>
        <p:spPr>
          <a:xfrm>
            <a:off x="9163050" y="2771775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500" b="1">
                <a:solidFill>
                  <a:srgbClr val="F7FAFC"/>
                </a:solidFill>
              </a:defRPr>
            </a:defPPr>
          </a:lstStyle>
          <a:p>
            <a:pPr algn="l">
              <a:defRPr sz="1500" b="1">
                <a:solidFill>
                  <a:srgbClr val="F7FAFC"/>
                </a:solidFill>
              </a:defRPr>
            </a:pPr>
            <a:r>
              <a:rPr sz="1500" b="1">
                <a:solidFill>
                  <a:srgbClr val="F7FAFC"/>
                </a:solidFill>
              </a:rPr>
              <a:t>Decision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A53EAD-938E-4099-93EE-DE47314FFED7}"/>
              </a:ext>
            </a:extLst>
          </p:cNvPr>
          <p:cNvSpPr>
            <a:spLocks noGrp="1"/>
          </p:cNvSpPr>
          <p:nvPr/>
        </p:nvSpPr>
        <p:spPr>
          <a:xfrm>
            <a:off x="9163050" y="3124200"/>
            <a:ext cx="19621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Movement label, confidence, and adverse exposure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97A557-1208-434D-B777-FB4990010564}"/>
              </a:ext>
            </a:extLst>
          </p:cNvPr>
          <p:cNvSpPr>
            <a:spLocks noGrp="1"/>
          </p:cNvSpPr>
          <p:nvPr/>
        </p:nvSpPr>
        <p:spPr>
          <a:xfrm>
            <a:off x="514350" y="4038600"/>
            <a:ext cx="11220450" cy="1857375"/>
          </a:xfrm>
          <a:prstGeom prst="roundRect">
            <a:avLst>
              <a:gd name="adj" fmla="val 6154"/>
            </a:avLst>
          </a:prstGeom>
          <a:solidFill>
            <a:srgbClr val="071019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3C994E2-FB27-48DB-A87B-0268521287CB}"/>
              </a:ext>
            </a:extLst>
          </p:cNvPr>
          <p:cNvSpPr>
            <a:spLocks noGrp="1"/>
          </p:cNvSpPr>
          <p:nvPr/>
        </p:nvSpPr>
        <p:spPr>
          <a:xfrm>
            <a:off x="762000" y="4257675"/>
            <a:ext cx="1428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F4B942"/>
                </a:solidFill>
              </a:defRPr>
            </a:defPPr>
          </a:lstStyle>
          <a:p>
            <a:pPr algn="l">
              <a:defRPr sz="825" b="1">
                <a:solidFill>
                  <a:srgbClr val="F4B942"/>
                </a:solidFill>
              </a:defRPr>
            </a:pPr>
            <a:r>
              <a:rPr sz="825" b="1">
                <a:solidFill>
                  <a:srgbClr val="F4B942"/>
                </a:solidFill>
              </a:rPr>
              <a:t>THE CORE RULE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D13ACEA-1238-4553-93ED-2314C0D32AE7}"/>
              </a:ext>
            </a:extLst>
          </p:cNvPr>
          <p:cNvSpPr>
            <a:spLocks noGrp="1"/>
          </p:cNvSpPr>
          <p:nvPr/>
        </p:nvSpPr>
        <p:spPr>
          <a:xfrm>
            <a:off x="762000" y="4552950"/>
            <a:ext cx="4524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025" b="1">
                <a:solidFill>
                  <a:srgbClr val="F7FAFC"/>
                </a:solidFill>
              </a:defRPr>
            </a:defPPr>
          </a:lstStyle>
          <a:p>
            <a:pPr algn="l">
              <a:defRPr sz="2025" b="1">
                <a:solidFill>
                  <a:srgbClr val="F7FAFC"/>
                </a:solidFill>
              </a:defRPr>
            </a:pPr>
            <a:r>
              <a:rPr sz="2025" b="1">
                <a:solidFill>
                  <a:srgbClr val="F7FAFC"/>
                </a:solidFill>
              </a:rPr>
              <a:t>Risk depends on direction × position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6347BB5-5C04-4FB7-82F1-0601440C70FB}"/>
              </a:ext>
            </a:extLst>
          </p:cNvPr>
          <p:cNvSpPr>
            <a:spLocks noGrp="1"/>
          </p:cNvSpPr>
          <p:nvPr/>
        </p:nvSpPr>
        <p:spPr>
          <a:xfrm>
            <a:off x="762000" y="5067300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050" b="0">
                <a:solidFill>
                  <a:srgbClr val="AAB7C4"/>
                </a:solidFill>
              </a:defRPr>
            </a:defPPr>
          </a:lstStyle>
          <a:p>
            <a:pPr algn="l">
              <a:defRPr sz="1050" b="0">
                <a:solidFill>
                  <a:srgbClr val="AAB7C4"/>
                </a:solidFill>
              </a:defRPr>
            </a:pPr>
            <a:r>
              <a:rPr sz="1050" b="0">
                <a:solidFill>
                  <a:srgbClr val="AAB7C4"/>
                </a:solidFill>
              </a:rPr>
              <a:t>A predicted fall raises risk for a long position but reduces directional risk for a short position. A sideways label means the combined evidence does not clear the directional threshold.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2182E-650C-405C-86F8-3C57BE1827E3}"/>
              </a:ext>
            </a:extLst>
          </p:cNvPr>
          <p:cNvSpPr>
            <a:spLocks noGrp="1"/>
          </p:cNvSpPr>
          <p:nvPr/>
        </p:nvSpPr>
        <p:spPr>
          <a:xfrm>
            <a:off x="6505575" y="4371975"/>
            <a:ext cx="1981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F5A67"/>
                </a:solidFill>
              </a:defRPr>
            </a:defPPr>
          </a:lstStyle>
          <a:p>
            <a:pPr algn="ctr">
              <a:defRPr sz="900" b="1">
                <a:solidFill>
                  <a:srgbClr val="FF5A67"/>
                </a:solidFill>
              </a:defRPr>
            </a:pPr>
            <a:r>
              <a:rPr sz="900" b="1">
                <a:solidFill>
                  <a:srgbClr val="FF5A67"/>
                </a:solidFill>
              </a:rPr>
              <a:t>LONG  +  DOWNSIDE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57BF1E-CF90-417C-A854-4D7889A7FC6C}"/>
              </a:ext>
            </a:extLst>
          </p:cNvPr>
          <p:cNvSpPr>
            <a:spLocks noGrp="1"/>
          </p:cNvSpPr>
          <p:nvPr/>
        </p:nvSpPr>
        <p:spPr>
          <a:xfrm>
            <a:off x="6810375" y="4695825"/>
            <a:ext cx="1371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325" b="1">
                <a:solidFill>
                  <a:srgbClr val="FF5A67"/>
                </a:solidFill>
              </a:defRPr>
            </a:defPPr>
          </a:lstStyle>
          <a:p>
            <a:pPr algn="ctr">
              <a:defRPr sz="2325" b="1">
                <a:solidFill>
                  <a:srgbClr val="FF5A67"/>
                </a:solidFill>
              </a:defRPr>
            </a:pPr>
            <a:r>
              <a:rPr sz="2325" b="1">
                <a:solidFill>
                  <a:srgbClr val="FF5A67"/>
                </a:solidFill>
              </a:rPr>
              <a:t>RISK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A9E119C-0310-43DF-AB71-0FA0C9886F26}"/>
              </a:ext>
            </a:extLst>
          </p:cNvPr>
          <p:cNvSpPr>
            <a:spLocks noGrp="1"/>
          </p:cNvSpPr>
          <p:nvPr/>
        </p:nvSpPr>
        <p:spPr>
          <a:xfrm>
            <a:off x="9067800" y="4371975"/>
            <a:ext cx="1981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2FD07D"/>
                </a:solidFill>
              </a:defRPr>
            </a:defPPr>
          </a:lstStyle>
          <a:p>
            <a:pPr algn="ctr">
              <a:defRPr sz="900" b="1">
                <a:solidFill>
                  <a:srgbClr val="2FD07D"/>
                </a:solidFill>
              </a:defRPr>
            </a:pPr>
            <a:r>
              <a:rPr sz="900" b="1">
                <a:solidFill>
                  <a:srgbClr val="2FD07D"/>
                </a:solidFill>
              </a:rPr>
              <a:t>LONG  +  UPSIDE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A03EAB-327F-4289-93D2-2AD3442C8DC9}"/>
              </a:ext>
            </a:extLst>
          </p:cNvPr>
          <p:cNvSpPr>
            <a:spLocks noGrp="1"/>
          </p:cNvSpPr>
          <p:nvPr/>
        </p:nvSpPr>
        <p:spPr>
          <a:xfrm>
            <a:off x="9372600" y="4695825"/>
            <a:ext cx="1371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325" b="1">
                <a:solidFill>
                  <a:srgbClr val="2FD07D"/>
                </a:solidFill>
              </a:defRPr>
            </a:defPPr>
          </a:lstStyle>
          <a:p>
            <a:pPr algn="ctr">
              <a:defRPr sz="2325" b="1">
                <a:solidFill>
                  <a:srgbClr val="2FD07D"/>
                </a:solidFill>
              </a:defRPr>
            </a:pPr>
            <a:r>
              <a:rPr sz="2325" b="1">
                <a:solidFill>
                  <a:srgbClr val="2FD07D"/>
                </a:solidFill>
              </a:rPr>
              <a:t>ALIGNED</a:t>
            </a:r>
          </a:p>
        </p:txBody>
      </p:sp>
    </p:spTree>
    <p:extLst>
      <p:ext uri="{BB962C8B-B14F-4D97-AF65-F5344CB8AC3E}">
        <p14:creationId xmlns:p14="http://schemas.microsoft.com/office/powerpoint/2010/main" val="18991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3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B4643551-9FCF-0DBB-2CFB-F2E19EEEB84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F43C3B91-41FE-4F8B-B18E-CC274A34AE6F}"/>
              </a:ext>
            </a:extLst>
          </p:cNvPr>
          <p:cNvCxnSpPr>
            <a:stCxn id="27" idx="3"/>
            <a:endCxn id="31" idx="1"/>
          </p:cNvCxnSpPr>
          <p:nvPr/>
        </p:nvCxnSpPr>
        <p:spPr>
          <a:xfrm flipV="1">
            <a:off x="8286750" y="3752850"/>
            <a:ext cx="876300" cy="790575"/>
          </a:xfrm>
          <a:prstGeom prst="bentConnector3">
            <a:avLst>
              <a:gd name="adj1" fmla="val 50000"/>
            </a:avLst>
          </a:prstGeom>
          <a:ln w="19050">
            <a:solidFill>
              <a:srgbClr val="82909E"/>
            </a:solidFill>
            <a:prstDash val="solid"/>
            <a:tailEnd type="triangle" w="sm" len="sm"/>
          </a:ln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C244BAA-D22B-4CF5-B6E2-FAABCE8D4460}"/>
              </a:ext>
            </a:extLst>
          </p:cNvPr>
          <p:cNvCxnSpPr>
            <a:stCxn id="23" idx="2"/>
            <a:endCxn id="27" idx="0"/>
          </p:cNvCxnSpPr>
          <p:nvPr/>
        </p:nvCxnSpPr>
        <p:spPr>
          <a:xfrm>
            <a:off x="7239000" y="3524250"/>
            <a:ext cx="0" cy="390525"/>
          </a:xfrm>
          <a:prstGeom prst="straightConnector1">
            <a:avLst/>
          </a:prstGeom>
          <a:ln w="19050">
            <a:solidFill>
              <a:srgbClr val="82909E"/>
            </a:solidFill>
            <a:prstDash val="solid"/>
            <a:tailEnd type="triangle" w="sm" len="sm"/>
          </a:ln>
        </p:spPr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F75D205-5C43-4B5A-B021-D01BD010C627}"/>
              </a:ext>
            </a:extLst>
          </p:cNvPr>
          <p:cNvCxnSpPr>
            <a:stCxn id="19" idx="3"/>
            <a:endCxn id="23" idx="1"/>
          </p:cNvCxnSpPr>
          <p:nvPr/>
        </p:nvCxnSpPr>
        <p:spPr>
          <a:xfrm flipV="1">
            <a:off x="5372100" y="2895600"/>
            <a:ext cx="819150" cy="857250"/>
          </a:xfrm>
          <a:prstGeom prst="bentConnector3">
            <a:avLst>
              <a:gd name="adj1" fmla="val 50000"/>
            </a:avLst>
          </a:prstGeom>
          <a:ln w="19050">
            <a:solidFill>
              <a:srgbClr val="82909E"/>
            </a:solidFill>
            <a:prstDash val="solid"/>
            <a:tailEnd type="triangle" w="sm" len="sm"/>
          </a:ln>
        </p:spPr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D20D1D0D-6B21-4F48-8E31-891CA2D40532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 flipV="1">
            <a:off x="2362200" y="3752850"/>
            <a:ext cx="876300" cy="1123950"/>
          </a:xfrm>
          <a:prstGeom prst="bentConnector3">
            <a:avLst>
              <a:gd name="adj1" fmla="val 50000"/>
            </a:avLst>
          </a:prstGeom>
          <a:ln w="19050">
            <a:solidFill>
              <a:srgbClr val="82909E"/>
            </a:solidFill>
            <a:prstDash val="solid"/>
            <a:tailEnd type="triangle" w="sm" len="sm"/>
          </a:ln>
        </p:spPr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B457115-9317-47E9-A7A7-FFC51869AFA6}"/>
              </a:ext>
            </a:extLst>
          </p:cNvPr>
          <p:cNvCxnSpPr>
            <a:stCxn id="11" idx="3"/>
            <a:endCxn id="19" idx="1"/>
          </p:cNvCxnSpPr>
          <p:nvPr/>
        </p:nvCxnSpPr>
        <p:spPr>
          <a:xfrm flipV="1">
            <a:off x="2362200" y="3752850"/>
            <a:ext cx="876300" cy="38100"/>
          </a:xfrm>
          <a:prstGeom prst="bentConnector3">
            <a:avLst>
              <a:gd name="adj1" fmla="val 50000"/>
            </a:avLst>
          </a:prstGeom>
          <a:ln w="19050">
            <a:solidFill>
              <a:srgbClr val="82909E"/>
            </a:solidFill>
            <a:prstDash val="solid"/>
            <a:tailEnd type="triangle" w="sm" len="sm"/>
          </a:ln>
        </p:spPr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51F58596-78CA-4FCB-BF91-2FA9777ECE2E}"/>
              </a:ext>
            </a:extLst>
          </p:cNvPr>
          <p:cNvCxnSpPr>
            <a:stCxn id="7" idx="3"/>
            <a:endCxn id="19" idx="1"/>
          </p:cNvCxnSpPr>
          <p:nvPr/>
        </p:nvCxnSpPr>
        <p:spPr>
          <a:xfrm>
            <a:off x="2362200" y="2705100"/>
            <a:ext cx="876300" cy="1047750"/>
          </a:xfrm>
          <a:prstGeom prst="bentConnector3">
            <a:avLst>
              <a:gd name="adj1" fmla="val 50000"/>
            </a:avLst>
          </a:prstGeom>
          <a:ln w="19050">
            <a:solidFill>
              <a:srgbClr val="82909E"/>
            </a:solidFill>
            <a:prstDash val="solid"/>
            <a:tailEnd type="triangle" w="sm" len="sm"/>
          </a:ln>
        </p:spPr>
      </p:cxnSp>
      <p:sp>
        <p:nvSpPr>
          <p:cNvPr id="44" name="slide-3-number">
            <a:extLst>
              <a:ext uri="{FF2B5EF4-FFF2-40B4-BE49-F238E27FC236}">
                <a16:creationId xmlns:a16="http://schemas.microsoft.com/office/drawing/2014/main" id="{A7B4C419-E037-4E99-AEBB-EF13047F4D4D}"/>
              </a:ext>
            </a:extLst>
          </p:cNvPr>
          <p:cNvSpPr>
            <a:spLocks noGrp="1"/>
          </p:cNvSpPr>
          <p:nvPr/>
        </p:nvSpPr>
        <p:spPr>
          <a:xfrm>
            <a:off x="514350" y="3143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4B942"/>
                </a:solidFill>
              </a:defRPr>
            </a:defPPr>
          </a:lstStyle>
          <a:p>
            <a:pPr algn="ctr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03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74C112A-0BC3-4075-BA69-555999522AB6}"/>
              </a:ext>
            </a:extLst>
          </p:cNvPr>
          <p:cNvSpPr>
            <a:spLocks noGrp="1"/>
          </p:cNvSpPr>
          <p:nvPr/>
        </p:nvSpPr>
        <p:spPr>
          <a:xfrm>
            <a:off x="1000125" y="419100"/>
            <a:ext cx="400050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3" name="slide-3-eyebrow">
            <a:extLst>
              <a:ext uri="{FF2B5EF4-FFF2-40B4-BE49-F238E27FC236}">
                <a16:creationId xmlns:a16="http://schemas.microsoft.com/office/drawing/2014/main" id="{7E1DE68B-97F8-48C8-9F9D-5B739B02D61F}"/>
              </a:ext>
            </a:extLst>
          </p:cNvPr>
          <p:cNvSpPr>
            <a:spLocks noGrp="1"/>
          </p:cNvSpPr>
          <p:nvPr/>
        </p:nvSpPr>
        <p:spPr>
          <a:xfrm>
            <a:off x="1543050" y="295275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1">
                <a:solidFill>
                  <a:srgbClr val="F4B942"/>
                </a:solidFill>
              </a:defRPr>
            </a:defPPr>
          </a:lstStyle>
          <a:p>
            <a:pPr algn="l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SYSTEM DESIGN</a:t>
            </a:r>
          </a:p>
        </p:txBody>
      </p:sp>
      <p:sp>
        <p:nvSpPr>
          <p:cNvPr id="4" name="slide-3-title">
            <a:extLst>
              <a:ext uri="{FF2B5EF4-FFF2-40B4-BE49-F238E27FC236}">
                <a16:creationId xmlns:a16="http://schemas.microsoft.com/office/drawing/2014/main" id="{EBAEF911-96B5-498D-970E-2FE08F7888F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700" b="1">
                <a:solidFill>
                  <a:srgbClr val="F7FAFC"/>
                </a:solidFill>
              </a:defRPr>
            </a:defPPr>
          </a:lstStyle>
          <a:p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A bounded, traceable path from source to screen.</a:t>
            </a:r>
          </a:p>
        </p:txBody>
      </p:sp>
      <p:sp>
        <p:nvSpPr>
          <p:cNvPr id="5" name="slide-3-subtitle">
            <a:extLst>
              <a:ext uri="{FF2B5EF4-FFF2-40B4-BE49-F238E27FC236}">
                <a16:creationId xmlns:a16="http://schemas.microsoft.com/office/drawing/2014/main" id="{B6FBB3F2-AE95-43DC-BB9B-7326EC9429A9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000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0">
                <a:solidFill>
                  <a:srgbClr val="AAB7C4"/>
                </a:solidFill>
              </a:defRPr>
            </a:defPPr>
          </a:lstStyle>
          <a:p>
            <a:pPr algn="l">
              <a:defRPr sz="1200" b="0">
                <a:solidFill>
                  <a:srgbClr val="AAB7C4"/>
                </a:solidFill>
              </a:defRPr>
            </a:pPr>
            <a:r>
              <a:rPr sz="1200" b="0">
                <a:solidFill>
                  <a:srgbClr val="AAB7C4"/>
                </a:solidFill>
              </a:rPr>
              <a:t>Provider-specific payloads stop at the API boundary. Every downstream view consumes normalized contracts.</a:t>
            </a:r>
          </a:p>
        </p:txBody>
      </p:sp>
      <p:sp>
        <p:nvSpPr>
          <p:cNvPr id="6" name="slide-3-footer">
            <a:extLst>
              <a:ext uri="{FF2B5EF4-FFF2-40B4-BE49-F238E27FC236}">
                <a16:creationId xmlns:a16="http://schemas.microsoft.com/office/drawing/2014/main" id="{465690DE-7752-4AEA-B8E3-DF0AABFBCFCA}"/>
              </a:ext>
            </a:extLst>
          </p:cNvPr>
          <p:cNvSpPr>
            <a:spLocks noGrp="1"/>
          </p:cNvSpPr>
          <p:nvPr/>
        </p:nvSpPr>
        <p:spPr>
          <a:xfrm>
            <a:off x="9315450" y="638175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750" b="1">
                <a:solidFill>
                  <a:srgbClr val="82909E"/>
                </a:solidFill>
              </a:defRPr>
            </a:defPPr>
          </a:lstStyle>
          <a:p>
            <a:pPr algn="r">
              <a:defRPr sz="750" b="1">
                <a:solidFill>
                  <a:srgbClr val="82909E"/>
                </a:solidFill>
              </a:defRPr>
            </a:pPr>
            <a:r>
              <a:rPr sz="750" b="1">
                <a:solidFill>
                  <a:srgbClr val="82909E"/>
                </a:solidFill>
              </a:rPr>
              <a:t>TRADING WENS   •   3 / 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4624A2-5373-4BED-B20B-B944D9EC7A69}"/>
              </a:ext>
            </a:extLst>
          </p:cNvPr>
          <p:cNvSpPr>
            <a:spLocks noGrp="1"/>
          </p:cNvSpPr>
          <p:nvPr/>
        </p:nvSpPr>
        <p:spPr>
          <a:xfrm>
            <a:off x="514350" y="2266950"/>
            <a:ext cx="1847850" cy="876300"/>
          </a:xfrm>
          <a:prstGeom prst="roundRect">
            <a:avLst>
              <a:gd name="adj" fmla="val 13043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08869D-7325-45D5-86FD-781267AA793E}"/>
              </a:ext>
            </a:extLst>
          </p:cNvPr>
          <p:cNvSpPr>
            <a:spLocks noGrp="1"/>
          </p:cNvSpPr>
          <p:nvPr/>
        </p:nvSpPr>
        <p:spPr>
          <a:xfrm>
            <a:off x="514350" y="2266950"/>
            <a:ext cx="47625" cy="876300"/>
          </a:xfrm>
          <a:prstGeom prst="rect">
            <a:avLst/>
          </a:prstGeom>
          <a:solidFill>
            <a:srgbClr val="57A5FF"/>
          </a:solidFill>
          <a:ln w="0">
            <a:solidFill>
              <a:srgbClr val="57A5FF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CC5D37-35BF-4CAE-949D-7761E77C61F8}"/>
              </a:ext>
            </a:extLst>
          </p:cNvPr>
          <p:cNvSpPr>
            <a:spLocks noGrp="1"/>
          </p:cNvSpPr>
          <p:nvPr/>
        </p:nvSpPr>
        <p:spPr>
          <a:xfrm>
            <a:off x="704850" y="240982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Alpaca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061637-DA5D-4781-BF50-E3CF6E440921}"/>
              </a:ext>
            </a:extLst>
          </p:cNvPr>
          <p:cNvSpPr>
            <a:spLocks noGrp="1"/>
          </p:cNvSpPr>
          <p:nvPr/>
        </p:nvSpPr>
        <p:spPr>
          <a:xfrm>
            <a:off x="704850" y="273367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Market · account · orders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5216DC-08F5-476F-B9DF-9B7D6E3EBC23}"/>
              </a:ext>
            </a:extLst>
          </p:cNvPr>
          <p:cNvSpPr>
            <a:spLocks noGrp="1"/>
          </p:cNvSpPr>
          <p:nvPr/>
        </p:nvSpPr>
        <p:spPr>
          <a:xfrm>
            <a:off x="514350" y="3352800"/>
            <a:ext cx="1847850" cy="876300"/>
          </a:xfrm>
          <a:prstGeom prst="roundRect">
            <a:avLst>
              <a:gd name="adj" fmla="val 13043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E1450F-AC9A-4C9F-AB69-98AEC69E2E7B}"/>
              </a:ext>
            </a:extLst>
          </p:cNvPr>
          <p:cNvSpPr>
            <a:spLocks noGrp="1"/>
          </p:cNvSpPr>
          <p:nvPr/>
        </p:nvSpPr>
        <p:spPr>
          <a:xfrm>
            <a:off x="514350" y="3352800"/>
            <a:ext cx="47625" cy="876300"/>
          </a:xfrm>
          <a:prstGeom prst="rect">
            <a:avLst/>
          </a:prstGeom>
          <a:solidFill>
            <a:srgbClr val="2FD07D"/>
          </a:solidFill>
          <a:ln w="0">
            <a:solidFill>
              <a:srgbClr val="2FD07D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0FF7BD-ED1B-43F3-B2EA-A8B546350F15}"/>
              </a:ext>
            </a:extLst>
          </p:cNvPr>
          <p:cNvSpPr>
            <a:spLocks noGrp="1"/>
          </p:cNvSpPr>
          <p:nvPr/>
        </p:nvSpPr>
        <p:spPr>
          <a:xfrm>
            <a:off x="704850" y="349567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GDELT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36C54E-249C-477B-8511-FA9551562456}"/>
              </a:ext>
            </a:extLst>
          </p:cNvPr>
          <p:cNvSpPr>
            <a:spLocks noGrp="1"/>
          </p:cNvSpPr>
          <p:nvPr/>
        </p:nvSpPr>
        <p:spPr>
          <a:xfrm>
            <a:off x="704850" y="38195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Public company coverage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0D3F9A-4C7B-403E-97E0-898ED3DFB317}"/>
              </a:ext>
            </a:extLst>
          </p:cNvPr>
          <p:cNvSpPr>
            <a:spLocks noGrp="1"/>
          </p:cNvSpPr>
          <p:nvPr/>
        </p:nvSpPr>
        <p:spPr>
          <a:xfrm>
            <a:off x="514350" y="4438650"/>
            <a:ext cx="1847850" cy="876300"/>
          </a:xfrm>
          <a:prstGeom prst="roundRect">
            <a:avLst>
              <a:gd name="adj" fmla="val 13043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F6D949-11A6-47CF-A619-E35E651E529B}"/>
              </a:ext>
            </a:extLst>
          </p:cNvPr>
          <p:cNvSpPr>
            <a:spLocks noGrp="1"/>
          </p:cNvSpPr>
          <p:nvPr/>
        </p:nvSpPr>
        <p:spPr>
          <a:xfrm>
            <a:off x="514350" y="4438650"/>
            <a:ext cx="47625" cy="8763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ED961D-9B86-4D49-97C7-DA5BC39229AA}"/>
              </a:ext>
            </a:extLst>
          </p:cNvPr>
          <p:cNvSpPr>
            <a:spLocks noGrp="1"/>
          </p:cNvSpPr>
          <p:nvPr/>
        </p:nvSpPr>
        <p:spPr>
          <a:xfrm>
            <a:off x="704850" y="458152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Bluesky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1CD244-2796-4D2D-8682-C164C6F8EE10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Public social context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DE1FAE3-BEC6-4C49-AE5D-82AB35819D66}"/>
              </a:ext>
            </a:extLst>
          </p:cNvPr>
          <p:cNvSpPr>
            <a:spLocks noGrp="1"/>
          </p:cNvSpPr>
          <p:nvPr/>
        </p:nvSpPr>
        <p:spPr>
          <a:xfrm>
            <a:off x="3238500" y="2619375"/>
            <a:ext cx="2133600" cy="2266950"/>
          </a:xfrm>
          <a:prstGeom prst="roundRect">
            <a:avLst>
              <a:gd name="adj" fmla="val 535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AC6447-B18D-4925-983A-FD53146F9B89}"/>
              </a:ext>
            </a:extLst>
          </p:cNvPr>
          <p:cNvSpPr>
            <a:spLocks noGrp="1"/>
          </p:cNvSpPr>
          <p:nvPr/>
        </p:nvSpPr>
        <p:spPr>
          <a:xfrm>
            <a:off x="3238500" y="2619375"/>
            <a:ext cx="47625" cy="22669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F5A1C3-3276-4016-8C5D-0B25CD3F4754}"/>
              </a:ext>
            </a:extLst>
          </p:cNvPr>
          <p:cNvSpPr>
            <a:spLocks noGrp="1"/>
          </p:cNvSpPr>
          <p:nvPr/>
        </p:nvSpPr>
        <p:spPr>
          <a:xfrm>
            <a:off x="3429000" y="27622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Go API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746DF09-6501-4573-BE1F-9389043A04BC}"/>
              </a:ext>
            </a:extLst>
          </p:cNvPr>
          <p:cNvSpPr>
            <a:spLocks noGrp="1"/>
          </p:cNvSpPr>
          <p:nvPr/>
        </p:nvSpPr>
        <p:spPr>
          <a:xfrm>
            <a:off x="3429000" y="3086100"/>
            <a:ext cx="18097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Session gate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Normalization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Deduplication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Paper execution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PostgreSQL persistence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ED27408-F169-48F0-823E-CDDD772DD079}"/>
              </a:ext>
            </a:extLst>
          </p:cNvPr>
          <p:cNvSpPr>
            <a:spLocks noGrp="1"/>
          </p:cNvSpPr>
          <p:nvPr/>
        </p:nvSpPr>
        <p:spPr>
          <a:xfrm>
            <a:off x="61912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9EC21F-07BA-40D9-A794-CEBFFF7B908E}"/>
              </a:ext>
            </a:extLst>
          </p:cNvPr>
          <p:cNvSpPr>
            <a:spLocks noGrp="1"/>
          </p:cNvSpPr>
          <p:nvPr/>
        </p:nvSpPr>
        <p:spPr>
          <a:xfrm>
            <a:off x="6191250" y="2266950"/>
            <a:ext cx="47625" cy="1257300"/>
          </a:xfrm>
          <a:prstGeom prst="rect">
            <a:avLst/>
          </a:prstGeom>
          <a:solidFill>
            <a:srgbClr val="2FD07D"/>
          </a:solidFill>
          <a:ln w="0">
            <a:solidFill>
              <a:srgbClr val="2FD07D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97D43C-D06B-46C2-8C5A-872E37BB6500}"/>
              </a:ext>
            </a:extLst>
          </p:cNvPr>
          <p:cNvSpPr>
            <a:spLocks noGrp="1"/>
          </p:cNvSpPr>
          <p:nvPr/>
        </p:nvSpPr>
        <p:spPr>
          <a:xfrm>
            <a:off x="6381750" y="2409825"/>
            <a:ext cx="1771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FinBERT service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778B73-0EEE-457E-AB5F-F538494D73C3}"/>
              </a:ext>
            </a:extLst>
          </p:cNvPr>
          <p:cNvSpPr>
            <a:spLocks noGrp="1"/>
          </p:cNvSpPr>
          <p:nvPr/>
        </p:nvSpPr>
        <p:spPr>
          <a:xfrm>
            <a:off x="6381750" y="2733675"/>
            <a:ext cx="1771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Bounded batch inference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Model + version metadata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8E42CC1-CCB7-4D07-84D5-80F0EC71622D}"/>
              </a:ext>
            </a:extLst>
          </p:cNvPr>
          <p:cNvSpPr>
            <a:spLocks noGrp="1"/>
          </p:cNvSpPr>
          <p:nvPr/>
        </p:nvSpPr>
        <p:spPr>
          <a:xfrm>
            <a:off x="6191250" y="3914775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9647DE-0DD0-4FF1-88D3-C04B73F4C9B8}"/>
              </a:ext>
            </a:extLst>
          </p:cNvPr>
          <p:cNvSpPr>
            <a:spLocks noGrp="1"/>
          </p:cNvSpPr>
          <p:nvPr/>
        </p:nvSpPr>
        <p:spPr>
          <a:xfrm>
            <a:off x="6191250" y="3914775"/>
            <a:ext cx="47625" cy="1257300"/>
          </a:xfrm>
          <a:prstGeom prst="rect">
            <a:avLst/>
          </a:prstGeom>
          <a:solidFill>
            <a:srgbClr val="57A5FF"/>
          </a:solidFill>
          <a:ln w="0">
            <a:solidFill>
              <a:srgbClr val="57A5FF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46A2A3-1D50-4B72-A527-558FC7726A2B}"/>
              </a:ext>
            </a:extLst>
          </p:cNvPr>
          <p:cNvSpPr>
            <a:spLocks noGrp="1"/>
          </p:cNvSpPr>
          <p:nvPr/>
        </p:nvSpPr>
        <p:spPr>
          <a:xfrm>
            <a:off x="6381750" y="4057650"/>
            <a:ext cx="1771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Shared signal layer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2A4C3E0-B550-499E-8344-AD0A07D33BD4}"/>
              </a:ext>
            </a:extLst>
          </p:cNvPr>
          <p:cNvSpPr>
            <a:spLocks noGrp="1"/>
          </p:cNvSpPr>
          <p:nvPr/>
        </p:nvSpPr>
        <p:spPr>
          <a:xfrm>
            <a:off x="6381750" y="4381500"/>
            <a:ext cx="1771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Movement direction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Position-aware risk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E3F43A5-15C4-454F-92B5-9BE6E96D624B}"/>
              </a:ext>
            </a:extLst>
          </p:cNvPr>
          <p:cNvSpPr>
            <a:spLocks noGrp="1"/>
          </p:cNvSpPr>
          <p:nvPr/>
        </p:nvSpPr>
        <p:spPr>
          <a:xfrm>
            <a:off x="9163050" y="2619375"/>
            <a:ext cx="2571750" cy="2266950"/>
          </a:xfrm>
          <a:prstGeom prst="roundRect">
            <a:avLst>
              <a:gd name="adj" fmla="val 5042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9459349-CE17-4461-B3F6-CF82C8799358}"/>
              </a:ext>
            </a:extLst>
          </p:cNvPr>
          <p:cNvSpPr>
            <a:spLocks noGrp="1"/>
          </p:cNvSpPr>
          <p:nvPr/>
        </p:nvSpPr>
        <p:spPr>
          <a:xfrm>
            <a:off x="9163050" y="2619375"/>
            <a:ext cx="47625" cy="2266950"/>
          </a:xfrm>
          <a:prstGeom prst="rect">
            <a:avLst/>
          </a:prstGeom>
          <a:solidFill>
            <a:srgbClr val="FF5A67"/>
          </a:solidFill>
          <a:ln w="0">
            <a:solidFill>
              <a:srgbClr val="FF5A67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E4CBFCB-6B2F-41FA-952B-028068F5483B}"/>
              </a:ext>
            </a:extLst>
          </p:cNvPr>
          <p:cNvSpPr>
            <a:spLocks noGrp="1"/>
          </p:cNvSpPr>
          <p:nvPr/>
        </p:nvSpPr>
        <p:spPr>
          <a:xfrm>
            <a:off x="9353550" y="2762250"/>
            <a:ext cx="2247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React workspace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D23B9FB-756E-4DC7-ADFF-9D53027E538E}"/>
              </a:ext>
            </a:extLst>
          </p:cNvPr>
          <p:cNvSpPr>
            <a:spLocks noGrp="1"/>
          </p:cNvSpPr>
          <p:nvPr/>
        </p:nvSpPr>
        <p:spPr>
          <a:xfrm>
            <a:off x="9353550" y="3086100"/>
            <a:ext cx="22479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Overview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Live trading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Risk feed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Portfolio status</a:t>
            </a:r>
          </a:p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Evidence drill-down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3DA2CFD-4737-456A-AE57-2DA2D9E0394B}"/>
              </a:ext>
            </a:extLst>
          </p:cNvPr>
          <p:cNvSpPr>
            <a:spLocks noGrp="1"/>
          </p:cNvSpPr>
          <p:nvPr/>
        </p:nvSpPr>
        <p:spPr>
          <a:xfrm>
            <a:off x="3295650" y="5219700"/>
            <a:ext cx="1257300" cy="295275"/>
          </a:xfrm>
          <a:prstGeom prst="roundRect">
            <a:avLst>
              <a:gd name="adj" fmla="val 50000"/>
            </a:avLst>
          </a:prstGeom>
          <a:solidFill>
            <a:srgbClr val="F4B942">
              <a:alpha val="16000"/>
            </a:srgbClr>
          </a:solidFill>
          <a:ln w="9525">
            <a:solidFill>
              <a:srgbClr val="F4B942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F4B942"/>
                </a:solidFill>
              </a:defRPr>
            </a:defPPr>
          </a:lstStyle>
          <a:p>
            <a:pPr algn="ctr">
              <a:defRPr sz="825" b="1">
                <a:solidFill>
                  <a:srgbClr val="F4B942"/>
                </a:solidFill>
              </a:defRPr>
            </a:pPr>
            <a:r>
              <a:rPr sz="825" b="1">
                <a:solidFill>
                  <a:srgbClr val="F4B942"/>
                </a:solidFill>
              </a:rPr>
              <a:t>AUTHENTICATED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0785108E-F351-4801-99F7-655651C55F1C}"/>
              </a:ext>
            </a:extLst>
          </p:cNvPr>
          <p:cNvSpPr>
            <a:spLocks noGrp="1"/>
          </p:cNvSpPr>
          <p:nvPr/>
        </p:nvSpPr>
        <p:spPr>
          <a:xfrm>
            <a:off x="6191250" y="5410200"/>
            <a:ext cx="1419225" cy="295275"/>
          </a:xfrm>
          <a:prstGeom prst="roundRect">
            <a:avLst>
              <a:gd name="adj" fmla="val 50000"/>
            </a:avLst>
          </a:prstGeom>
          <a:solidFill>
            <a:srgbClr val="2FD07D">
              <a:alpha val="16000"/>
            </a:srgbClr>
          </a:solidFill>
          <a:ln w="9525">
            <a:solidFill>
              <a:srgbClr val="2FD07D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2FD07D"/>
                </a:solidFill>
              </a:defRPr>
            </a:defPPr>
          </a:lstStyle>
          <a:p>
            <a:pPr algn="ctr">
              <a:defRPr sz="825" b="1">
                <a:solidFill>
                  <a:srgbClr val="2FD07D"/>
                </a:solidFill>
              </a:defRPr>
            </a:pPr>
            <a:r>
              <a:rPr sz="825" b="1">
                <a:solidFill>
                  <a:srgbClr val="2FD07D"/>
                </a:solidFill>
              </a:rPr>
              <a:t>MODEL-TRACEABLE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CFAA9C4-9948-4743-8036-07593DD10C35}"/>
              </a:ext>
            </a:extLst>
          </p:cNvPr>
          <p:cNvSpPr>
            <a:spLocks noGrp="1"/>
          </p:cNvSpPr>
          <p:nvPr/>
        </p:nvSpPr>
        <p:spPr>
          <a:xfrm>
            <a:off x="9563100" y="5219700"/>
            <a:ext cx="1409700" cy="295275"/>
          </a:xfrm>
          <a:prstGeom prst="roundRect">
            <a:avLst>
              <a:gd name="adj" fmla="val 50000"/>
            </a:avLst>
          </a:prstGeom>
          <a:solidFill>
            <a:srgbClr val="57A5FF">
              <a:alpha val="16000"/>
            </a:srgbClr>
          </a:solidFill>
          <a:ln w="9525">
            <a:solidFill>
              <a:srgbClr val="57A5FF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57A5FF"/>
                </a:solidFill>
              </a:defRPr>
            </a:defPPr>
          </a:lstStyle>
          <a:p>
            <a:pPr algn="ctr">
              <a:defRPr sz="825" b="1">
                <a:solidFill>
                  <a:srgbClr val="57A5FF"/>
                </a:solidFill>
              </a:defRPr>
            </a:pPr>
            <a:r>
              <a:rPr sz="825" b="1">
                <a:solidFill>
                  <a:srgbClr val="57A5FF"/>
                </a:solidFill>
              </a:rPr>
              <a:t>POSITION-AWARE</a:t>
            </a:r>
          </a:p>
        </p:txBody>
      </p:sp>
    </p:spTree>
    <p:extLst>
      <p:ext uri="{BB962C8B-B14F-4D97-AF65-F5344CB8AC3E}">
        <p14:creationId xmlns:p14="http://schemas.microsoft.com/office/powerpoint/2010/main" val="1839559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4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5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38DC938B-30A6-9FE2-FA9B-1B97A52151D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7" name="slide-4-number">
            <a:extLst>
              <a:ext uri="{FF2B5EF4-FFF2-40B4-BE49-F238E27FC236}">
                <a16:creationId xmlns:a16="http://schemas.microsoft.com/office/drawing/2014/main" id="{DEBA9AE5-A6D8-4E3F-AD0A-7F96CAE5CB2C}"/>
              </a:ext>
            </a:extLst>
          </p:cNvPr>
          <p:cNvSpPr>
            <a:spLocks noGrp="1"/>
          </p:cNvSpPr>
          <p:nvPr/>
        </p:nvSpPr>
        <p:spPr>
          <a:xfrm>
            <a:off x="514350" y="3143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4B942"/>
                </a:solidFill>
              </a:defRPr>
            </a:defPPr>
          </a:lstStyle>
          <a:p>
            <a:pPr algn="ctr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04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1641782E-DDD2-4F74-84EB-69652BB0827D}"/>
              </a:ext>
            </a:extLst>
          </p:cNvPr>
          <p:cNvSpPr>
            <a:spLocks noGrp="1"/>
          </p:cNvSpPr>
          <p:nvPr/>
        </p:nvSpPr>
        <p:spPr>
          <a:xfrm>
            <a:off x="1000125" y="419100"/>
            <a:ext cx="400050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3" name="slide-4-eyebrow">
            <a:extLst>
              <a:ext uri="{FF2B5EF4-FFF2-40B4-BE49-F238E27FC236}">
                <a16:creationId xmlns:a16="http://schemas.microsoft.com/office/drawing/2014/main" id="{517A1CDB-1A64-4725-B0AA-51DD370763CD}"/>
              </a:ext>
            </a:extLst>
          </p:cNvPr>
          <p:cNvSpPr>
            <a:spLocks noGrp="1"/>
          </p:cNvSpPr>
          <p:nvPr/>
        </p:nvSpPr>
        <p:spPr>
          <a:xfrm>
            <a:off x="1543050" y="295275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1">
                <a:solidFill>
                  <a:srgbClr val="F4B942"/>
                </a:solidFill>
              </a:defRPr>
            </a:defPPr>
          </a:lstStyle>
          <a:p>
            <a:pPr algn="l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IMPLEMENTATION HIGHLIGHTS</a:t>
            </a:r>
          </a:p>
        </p:txBody>
      </p:sp>
      <p:sp>
        <p:nvSpPr>
          <p:cNvPr id="4" name="slide-4-title">
            <a:extLst>
              <a:ext uri="{FF2B5EF4-FFF2-40B4-BE49-F238E27FC236}">
                <a16:creationId xmlns:a16="http://schemas.microsoft.com/office/drawing/2014/main" id="{D2E0F479-1246-4572-BE8D-5B3A6D2B23A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700" b="1">
                <a:solidFill>
                  <a:srgbClr val="F7FAFC"/>
                </a:solidFill>
              </a:defRPr>
            </a:defPPr>
          </a:lstStyle>
          <a:p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Built for evidence, not theatre.</a:t>
            </a:r>
          </a:p>
        </p:txBody>
      </p:sp>
      <p:sp>
        <p:nvSpPr>
          <p:cNvPr id="5" name="slide-4-subtitle">
            <a:extLst>
              <a:ext uri="{FF2B5EF4-FFF2-40B4-BE49-F238E27FC236}">
                <a16:creationId xmlns:a16="http://schemas.microsoft.com/office/drawing/2014/main" id="{8C579E1F-5746-4D6D-B76F-66DB17759155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000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0">
                <a:solidFill>
                  <a:srgbClr val="AAB7C4"/>
                </a:solidFill>
              </a:defRPr>
            </a:defPPr>
          </a:lstStyle>
          <a:p>
            <a:pPr algn="l">
              <a:defRPr sz="1200" b="0">
                <a:solidFill>
                  <a:srgbClr val="AAB7C4"/>
                </a:solidFill>
              </a:defRPr>
            </a:pPr>
            <a:r>
              <a:rPr sz="1200" b="0">
                <a:solidFill>
                  <a:srgbClr val="AAB7C4"/>
                </a:solidFill>
              </a:rPr>
              <a:t>The strongest engineering decisions are the ones that prevent a polished dashboard from making an unsupported claim.</a:t>
            </a:r>
          </a:p>
        </p:txBody>
      </p:sp>
      <p:sp>
        <p:nvSpPr>
          <p:cNvPr id="6" name="slide-4-footer">
            <a:extLst>
              <a:ext uri="{FF2B5EF4-FFF2-40B4-BE49-F238E27FC236}">
                <a16:creationId xmlns:a16="http://schemas.microsoft.com/office/drawing/2014/main" id="{5E53826B-C026-4495-8DCA-2C8251317EA4}"/>
              </a:ext>
            </a:extLst>
          </p:cNvPr>
          <p:cNvSpPr>
            <a:spLocks noGrp="1"/>
          </p:cNvSpPr>
          <p:nvPr/>
        </p:nvSpPr>
        <p:spPr>
          <a:xfrm>
            <a:off x="9315450" y="638175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750" b="1">
                <a:solidFill>
                  <a:srgbClr val="82909E"/>
                </a:solidFill>
              </a:defRPr>
            </a:defPPr>
          </a:lstStyle>
          <a:p>
            <a:pPr algn="r">
              <a:defRPr sz="750" b="1">
                <a:solidFill>
                  <a:srgbClr val="82909E"/>
                </a:solidFill>
              </a:defRPr>
            </a:pPr>
            <a:r>
              <a:rPr sz="750" b="1">
                <a:solidFill>
                  <a:srgbClr val="82909E"/>
                </a:solidFill>
              </a:rPr>
              <a:t>TRADING WENS   •   4 / 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6529CC9-1BBC-4D40-8B76-DDE9B9715167}"/>
              </a:ext>
            </a:extLst>
          </p:cNvPr>
          <p:cNvSpPr>
            <a:spLocks noGrp="1"/>
          </p:cNvSpPr>
          <p:nvPr/>
        </p:nvSpPr>
        <p:spPr>
          <a:xfrm>
            <a:off x="514350" y="2038350"/>
            <a:ext cx="3543300" cy="2495550"/>
          </a:xfrm>
          <a:prstGeom prst="roundRect">
            <a:avLst>
              <a:gd name="adj" fmla="val 610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07F3A6-F432-436F-98D9-4548C5E97863}"/>
              </a:ext>
            </a:extLst>
          </p:cNvPr>
          <p:cNvSpPr>
            <a:spLocks noGrp="1"/>
          </p:cNvSpPr>
          <p:nvPr/>
        </p:nvSpPr>
        <p:spPr>
          <a:xfrm>
            <a:off x="742950" y="2286000"/>
            <a:ext cx="457200" cy="57150"/>
          </a:xfrm>
          <a:prstGeom prst="rect">
            <a:avLst/>
          </a:prstGeom>
          <a:solidFill>
            <a:srgbClr val="57A5FF"/>
          </a:solidFill>
          <a:ln w="0">
            <a:solidFill>
              <a:srgbClr val="57A5FF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CFB088-BAD4-4B73-9B89-29C8A155E0E8}"/>
              </a:ext>
            </a:extLst>
          </p:cNvPr>
          <p:cNvSpPr>
            <a:spLocks noGrp="1"/>
          </p:cNvSpPr>
          <p:nvPr/>
        </p:nvSpPr>
        <p:spPr>
          <a:xfrm>
            <a:off x="742950" y="2514600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7FAFC"/>
                </a:solidFill>
              </a:defRPr>
            </a:defPPr>
          </a:lstStyle>
          <a:p>
            <a:pPr algn="l">
              <a:defRPr sz="1800" b="1">
                <a:solidFill>
                  <a:srgbClr val="F7FAFC"/>
                </a:solidFill>
              </a:defRPr>
            </a:pPr>
            <a:r>
              <a:rPr sz="1800" b="1">
                <a:solidFill>
                  <a:srgbClr val="F7FAFC"/>
                </a:solidFill>
              </a:rPr>
              <a:t>Truthful data states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EB170C-83CB-446F-960D-6B7B617E2D8F}"/>
              </a:ext>
            </a:extLst>
          </p:cNvPr>
          <p:cNvSpPr>
            <a:spLocks noGrp="1"/>
          </p:cNvSpPr>
          <p:nvPr/>
        </p:nvSpPr>
        <p:spPr>
          <a:xfrm>
            <a:off x="742950" y="3181350"/>
            <a:ext cx="30861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050" b="0">
                <a:solidFill>
                  <a:srgbClr val="AAB7C4"/>
                </a:solidFill>
              </a:defRPr>
            </a:defPPr>
          </a:lstStyle>
          <a:p>
            <a:pPr algn="l">
              <a:defRPr sz="1050" b="0">
                <a:solidFill>
                  <a:srgbClr val="AAB7C4"/>
                </a:solidFill>
              </a:defRPr>
            </a:pPr>
            <a:r>
              <a:rPr sz="1050" b="0">
                <a:solidFill>
                  <a:srgbClr val="AAB7C4"/>
                </a:solidFill>
              </a:rPr>
              <a:t>Live provider data remains authenticated. Public demo fixtures stay labelled synthetic. Missing model output remains unavailable.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E5B579C-22D0-4B97-A063-005FCE37F7EB}"/>
              </a:ext>
            </a:extLst>
          </p:cNvPr>
          <p:cNvSpPr>
            <a:spLocks noGrp="1"/>
          </p:cNvSpPr>
          <p:nvPr/>
        </p:nvSpPr>
        <p:spPr>
          <a:xfrm>
            <a:off x="742950" y="4048125"/>
            <a:ext cx="2000250" cy="295275"/>
          </a:xfrm>
          <a:prstGeom prst="roundRect">
            <a:avLst>
              <a:gd name="adj" fmla="val 50000"/>
            </a:avLst>
          </a:prstGeom>
          <a:solidFill>
            <a:srgbClr val="57A5FF">
              <a:alpha val="16000"/>
            </a:srgbClr>
          </a:solidFill>
          <a:ln w="9525">
            <a:solidFill>
              <a:srgbClr val="57A5FF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57A5FF"/>
                </a:solidFill>
              </a:defRPr>
            </a:defPPr>
          </a:lstStyle>
          <a:p>
            <a:pPr algn="ctr">
              <a:defRPr sz="825" b="1">
                <a:solidFill>
                  <a:srgbClr val="57A5FF"/>
                </a:solidFill>
              </a:defRPr>
            </a:pPr>
            <a:r>
              <a:rPr sz="825" b="1">
                <a:solidFill>
                  <a:srgbClr val="57A5FF"/>
                </a:solidFill>
              </a:rPr>
              <a:t>NO FABRICATED FALLBACK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A9D129-7E9F-4600-A42C-15FACDB37CAD}"/>
              </a:ext>
            </a:extLst>
          </p:cNvPr>
          <p:cNvSpPr>
            <a:spLocks noGrp="1"/>
          </p:cNvSpPr>
          <p:nvPr/>
        </p:nvSpPr>
        <p:spPr>
          <a:xfrm>
            <a:off x="4324350" y="2038350"/>
            <a:ext cx="3543300" cy="2495550"/>
          </a:xfrm>
          <a:prstGeom prst="roundRect">
            <a:avLst>
              <a:gd name="adj" fmla="val 610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227686-346E-453D-A12D-7DE042585BF3}"/>
              </a:ext>
            </a:extLst>
          </p:cNvPr>
          <p:cNvSpPr>
            <a:spLocks noGrp="1"/>
          </p:cNvSpPr>
          <p:nvPr/>
        </p:nvSpPr>
        <p:spPr>
          <a:xfrm>
            <a:off x="4552950" y="2286000"/>
            <a:ext cx="457200" cy="57150"/>
          </a:xfrm>
          <a:prstGeom prst="rect">
            <a:avLst/>
          </a:prstGeom>
          <a:solidFill>
            <a:srgbClr val="2FD07D"/>
          </a:solidFill>
          <a:ln w="0">
            <a:solidFill>
              <a:srgbClr val="2FD07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853639-C5AA-4C51-8831-263E7271B7E5}"/>
              </a:ext>
            </a:extLst>
          </p:cNvPr>
          <p:cNvSpPr>
            <a:spLocks noGrp="1"/>
          </p:cNvSpPr>
          <p:nvPr/>
        </p:nvSpPr>
        <p:spPr>
          <a:xfrm>
            <a:off x="4552950" y="2514600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7FAFC"/>
                </a:solidFill>
              </a:defRPr>
            </a:defPPr>
          </a:lstStyle>
          <a:p>
            <a:pPr algn="l">
              <a:defRPr sz="1800" b="1">
                <a:solidFill>
                  <a:srgbClr val="F7FAFC"/>
                </a:solidFill>
              </a:defRPr>
            </a:pPr>
            <a:r>
              <a:rPr sz="1800" b="1">
                <a:solidFill>
                  <a:srgbClr val="F7FAFC"/>
                </a:solidFill>
              </a:rPr>
              <a:t>Model traceability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37EBF0-5B59-4ECA-A162-4F0837912482}"/>
              </a:ext>
            </a:extLst>
          </p:cNvPr>
          <p:cNvSpPr>
            <a:spLocks noGrp="1"/>
          </p:cNvSpPr>
          <p:nvPr/>
        </p:nvSpPr>
        <p:spPr>
          <a:xfrm>
            <a:off x="4552950" y="3181350"/>
            <a:ext cx="30861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050" b="0">
                <a:solidFill>
                  <a:srgbClr val="AAB7C4"/>
                </a:solidFill>
              </a:defRPr>
            </a:defPPr>
          </a:lstStyle>
          <a:p>
            <a:pPr algn="l">
              <a:defRPr sz="1050" b="0">
                <a:solidFill>
                  <a:srgbClr val="AAB7C4"/>
                </a:solidFill>
              </a:defRPr>
            </a:pPr>
            <a:r>
              <a:rPr sz="1050" b="0">
                <a:solidFill>
                  <a:srgbClr val="AAB7C4"/>
                </a:solidFill>
              </a:rPr>
              <a:t>FinBERT loads once, accepts bounded batches, returns calibrated confidence, uncertainty, labels, and model version.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4563B2-2B75-448B-8180-B1D89B9D0CBC}"/>
              </a:ext>
            </a:extLst>
          </p:cNvPr>
          <p:cNvSpPr>
            <a:spLocks noGrp="1"/>
          </p:cNvSpPr>
          <p:nvPr/>
        </p:nvSpPr>
        <p:spPr>
          <a:xfrm>
            <a:off x="4552950" y="4048125"/>
            <a:ext cx="2000250" cy="295275"/>
          </a:xfrm>
          <a:prstGeom prst="roundRect">
            <a:avLst>
              <a:gd name="adj" fmla="val 50000"/>
            </a:avLst>
          </a:prstGeom>
          <a:solidFill>
            <a:srgbClr val="2FD07D">
              <a:alpha val="16000"/>
            </a:srgbClr>
          </a:solidFill>
          <a:ln w="9525">
            <a:solidFill>
              <a:srgbClr val="2FD07D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2FD07D"/>
                </a:solidFill>
              </a:defRPr>
            </a:defPPr>
          </a:lstStyle>
          <a:p>
            <a:pPr algn="ctr">
              <a:defRPr sz="825" b="1">
                <a:solidFill>
                  <a:srgbClr val="2FD07D"/>
                </a:solidFill>
              </a:defRPr>
            </a:pPr>
            <a:r>
              <a:rPr sz="825" b="1">
                <a:solidFill>
                  <a:srgbClr val="2FD07D"/>
                </a:solidFill>
              </a:rPr>
              <a:t>BATCH ≤ 16 HEADLINES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34AFC08-E840-42A3-9530-55906667A42F}"/>
              </a:ext>
            </a:extLst>
          </p:cNvPr>
          <p:cNvSpPr>
            <a:spLocks noGrp="1"/>
          </p:cNvSpPr>
          <p:nvPr/>
        </p:nvSpPr>
        <p:spPr>
          <a:xfrm>
            <a:off x="8134350" y="2038350"/>
            <a:ext cx="3543300" cy="2495550"/>
          </a:xfrm>
          <a:prstGeom prst="roundRect">
            <a:avLst>
              <a:gd name="adj" fmla="val 610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706F9-3CBF-40E8-BE7B-147B7BE95919}"/>
              </a:ext>
            </a:extLst>
          </p:cNvPr>
          <p:cNvSpPr>
            <a:spLocks noGrp="1"/>
          </p:cNvSpPr>
          <p:nvPr/>
        </p:nvSpPr>
        <p:spPr>
          <a:xfrm>
            <a:off x="8362950" y="2286000"/>
            <a:ext cx="4572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869570-4565-4196-B13C-0F8BC2F0FEAE}"/>
              </a:ext>
            </a:extLst>
          </p:cNvPr>
          <p:cNvSpPr>
            <a:spLocks noGrp="1"/>
          </p:cNvSpPr>
          <p:nvPr/>
        </p:nvSpPr>
        <p:spPr>
          <a:xfrm>
            <a:off x="8362950" y="2514600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7FAFC"/>
                </a:solidFill>
              </a:defRPr>
            </a:defPPr>
          </a:lstStyle>
          <a:p>
            <a:pPr algn="l">
              <a:defRPr sz="1800" b="1">
                <a:solidFill>
                  <a:srgbClr val="F7FAFC"/>
                </a:solidFill>
              </a:defRPr>
            </a:pPr>
            <a:r>
              <a:rPr sz="1800" b="1">
                <a:solidFill>
                  <a:srgbClr val="F7FAFC"/>
                </a:solidFill>
              </a:rPr>
              <a:t>Execution auditability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FBB173-0F85-4F74-80D5-3DACED453ACF}"/>
              </a:ext>
            </a:extLst>
          </p:cNvPr>
          <p:cNvSpPr>
            <a:spLocks noGrp="1"/>
          </p:cNvSpPr>
          <p:nvPr/>
        </p:nvSpPr>
        <p:spPr>
          <a:xfrm>
            <a:off x="8362950" y="3181350"/>
            <a:ext cx="30861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050" b="0">
                <a:solidFill>
                  <a:srgbClr val="AAB7C4"/>
                </a:solidFill>
              </a:defRPr>
            </a:defPPr>
          </a:lstStyle>
          <a:p>
            <a:pPr algn="l">
              <a:defRPr sz="1050" b="0">
                <a:solidFill>
                  <a:srgbClr val="AAB7C4"/>
                </a:solidFill>
              </a:defRPr>
            </a:pPr>
            <a:r>
              <a:rPr sz="1050" b="0">
                <a:solidFill>
                  <a:srgbClr val="AAB7C4"/>
                </a:solidFill>
              </a:rPr>
              <a:t>Paper orders require confirmation. Orders, fills, audit events, account snapshots, and sentiment evidence are persisted.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423F966-D362-4623-B843-25283FC65BDB}"/>
              </a:ext>
            </a:extLst>
          </p:cNvPr>
          <p:cNvSpPr>
            <a:spLocks noGrp="1"/>
          </p:cNvSpPr>
          <p:nvPr/>
        </p:nvSpPr>
        <p:spPr>
          <a:xfrm>
            <a:off x="8362950" y="4048125"/>
            <a:ext cx="2000250" cy="295275"/>
          </a:xfrm>
          <a:prstGeom prst="roundRect">
            <a:avLst>
              <a:gd name="adj" fmla="val 50000"/>
            </a:avLst>
          </a:prstGeom>
          <a:solidFill>
            <a:srgbClr val="F4B942">
              <a:alpha val="16000"/>
            </a:srgbClr>
          </a:solidFill>
          <a:ln w="9525">
            <a:solidFill>
              <a:srgbClr val="F4B942">
                <a:alpha val="50000"/>
              </a:srgbClr>
            </a:solidFill>
            <a:prstDash val="solid"/>
          </a:ln>
        </p:spPr>
        <p:txBody>
          <a:bodyPr lIns="0" tIns="0" rIns="0" bIns="0" anchor="ctr"/>
          <a:lstStyle>
            <a:defPPr algn="ctr">
              <a:defRPr sz="825" b="1">
                <a:solidFill>
                  <a:srgbClr val="F4B942"/>
                </a:solidFill>
              </a:defRPr>
            </a:defPPr>
          </a:lstStyle>
          <a:p>
            <a:pPr algn="ctr">
              <a:defRPr sz="825" b="1">
                <a:solidFill>
                  <a:srgbClr val="F4B942"/>
                </a:solidFill>
              </a:defRPr>
            </a:pPr>
            <a:r>
              <a:rPr sz="825" b="1">
                <a:solidFill>
                  <a:srgbClr val="F4B942"/>
                </a:solidFill>
              </a:rPr>
              <a:t>PAPER ENDPOINT ONLY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F0E3946-FF8D-4A80-A15F-6F647A794BED}"/>
              </a:ext>
            </a:extLst>
          </p:cNvPr>
          <p:cNvSpPr>
            <a:spLocks noGrp="1"/>
          </p:cNvSpPr>
          <p:nvPr/>
        </p:nvSpPr>
        <p:spPr>
          <a:xfrm>
            <a:off x="514350" y="4762500"/>
            <a:ext cx="11163300" cy="1143000"/>
          </a:xfrm>
          <a:prstGeom prst="roundRect">
            <a:avLst>
              <a:gd name="adj" fmla="val 10000"/>
            </a:avLst>
          </a:prstGeom>
          <a:solidFill>
            <a:srgbClr val="071019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435E0D-9462-4D1A-BB85-A98CB45B8C11}"/>
              </a:ext>
            </a:extLst>
          </p:cNvPr>
          <p:cNvSpPr>
            <a:spLocks noGrp="1"/>
          </p:cNvSpPr>
          <p:nvPr/>
        </p:nvSpPr>
        <p:spPr>
          <a:xfrm>
            <a:off x="742950" y="49530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F4B942"/>
                </a:solidFill>
              </a:defRPr>
            </a:defPPr>
          </a:lstStyle>
          <a:p>
            <a:pPr algn="l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REACT 19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508340-A552-4538-B6AE-D4CE7C139DD4}"/>
              </a:ext>
            </a:extLst>
          </p:cNvPr>
          <p:cNvSpPr>
            <a:spLocks noGrp="1"/>
          </p:cNvSpPr>
          <p:nvPr/>
        </p:nvSpPr>
        <p:spPr>
          <a:xfrm>
            <a:off x="742950" y="5248275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Authenticated UI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69318BFE-6041-4521-AF0C-9F46A7630B87}"/>
              </a:ext>
            </a:extLst>
          </p:cNvPr>
          <p:cNvSpPr>
            <a:spLocks noGrp="1"/>
          </p:cNvSpPr>
          <p:nvPr/>
        </p:nvSpPr>
        <p:spPr>
          <a:xfrm>
            <a:off x="2762250" y="4972050"/>
            <a:ext cx="0" cy="657225"/>
          </a:xfrm>
          <a:prstGeom prst="line">
            <a:avLst/>
          </a:prstGeom>
          <a:noFill/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5737D1A-493D-45CC-9B55-2A64B1B0CB90}"/>
              </a:ext>
            </a:extLst>
          </p:cNvPr>
          <p:cNvSpPr>
            <a:spLocks noGrp="1"/>
          </p:cNvSpPr>
          <p:nvPr/>
        </p:nvSpPr>
        <p:spPr>
          <a:xfrm>
            <a:off x="2924175" y="49530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F4B942"/>
                </a:solidFill>
              </a:defRPr>
            </a:defPPr>
          </a:lstStyle>
          <a:p>
            <a:pPr algn="l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GO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2E0F1A-586A-4CE1-9A0C-CC8055693338}"/>
              </a:ext>
            </a:extLst>
          </p:cNvPr>
          <p:cNvSpPr>
            <a:spLocks noGrp="1"/>
          </p:cNvSpPr>
          <p:nvPr/>
        </p:nvSpPr>
        <p:spPr>
          <a:xfrm>
            <a:off x="2924175" y="5248275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API + domain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718C4B4A-E37B-4C45-86C3-6E07AB7C21E5}"/>
              </a:ext>
            </a:extLst>
          </p:cNvPr>
          <p:cNvSpPr>
            <a:spLocks noGrp="1"/>
          </p:cNvSpPr>
          <p:nvPr/>
        </p:nvSpPr>
        <p:spPr>
          <a:xfrm>
            <a:off x="4943475" y="4972050"/>
            <a:ext cx="0" cy="657225"/>
          </a:xfrm>
          <a:prstGeom prst="line">
            <a:avLst/>
          </a:prstGeom>
          <a:noFill/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216119-377F-4C6F-A989-4A07262DC179}"/>
              </a:ext>
            </a:extLst>
          </p:cNvPr>
          <p:cNvSpPr>
            <a:spLocks noGrp="1"/>
          </p:cNvSpPr>
          <p:nvPr/>
        </p:nvSpPr>
        <p:spPr>
          <a:xfrm>
            <a:off x="5105400" y="49530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F4B942"/>
                </a:solidFill>
              </a:defRPr>
            </a:defPPr>
          </a:lstStyle>
          <a:p>
            <a:pPr algn="l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POSTGRESQL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2EA138-1174-4111-B7D6-EE3BA20D4BE4}"/>
              </a:ext>
            </a:extLst>
          </p:cNvPr>
          <p:cNvSpPr>
            <a:spLocks noGrp="1"/>
          </p:cNvSpPr>
          <p:nvPr/>
        </p:nvSpPr>
        <p:spPr>
          <a:xfrm>
            <a:off x="5105400" y="5248275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Durable ledger</a:t>
            </a:r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8B9022D0-1DA9-4C10-B58A-13617ED8C5CF}"/>
              </a:ext>
            </a:extLst>
          </p:cNvPr>
          <p:cNvSpPr>
            <a:spLocks noGrp="1"/>
          </p:cNvSpPr>
          <p:nvPr/>
        </p:nvSpPr>
        <p:spPr>
          <a:xfrm>
            <a:off x="7124700" y="4972050"/>
            <a:ext cx="0" cy="657225"/>
          </a:xfrm>
          <a:prstGeom prst="line">
            <a:avLst/>
          </a:prstGeom>
          <a:noFill/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B7B7C5-AF6F-4EE9-BCFA-BF42883E36D8}"/>
              </a:ext>
            </a:extLst>
          </p:cNvPr>
          <p:cNvSpPr>
            <a:spLocks noGrp="1"/>
          </p:cNvSpPr>
          <p:nvPr/>
        </p:nvSpPr>
        <p:spPr>
          <a:xfrm>
            <a:off x="7286625" y="49530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F4B942"/>
                </a:solidFill>
              </a:defRPr>
            </a:defPPr>
          </a:lstStyle>
          <a:p>
            <a:pPr algn="l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PYTORCH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E4ED0D-A55F-4A1E-B8AC-3E98232EC247}"/>
              </a:ext>
            </a:extLst>
          </p:cNvPr>
          <p:cNvSpPr>
            <a:spLocks noGrp="1"/>
          </p:cNvSpPr>
          <p:nvPr/>
        </p:nvSpPr>
        <p:spPr>
          <a:xfrm>
            <a:off x="7286625" y="5248275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FinBERT inference</a:t>
            </a:r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D1BFB535-A998-4298-824C-BAF8E6D0F164}"/>
              </a:ext>
            </a:extLst>
          </p:cNvPr>
          <p:cNvSpPr>
            <a:spLocks noGrp="1"/>
          </p:cNvSpPr>
          <p:nvPr/>
        </p:nvSpPr>
        <p:spPr>
          <a:xfrm>
            <a:off x="9305925" y="4972050"/>
            <a:ext cx="0" cy="657225"/>
          </a:xfrm>
          <a:prstGeom prst="line">
            <a:avLst/>
          </a:prstGeom>
          <a:noFill/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5E19068-2A10-47BA-87EC-BB94E433F2AA}"/>
              </a:ext>
            </a:extLst>
          </p:cNvPr>
          <p:cNvSpPr>
            <a:spLocks noGrp="1"/>
          </p:cNvSpPr>
          <p:nvPr/>
        </p:nvSpPr>
        <p:spPr>
          <a:xfrm>
            <a:off x="9467850" y="49530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F4B942"/>
                </a:solidFill>
              </a:defRPr>
            </a:defPPr>
          </a:lstStyle>
          <a:p>
            <a:pPr algn="l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ALPACA + GDELT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76A2CEF-EA44-4538-8F06-21C9270F010B}"/>
              </a:ext>
            </a:extLst>
          </p:cNvPr>
          <p:cNvSpPr>
            <a:spLocks noGrp="1"/>
          </p:cNvSpPr>
          <p:nvPr/>
        </p:nvSpPr>
        <p:spPr>
          <a:xfrm>
            <a:off x="9467850" y="5248275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Market + news</a:t>
            </a:r>
          </a:p>
        </p:txBody>
      </p:sp>
    </p:spTree>
    <p:extLst>
      <p:ext uri="{BB962C8B-B14F-4D97-AF65-F5344CB8AC3E}">
        <p14:creationId xmlns:p14="http://schemas.microsoft.com/office/powerpoint/2010/main" val="47561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3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DC84C4EE-A59C-13B2-744C-5041869F81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slide-5-number">
            <a:extLst>
              <a:ext uri="{FF2B5EF4-FFF2-40B4-BE49-F238E27FC236}">
                <a16:creationId xmlns:a16="http://schemas.microsoft.com/office/drawing/2014/main" id="{F849EEA9-681B-45E8-A126-D88BAF509DFE}"/>
              </a:ext>
            </a:extLst>
          </p:cNvPr>
          <p:cNvSpPr>
            <a:spLocks noGrp="1"/>
          </p:cNvSpPr>
          <p:nvPr/>
        </p:nvSpPr>
        <p:spPr>
          <a:xfrm>
            <a:off x="514350" y="3143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4B942"/>
                </a:solidFill>
              </a:defRPr>
            </a:defPPr>
          </a:lstStyle>
          <a:p>
            <a:pPr algn="ctr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05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9CBFDEF-39ED-4997-8FF7-23407FCA4A66}"/>
              </a:ext>
            </a:extLst>
          </p:cNvPr>
          <p:cNvSpPr>
            <a:spLocks noGrp="1"/>
          </p:cNvSpPr>
          <p:nvPr/>
        </p:nvSpPr>
        <p:spPr>
          <a:xfrm>
            <a:off x="1000125" y="419100"/>
            <a:ext cx="400050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3" name="slide-5-eyebrow">
            <a:extLst>
              <a:ext uri="{FF2B5EF4-FFF2-40B4-BE49-F238E27FC236}">
                <a16:creationId xmlns:a16="http://schemas.microsoft.com/office/drawing/2014/main" id="{044210D8-C148-4FAF-B6B6-2E12E75E900E}"/>
              </a:ext>
            </a:extLst>
          </p:cNvPr>
          <p:cNvSpPr>
            <a:spLocks noGrp="1"/>
          </p:cNvSpPr>
          <p:nvPr/>
        </p:nvSpPr>
        <p:spPr>
          <a:xfrm>
            <a:off x="1543050" y="295275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1">
                <a:solidFill>
                  <a:srgbClr val="F4B942"/>
                </a:solidFill>
              </a:defRPr>
            </a:defPPr>
          </a:lstStyle>
          <a:p>
            <a:pPr algn="l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KEY RESULTS</a:t>
            </a:r>
          </a:p>
        </p:txBody>
      </p:sp>
      <p:sp>
        <p:nvSpPr>
          <p:cNvPr id="4" name="slide-5-title">
            <a:extLst>
              <a:ext uri="{FF2B5EF4-FFF2-40B4-BE49-F238E27FC236}">
                <a16:creationId xmlns:a16="http://schemas.microsoft.com/office/drawing/2014/main" id="{43F2FFEB-EB3D-48D9-944A-0D35EC509219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700" b="1">
                <a:solidFill>
                  <a:srgbClr val="F7FAFC"/>
                </a:solidFill>
              </a:defRPr>
            </a:defPPr>
          </a:lstStyle>
          <a:p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One account view, refreshed after every trade.</a:t>
            </a:r>
          </a:p>
        </p:txBody>
      </p:sp>
      <p:sp>
        <p:nvSpPr>
          <p:cNvPr id="5" name="slide-5-subtitle">
            <a:extLst>
              <a:ext uri="{FF2B5EF4-FFF2-40B4-BE49-F238E27FC236}">
                <a16:creationId xmlns:a16="http://schemas.microsoft.com/office/drawing/2014/main" id="{894E6D0C-EA33-4664-AB39-812C12783530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000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0">
                <a:solidFill>
                  <a:srgbClr val="AAB7C4"/>
                </a:solidFill>
              </a:defRPr>
            </a:defPPr>
          </a:lstStyle>
          <a:p>
            <a:pPr algn="l">
              <a:defRPr sz="1200" b="0">
                <a:solidFill>
                  <a:srgbClr val="AAB7C4"/>
                </a:solidFill>
              </a:defRPr>
            </a:pPr>
            <a:r>
              <a:rPr sz="1200" b="0">
                <a:solidFill>
                  <a:srgbClr val="AAB7C4"/>
                </a:solidFill>
              </a:rPr>
              <a:t>The implementation now connects real positions to trained headline analysis and the same directional signal used across the workspace.</a:t>
            </a:r>
          </a:p>
        </p:txBody>
      </p:sp>
      <p:sp>
        <p:nvSpPr>
          <p:cNvPr id="6" name="slide-5-footer">
            <a:extLst>
              <a:ext uri="{FF2B5EF4-FFF2-40B4-BE49-F238E27FC236}">
                <a16:creationId xmlns:a16="http://schemas.microsoft.com/office/drawing/2014/main" id="{27B08D2E-882E-4756-A649-97547D849022}"/>
              </a:ext>
            </a:extLst>
          </p:cNvPr>
          <p:cNvSpPr>
            <a:spLocks noGrp="1"/>
          </p:cNvSpPr>
          <p:nvPr/>
        </p:nvSpPr>
        <p:spPr>
          <a:xfrm>
            <a:off x="9315450" y="638175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750" b="1">
                <a:solidFill>
                  <a:srgbClr val="82909E"/>
                </a:solidFill>
              </a:defRPr>
            </a:defPPr>
          </a:lstStyle>
          <a:p>
            <a:pPr algn="r">
              <a:defRPr sz="750" b="1">
                <a:solidFill>
                  <a:srgbClr val="82909E"/>
                </a:solidFill>
              </a:defRPr>
            </a:pPr>
            <a:r>
              <a:rPr sz="750" b="1">
                <a:solidFill>
                  <a:srgbClr val="82909E"/>
                </a:solidFill>
              </a:rPr>
              <a:t>TRADING WENS   •   5 / 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555AB99-8800-405C-8BFB-CD515CD22FAA}"/>
              </a:ext>
            </a:extLst>
          </p:cNvPr>
          <p:cNvSpPr>
            <a:spLocks noGrp="1"/>
          </p:cNvSpPr>
          <p:nvPr/>
        </p:nvSpPr>
        <p:spPr>
          <a:xfrm>
            <a:off x="514350" y="1971675"/>
            <a:ext cx="7143750" cy="2724150"/>
          </a:xfrm>
          <a:prstGeom prst="roundRect">
            <a:avLst>
              <a:gd name="adj" fmla="val 4196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F1156B-0EEC-443E-A14E-D50B714FA8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02453" y="2095500"/>
            <a:ext cx="6367543" cy="2476500"/>
          </a:xfrm>
          <a:prstGeom prst="roundRect">
            <a:avLst>
              <a:gd name="adj" fmla="val 4615"/>
            </a:avLst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B672886-1F8B-4E2A-B8AF-4E629BB5D06A}"/>
              </a:ext>
            </a:extLst>
          </p:cNvPr>
          <p:cNvSpPr>
            <a:spLocks noGrp="1"/>
          </p:cNvSpPr>
          <p:nvPr/>
        </p:nvSpPr>
        <p:spPr>
          <a:xfrm>
            <a:off x="7905750" y="1971675"/>
            <a:ext cx="3771900" cy="2724150"/>
          </a:xfrm>
          <a:prstGeom prst="roundRect">
            <a:avLst>
              <a:gd name="adj" fmla="val 4196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ABA1E0-FA7D-4C7C-89EB-CC3EF48CCF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8404934" y="2095500"/>
            <a:ext cx="2773531" cy="2476500"/>
          </a:xfrm>
          <a:prstGeom prst="roundRect">
            <a:avLst>
              <a:gd name="adj" fmla="val 4615"/>
            </a:avLst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E537E61-6343-496C-8AD9-3BC85A4AC6D7}"/>
              </a:ext>
            </a:extLst>
          </p:cNvPr>
          <p:cNvSpPr>
            <a:spLocks noGrp="1"/>
          </p:cNvSpPr>
          <p:nvPr/>
        </p:nvSpPr>
        <p:spPr>
          <a:xfrm>
            <a:off x="514350" y="4933950"/>
            <a:ext cx="2076450" cy="1066800"/>
          </a:xfrm>
          <a:prstGeom prst="roundRect">
            <a:avLst>
              <a:gd name="adj" fmla="val 10714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FB0C4D-880B-452C-B2B6-9B389F2DA7CC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175" b="1">
                <a:solidFill>
                  <a:srgbClr val="57A5FF"/>
                </a:solidFill>
              </a:defRPr>
            </a:defPPr>
          </a:lstStyle>
          <a:p>
            <a:pPr algn="l">
              <a:defRPr sz="2175" b="1">
                <a:solidFill>
                  <a:srgbClr val="57A5FF"/>
                </a:solidFill>
              </a:defRPr>
            </a:pPr>
            <a:r>
              <a:rPr sz="2175" b="1">
                <a:solidFill>
                  <a:srgbClr val="57A5FF"/>
                </a:solidFill>
              </a:rPr>
              <a:t>30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86C01F-700A-4A54-B4A4-BBFB807EEBC4}"/>
              </a:ext>
            </a:extLst>
          </p:cNvPr>
          <p:cNvSpPr>
            <a:spLocks noGrp="1"/>
          </p:cNvSpPr>
          <p:nvPr/>
        </p:nvSpPr>
        <p:spPr>
          <a:xfrm>
            <a:off x="685800" y="55435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675" b="1">
                <a:solidFill>
                  <a:srgbClr val="AAB7C4"/>
                </a:solidFill>
              </a:defRPr>
            </a:defPPr>
          </a:lstStyle>
          <a:p>
            <a:pPr algn="l">
              <a:defRPr sz="675" b="1">
                <a:solidFill>
                  <a:srgbClr val="AAB7C4"/>
                </a:solidFill>
              </a:defRPr>
            </a:pPr>
            <a:r>
              <a:rPr sz="675" b="1">
                <a:solidFill>
                  <a:srgbClr val="AAB7C4"/>
                </a:solidFill>
              </a:rPr>
              <a:t>MAINTAINED LARGE-CAP STOCKS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832038-8D62-4433-9A9D-CC30C69007CC}"/>
              </a:ext>
            </a:extLst>
          </p:cNvPr>
          <p:cNvSpPr>
            <a:spLocks noGrp="1"/>
          </p:cNvSpPr>
          <p:nvPr/>
        </p:nvSpPr>
        <p:spPr>
          <a:xfrm>
            <a:off x="2762250" y="4933950"/>
            <a:ext cx="2076450" cy="1066800"/>
          </a:xfrm>
          <a:prstGeom prst="roundRect">
            <a:avLst>
              <a:gd name="adj" fmla="val 10714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F69476-FCCF-4D1D-A91E-B3A648C1B50B}"/>
              </a:ext>
            </a:extLst>
          </p:cNvPr>
          <p:cNvSpPr>
            <a:spLocks noGrp="1"/>
          </p:cNvSpPr>
          <p:nvPr/>
        </p:nvSpPr>
        <p:spPr>
          <a:xfrm>
            <a:off x="2933700" y="50482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175" b="1">
                <a:solidFill>
                  <a:srgbClr val="2FD07D"/>
                </a:solidFill>
              </a:defRPr>
            </a:defPPr>
          </a:lstStyle>
          <a:p>
            <a:pPr algn="l">
              <a:defRPr sz="2175" b="1">
                <a:solidFill>
                  <a:srgbClr val="2FD07D"/>
                </a:solidFill>
              </a:defRPr>
            </a:pPr>
            <a:r>
              <a:rPr sz="2175" b="1">
                <a:solidFill>
                  <a:srgbClr val="2FD07D"/>
                </a:solidFill>
              </a:rPr>
              <a:t>50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596A48-22D8-4681-9985-FC35EFDB8C9D}"/>
              </a:ext>
            </a:extLst>
          </p:cNvPr>
          <p:cNvSpPr>
            <a:spLocks noGrp="1"/>
          </p:cNvSpPr>
          <p:nvPr/>
        </p:nvSpPr>
        <p:spPr>
          <a:xfrm>
            <a:off x="2933700" y="55435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675" b="1">
                <a:solidFill>
                  <a:srgbClr val="AAB7C4"/>
                </a:solidFill>
              </a:defRPr>
            </a:defPPr>
          </a:lstStyle>
          <a:p>
            <a:pPr algn="l">
              <a:defRPr sz="675" b="1">
                <a:solidFill>
                  <a:srgbClr val="AAB7C4"/>
                </a:solidFill>
              </a:defRPr>
            </a:pPr>
            <a:r>
              <a:rPr sz="675" b="1">
                <a:solidFill>
                  <a:srgbClr val="AAB7C4"/>
                </a:solidFill>
              </a:rPr>
              <a:t>MAXIMUM AGGREGATED ARTICLES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34F674F-C035-4ACB-B98E-9B75C1A9B95A}"/>
              </a:ext>
            </a:extLst>
          </p:cNvPr>
          <p:cNvSpPr>
            <a:spLocks noGrp="1"/>
          </p:cNvSpPr>
          <p:nvPr/>
        </p:nvSpPr>
        <p:spPr>
          <a:xfrm>
            <a:off x="5010150" y="4933950"/>
            <a:ext cx="2076450" cy="1066800"/>
          </a:xfrm>
          <a:prstGeom prst="roundRect">
            <a:avLst>
              <a:gd name="adj" fmla="val 10714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89A1D8-EED9-40C3-8776-23F4AA13A202}"/>
              </a:ext>
            </a:extLst>
          </p:cNvPr>
          <p:cNvSpPr>
            <a:spLocks noGrp="1"/>
          </p:cNvSpPr>
          <p:nvPr/>
        </p:nvSpPr>
        <p:spPr>
          <a:xfrm>
            <a:off x="5181600" y="50482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175" b="1">
                <a:solidFill>
                  <a:srgbClr val="F4B942"/>
                </a:solidFill>
              </a:defRPr>
            </a:defPPr>
          </a:lstStyle>
          <a:p>
            <a:pPr algn="l">
              <a:defRPr sz="2175" b="1">
                <a:solidFill>
                  <a:srgbClr val="F4B942"/>
                </a:solidFill>
              </a:defRPr>
            </a:pPr>
            <a:r>
              <a:rPr sz="2175" b="1">
                <a:solidFill>
                  <a:srgbClr val="F4B942"/>
                </a:solidFill>
              </a:rPr>
              <a:t>16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3C0C8C-8BF5-4257-8C87-821AE89A8309}"/>
              </a:ext>
            </a:extLst>
          </p:cNvPr>
          <p:cNvSpPr>
            <a:spLocks noGrp="1"/>
          </p:cNvSpPr>
          <p:nvPr/>
        </p:nvSpPr>
        <p:spPr>
          <a:xfrm>
            <a:off x="5181600" y="55435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675" b="1">
                <a:solidFill>
                  <a:srgbClr val="AAB7C4"/>
                </a:solidFill>
              </a:defRPr>
            </a:defPPr>
          </a:lstStyle>
          <a:p>
            <a:pPr algn="l">
              <a:defRPr sz="675" b="1">
                <a:solidFill>
                  <a:srgbClr val="AAB7C4"/>
                </a:solidFill>
              </a:defRPr>
            </a:pPr>
            <a:r>
              <a:rPr sz="675" b="1">
                <a:solidFill>
                  <a:srgbClr val="AAB7C4"/>
                </a:solidFill>
              </a:rPr>
              <a:t>HEADLINES PER MODEL BATCH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9BA9E18-A506-4A41-8935-967633F2D252}"/>
              </a:ext>
            </a:extLst>
          </p:cNvPr>
          <p:cNvSpPr>
            <a:spLocks noGrp="1"/>
          </p:cNvSpPr>
          <p:nvPr/>
        </p:nvSpPr>
        <p:spPr>
          <a:xfrm>
            <a:off x="7258050" y="4933950"/>
            <a:ext cx="2076450" cy="1066800"/>
          </a:xfrm>
          <a:prstGeom prst="roundRect">
            <a:avLst>
              <a:gd name="adj" fmla="val 10714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046C69-9E54-4C0B-920F-6831C0200E25}"/>
              </a:ext>
            </a:extLst>
          </p:cNvPr>
          <p:cNvSpPr>
            <a:spLocks noGrp="1"/>
          </p:cNvSpPr>
          <p:nvPr/>
        </p:nvSpPr>
        <p:spPr>
          <a:xfrm>
            <a:off x="7429500" y="50482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175" b="1">
                <a:solidFill>
                  <a:srgbClr val="2FD07D"/>
                </a:solidFill>
              </a:defRPr>
            </a:defPPr>
          </a:lstStyle>
          <a:p>
            <a:pPr algn="l">
              <a:defRPr sz="2175" b="1">
                <a:solidFill>
                  <a:srgbClr val="2FD07D"/>
                </a:solidFill>
              </a:defRPr>
            </a:pPr>
            <a:r>
              <a:rPr sz="2175" b="1">
                <a:solidFill>
                  <a:srgbClr val="2FD07D"/>
                </a:solidFill>
              </a:rPr>
              <a:t>27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523528-A1AF-4C5B-92B0-1D0783484DB1}"/>
              </a:ext>
            </a:extLst>
          </p:cNvPr>
          <p:cNvSpPr>
            <a:spLocks noGrp="1"/>
          </p:cNvSpPr>
          <p:nvPr/>
        </p:nvSpPr>
        <p:spPr>
          <a:xfrm>
            <a:off x="7429500" y="55435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675" b="1">
                <a:solidFill>
                  <a:srgbClr val="AAB7C4"/>
                </a:solidFill>
              </a:defRPr>
            </a:defPPr>
          </a:lstStyle>
          <a:p>
            <a:pPr algn="l">
              <a:defRPr sz="675" b="1">
                <a:solidFill>
                  <a:srgbClr val="AAB7C4"/>
                </a:solidFill>
              </a:defRPr>
            </a:pPr>
            <a:r>
              <a:rPr sz="675" b="1">
                <a:solidFill>
                  <a:srgbClr val="AAB7C4"/>
                </a:solidFill>
              </a:rPr>
              <a:t>FRONTEND TESTS PASSING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8BC8B9C-DFF1-4676-9365-7E911B0D65AC}"/>
              </a:ext>
            </a:extLst>
          </p:cNvPr>
          <p:cNvSpPr>
            <a:spLocks noGrp="1"/>
          </p:cNvSpPr>
          <p:nvPr/>
        </p:nvSpPr>
        <p:spPr>
          <a:xfrm>
            <a:off x="9505950" y="4933950"/>
            <a:ext cx="2076450" cy="1066800"/>
          </a:xfrm>
          <a:prstGeom prst="roundRect">
            <a:avLst>
              <a:gd name="adj" fmla="val 10714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4F0184A-CFAF-44D8-9482-E7B04E995045}"/>
              </a:ext>
            </a:extLst>
          </p:cNvPr>
          <p:cNvSpPr>
            <a:spLocks noGrp="1"/>
          </p:cNvSpPr>
          <p:nvPr/>
        </p:nvSpPr>
        <p:spPr>
          <a:xfrm>
            <a:off x="9677400" y="50482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175" b="1">
                <a:solidFill>
                  <a:srgbClr val="FF5A67"/>
                </a:solidFill>
              </a:defRPr>
            </a:defPPr>
          </a:lstStyle>
          <a:p>
            <a:pPr algn="l">
              <a:defRPr sz="2175" b="1">
                <a:solidFill>
                  <a:srgbClr val="FF5A67"/>
                </a:solidFill>
              </a:defRPr>
            </a:pPr>
            <a:r>
              <a:rPr sz="2175" b="1">
                <a:solidFill>
                  <a:srgbClr val="FF5A67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35F8D52-0911-4466-B3CF-665D06E7B314}"/>
              </a:ext>
            </a:extLst>
          </p:cNvPr>
          <p:cNvSpPr>
            <a:spLocks noGrp="1"/>
          </p:cNvSpPr>
          <p:nvPr/>
        </p:nvSpPr>
        <p:spPr>
          <a:xfrm>
            <a:off x="9677400" y="55435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675" b="1">
                <a:solidFill>
                  <a:srgbClr val="AAB7C4"/>
                </a:solidFill>
              </a:defRPr>
            </a:defPPr>
          </a:lstStyle>
          <a:p>
            <a:pPr algn="l">
              <a:defRPr sz="675" b="1">
                <a:solidFill>
                  <a:srgbClr val="AAB7C4"/>
                </a:solidFill>
              </a:defRPr>
            </a:pPr>
            <a:r>
              <a:rPr sz="675" b="1">
                <a:solidFill>
                  <a:srgbClr val="AAB7C4"/>
                </a:solidFill>
              </a:rPr>
              <a:t>SHARED MOVEMENT PREDICTION</a:t>
            </a:r>
          </a:p>
        </p:txBody>
      </p:sp>
    </p:spTree>
    <p:extLst>
      <p:ext uri="{BB962C8B-B14F-4D97-AF65-F5344CB8AC3E}">
        <p14:creationId xmlns:p14="http://schemas.microsoft.com/office/powerpoint/2010/main" val="1374339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9A17750A-2631-2635-50E9-CB4D0231ED8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slide-6-number">
            <a:extLst>
              <a:ext uri="{FF2B5EF4-FFF2-40B4-BE49-F238E27FC236}">
                <a16:creationId xmlns:a16="http://schemas.microsoft.com/office/drawing/2014/main" id="{D97502E9-FD0A-4F25-9FAD-DEC991C315F6}"/>
              </a:ext>
            </a:extLst>
          </p:cNvPr>
          <p:cNvSpPr>
            <a:spLocks noGrp="1"/>
          </p:cNvSpPr>
          <p:nvPr/>
        </p:nvSpPr>
        <p:spPr>
          <a:xfrm>
            <a:off x="514350" y="3143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4B942"/>
                </a:solidFill>
              </a:defRPr>
            </a:defPPr>
          </a:lstStyle>
          <a:p>
            <a:pPr algn="ctr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06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3E95D12-413E-4409-A077-37555E08C3AD}"/>
              </a:ext>
            </a:extLst>
          </p:cNvPr>
          <p:cNvSpPr>
            <a:spLocks noGrp="1"/>
          </p:cNvSpPr>
          <p:nvPr/>
        </p:nvSpPr>
        <p:spPr>
          <a:xfrm>
            <a:off x="1000125" y="419100"/>
            <a:ext cx="400050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3" name="slide-6-eyebrow">
            <a:extLst>
              <a:ext uri="{FF2B5EF4-FFF2-40B4-BE49-F238E27FC236}">
                <a16:creationId xmlns:a16="http://schemas.microsoft.com/office/drawing/2014/main" id="{3F335C7C-2CC5-44BE-AC98-927EDAA5DBE7}"/>
              </a:ext>
            </a:extLst>
          </p:cNvPr>
          <p:cNvSpPr>
            <a:spLocks noGrp="1"/>
          </p:cNvSpPr>
          <p:nvPr/>
        </p:nvSpPr>
        <p:spPr>
          <a:xfrm>
            <a:off x="1543050" y="295275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1">
                <a:solidFill>
                  <a:srgbClr val="F4B942"/>
                </a:solidFill>
              </a:defRPr>
            </a:defPPr>
          </a:lstStyle>
          <a:p>
            <a:pPr algn="l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DOMAIN IMPACT</a:t>
            </a:r>
          </a:p>
        </p:txBody>
      </p:sp>
      <p:sp>
        <p:nvSpPr>
          <p:cNvPr id="4" name="slide-6-title">
            <a:extLst>
              <a:ext uri="{FF2B5EF4-FFF2-40B4-BE49-F238E27FC236}">
                <a16:creationId xmlns:a16="http://schemas.microsoft.com/office/drawing/2014/main" id="{B3461C6D-0311-4467-B522-1DE2F95B85A3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700" b="1">
                <a:solidFill>
                  <a:srgbClr val="F7FAFC"/>
                </a:solidFill>
              </a:defRPr>
            </a:defPPr>
          </a:lstStyle>
          <a:p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A clearer bridge from event intelligence to exposure.</a:t>
            </a:r>
          </a:p>
        </p:txBody>
      </p:sp>
      <p:sp>
        <p:nvSpPr>
          <p:cNvPr id="5" name="slide-6-subtitle">
            <a:extLst>
              <a:ext uri="{FF2B5EF4-FFF2-40B4-BE49-F238E27FC236}">
                <a16:creationId xmlns:a16="http://schemas.microsoft.com/office/drawing/2014/main" id="{C938EC13-B444-4F8C-AB86-6C932952E94C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000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0">
                <a:solidFill>
                  <a:srgbClr val="AAB7C4"/>
                </a:solidFill>
              </a:defRPr>
            </a:defPPr>
          </a:lstStyle>
          <a:p>
            <a:pPr algn="l">
              <a:defRPr sz="1200" b="0">
                <a:solidFill>
                  <a:srgbClr val="AAB7C4"/>
                </a:solidFill>
              </a:defRPr>
            </a:pPr>
            <a:r>
              <a:rPr sz="1200" b="0">
                <a:solidFill>
                  <a:srgbClr val="AAB7C4"/>
                </a:solidFill>
              </a:rPr>
              <a:t>For financial research teams, speed matters only when the evidence and the affected position remain visible together.</a:t>
            </a:r>
          </a:p>
        </p:txBody>
      </p:sp>
      <p:sp>
        <p:nvSpPr>
          <p:cNvPr id="6" name="slide-6-footer">
            <a:extLst>
              <a:ext uri="{FF2B5EF4-FFF2-40B4-BE49-F238E27FC236}">
                <a16:creationId xmlns:a16="http://schemas.microsoft.com/office/drawing/2014/main" id="{4A72A963-BA02-4FE4-8CCE-54BE305271FB}"/>
              </a:ext>
            </a:extLst>
          </p:cNvPr>
          <p:cNvSpPr>
            <a:spLocks noGrp="1"/>
          </p:cNvSpPr>
          <p:nvPr/>
        </p:nvSpPr>
        <p:spPr>
          <a:xfrm>
            <a:off x="9315450" y="638175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750" b="1">
                <a:solidFill>
                  <a:srgbClr val="82909E"/>
                </a:solidFill>
              </a:defRPr>
            </a:defPPr>
          </a:lstStyle>
          <a:p>
            <a:pPr algn="r">
              <a:defRPr sz="750" b="1">
                <a:solidFill>
                  <a:srgbClr val="82909E"/>
                </a:solidFill>
              </a:defRPr>
            </a:pPr>
            <a:r>
              <a:rPr sz="750" b="1">
                <a:solidFill>
                  <a:srgbClr val="82909E"/>
                </a:solidFill>
              </a:rPr>
              <a:t>TRADING WENS   •   6 / 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FCBFAF-1C0B-4A31-90A4-16B187F70237}"/>
              </a:ext>
            </a:extLst>
          </p:cNvPr>
          <p:cNvSpPr>
            <a:spLocks noGrp="1"/>
          </p:cNvSpPr>
          <p:nvPr/>
        </p:nvSpPr>
        <p:spPr>
          <a:xfrm>
            <a:off x="514350" y="1981200"/>
            <a:ext cx="6153150" cy="3905250"/>
          </a:xfrm>
          <a:prstGeom prst="roundRect">
            <a:avLst>
              <a:gd name="adj" fmla="val 2927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393F75-D562-49FB-8BC9-50B807793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47700" y="2389963"/>
            <a:ext cx="5886450" cy="3087724"/>
          </a:xfrm>
          <a:prstGeom prst="roundRect">
            <a:avLst>
              <a:gd name="adj" fmla="val 3141"/>
            </a:avLst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CB697C-F0C6-4A33-BE3F-CAD898B56895}"/>
              </a:ext>
            </a:extLst>
          </p:cNvPr>
          <p:cNvSpPr>
            <a:spLocks noGrp="1"/>
          </p:cNvSpPr>
          <p:nvPr/>
        </p:nvSpPr>
        <p:spPr>
          <a:xfrm>
            <a:off x="6934200" y="1981200"/>
            <a:ext cx="4743450" cy="3905250"/>
          </a:xfrm>
          <a:prstGeom prst="roundRect">
            <a:avLst>
              <a:gd name="adj" fmla="val 2927"/>
            </a:avLst>
          </a:prstGeom>
          <a:solidFill>
            <a:srgbClr val="071019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778F46-0FD4-4D6F-8362-BC2FB9ED6A6A}"/>
              </a:ext>
            </a:extLst>
          </p:cNvPr>
          <p:cNvSpPr>
            <a:spLocks noGrp="1"/>
          </p:cNvSpPr>
          <p:nvPr/>
        </p:nvSpPr>
        <p:spPr>
          <a:xfrm>
            <a:off x="7219950" y="222885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F4B942"/>
                </a:solidFill>
              </a:defRPr>
            </a:defPPr>
          </a:lstStyle>
          <a:p>
            <a:pPr algn="l">
              <a:defRPr sz="825" b="1">
                <a:solidFill>
                  <a:srgbClr val="F4B942"/>
                </a:solidFill>
              </a:defRPr>
            </a:pPr>
            <a:r>
              <a:rPr sz="825" b="1">
                <a:solidFill>
                  <a:srgbClr val="F4B942"/>
                </a:solidFill>
              </a:rPr>
              <a:t>WHY THIS MATTERS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38B850-7907-4A8B-8904-AA018B17B94E}"/>
              </a:ext>
            </a:extLst>
          </p:cNvPr>
          <p:cNvSpPr>
            <a:spLocks noGrp="1"/>
          </p:cNvSpPr>
          <p:nvPr/>
        </p:nvSpPr>
        <p:spPr>
          <a:xfrm>
            <a:off x="7219950" y="2695575"/>
            <a:ext cx="123825" cy="123825"/>
          </a:xfrm>
          <a:prstGeom prst="ellipse">
            <a:avLst/>
          </a:prstGeom>
          <a:solidFill>
            <a:srgbClr val="57A5FF"/>
          </a:solidFill>
          <a:ln w="0">
            <a:solidFill>
              <a:srgbClr val="57A5FF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EF6591-33FE-4BC6-98C1-16AD1479B58C}"/>
              </a:ext>
            </a:extLst>
          </p:cNvPr>
          <p:cNvSpPr>
            <a:spLocks noGrp="1"/>
          </p:cNvSpPr>
          <p:nvPr/>
        </p:nvSpPr>
        <p:spPr>
          <a:xfrm>
            <a:off x="7477125" y="263842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1">
                <a:solidFill>
                  <a:srgbClr val="F7FAFC"/>
                </a:solidFill>
              </a:defRPr>
            </a:defPPr>
          </a:lstStyle>
          <a:p>
            <a:pPr algn="l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Surveillance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0E6058-20BB-43D8-8429-1D1CA27E3784}"/>
              </a:ext>
            </a:extLst>
          </p:cNvPr>
          <p:cNvSpPr>
            <a:spLocks noGrp="1"/>
          </p:cNvSpPr>
          <p:nvPr/>
        </p:nvSpPr>
        <p:spPr>
          <a:xfrm>
            <a:off x="7477125" y="2924175"/>
            <a:ext cx="3790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Rank issuer events by evidence, direction, and exposure instead of headline volume alone.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DB6F639-C4E3-4AE4-8891-F1E11B63C395}"/>
              </a:ext>
            </a:extLst>
          </p:cNvPr>
          <p:cNvSpPr>
            <a:spLocks noGrp="1"/>
          </p:cNvSpPr>
          <p:nvPr/>
        </p:nvSpPr>
        <p:spPr>
          <a:xfrm>
            <a:off x="7219950" y="3533775"/>
            <a:ext cx="123825" cy="123825"/>
          </a:xfrm>
          <a:prstGeom prst="ellipse">
            <a:avLst/>
          </a:prstGeom>
          <a:solidFill>
            <a:srgbClr val="2FD07D"/>
          </a:solidFill>
          <a:ln w="0">
            <a:solidFill>
              <a:srgbClr val="2FD07D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392B2C-D65E-476D-9957-E781CA449DD6}"/>
              </a:ext>
            </a:extLst>
          </p:cNvPr>
          <p:cNvSpPr>
            <a:spLocks noGrp="1"/>
          </p:cNvSpPr>
          <p:nvPr/>
        </p:nvSpPr>
        <p:spPr>
          <a:xfrm>
            <a:off x="7477125" y="347662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1">
                <a:solidFill>
                  <a:srgbClr val="F7FAFC"/>
                </a:solidFill>
              </a:defRPr>
            </a:defPPr>
          </a:lstStyle>
          <a:p>
            <a:pPr algn="l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Explainability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C9D88A-240B-4A28-ADFB-1988C0C6AED0}"/>
              </a:ext>
            </a:extLst>
          </p:cNvPr>
          <p:cNvSpPr>
            <a:spLocks noGrp="1"/>
          </p:cNvSpPr>
          <p:nvPr/>
        </p:nvSpPr>
        <p:spPr>
          <a:xfrm>
            <a:off x="7477125" y="3762375"/>
            <a:ext cx="3790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Keep source URLs, model identity, confidence, current mark, and position side in the review path.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112BBDC-678C-4321-84AA-08C831B69F2E}"/>
              </a:ext>
            </a:extLst>
          </p:cNvPr>
          <p:cNvSpPr>
            <a:spLocks noGrp="1"/>
          </p:cNvSpPr>
          <p:nvPr/>
        </p:nvSpPr>
        <p:spPr>
          <a:xfrm>
            <a:off x="7219950" y="4371975"/>
            <a:ext cx="123825" cy="123825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DC115B-7D6F-489B-B8B7-FBEB8566CFC3}"/>
              </a:ext>
            </a:extLst>
          </p:cNvPr>
          <p:cNvSpPr>
            <a:spLocks noGrp="1"/>
          </p:cNvSpPr>
          <p:nvPr/>
        </p:nvSpPr>
        <p:spPr>
          <a:xfrm>
            <a:off x="7477125" y="431482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1">
                <a:solidFill>
                  <a:srgbClr val="F7FAFC"/>
                </a:solidFill>
              </a:defRPr>
            </a:defPPr>
          </a:lstStyle>
          <a:p>
            <a:pPr algn="l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Portfolio context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0CDA4C-0310-4E47-B9A3-233953E78AF1}"/>
              </a:ext>
            </a:extLst>
          </p:cNvPr>
          <p:cNvSpPr>
            <a:spLocks noGrp="1"/>
          </p:cNvSpPr>
          <p:nvPr/>
        </p:nvSpPr>
        <p:spPr>
          <a:xfrm>
            <a:off x="7477125" y="4600575"/>
            <a:ext cx="3790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Aggregate individual adverse exposure into one interpretable portfolio signal without losing symbol-level detail.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E04545-C7E6-4D9B-8BB1-0012B3419BF9}"/>
              </a:ext>
            </a:extLst>
          </p:cNvPr>
          <p:cNvSpPr>
            <a:spLocks noGrp="1"/>
          </p:cNvSpPr>
          <p:nvPr/>
        </p:nvSpPr>
        <p:spPr>
          <a:xfrm>
            <a:off x="7219950" y="5334000"/>
            <a:ext cx="3981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75" b="1">
                <a:solidFill>
                  <a:srgbClr val="DDE7EF"/>
                </a:solidFill>
              </a:defRPr>
            </a:defPPr>
          </a:lstStyle>
          <a:p>
            <a:pPr algn="l">
              <a:defRPr sz="975" b="1">
                <a:solidFill>
                  <a:srgbClr val="DDE7EF"/>
                </a:solidFill>
              </a:defRPr>
            </a:pPr>
            <a:r>
              <a:rPr sz="975" b="1">
                <a:solidFill>
                  <a:srgbClr val="DDE7EF"/>
                </a:solidFill>
              </a:rPr>
              <a:t>Extendable to issuer monitoring, credit events, and index constituents</a:t>
            </a:r>
          </a:p>
        </p:txBody>
      </p:sp>
    </p:spTree>
    <p:extLst>
      <p:ext uri="{BB962C8B-B14F-4D97-AF65-F5344CB8AC3E}">
        <p14:creationId xmlns:p14="http://schemas.microsoft.com/office/powerpoint/2010/main" val="65202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Technology Background Video">
            <a:hlinkClick action="ppaction://media"/>
            <a:extLst>
              <a:ext uri="{FF2B5EF4-FFF2-40B4-BE49-F238E27FC236}">
                <a16:creationId xmlns:a16="http://schemas.microsoft.com/office/drawing/2014/main" id="{A2BD031E-70C3-C79B-2EE6-3918AB3B297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" name="slide-7-number">
            <a:extLst>
              <a:ext uri="{FF2B5EF4-FFF2-40B4-BE49-F238E27FC236}">
                <a16:creationId xmlns:a16="http://schemas.microsoft.com/office/drawing/2014/main" id="{105ACBC5-3E7A-4CAF-A179-67500933B072}"/>
              </a:ext>
            </a:extLst>
          </p:cNvPr>
          <p:cNvSpPr>
            <a:spLocks noGrp="1"/>
          </p:cNvSpPr>
          <p:nvPr/>
        </p:nvSpPr>
        <p:spPr>
          <a:xfrm>
            <a:off x="514350" y="3143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00" b="1">
                <a:solidFill>
                  <a:srgbClr val="F4B942"/>
                </a:solidFill>
              </a:defRPr>
            </a:defPPr>
          </a:lstStyle>
          <a:p>
            <a:pPr algn="ctr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07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32EABC80-47BA-493D-A00E-4A4410F4EC03}"/>
              </a:ext>
            </a:extLst>
          </p:cNvPr>
          <p:cNvSpPr>
            <a:spLocks noGrp="1"/>
          </p:cNvSpPr>
          <p:nvPr/>
        </p:nvSpPr>
        <p:spPr>
          <a:xfrm>
            <a:off x="1000125" y="419100"/>
            <a:ext cx="400050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3" name="slide-7-eyebrow">
            <a:extLst>
              <a:ext uri="{FF2B5EF4-FFF2-40B4-BE49-F238E27FC236}">
                <a16:creationId xmlns:a16="http://schemas.microsoft.com/office/drawing/2014/main" id="{1E8E0C4A-6BAB-4F31-BEF2-D9DC30436D80}"/>
              </a:ext>
            </a:extLst>
          </p:cNvPr>
          <p:cNvSpPr>
            <a:spLocks noGrp="1"/>
          </p:cNvSpPr>
          <p:nvPr/>
        </p:nvSpPr>
        <p:spPr>
          <a:xfrm>
            <a:off x="1543050" y="295275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900" b="1">
                <a:solidFill>
                  <a:srgbClr val="F4B942"/>
                </a:solidFill>
              </a:defRPr>
            </a:defPPr>
          </a:lstStyle>
          <a:p>
            <a:pPr algn="l">
              <a:defRPr sz="900" b="1">
                <a:solidFill>
                  <a:srgbClr val="F4B942"/>
                </a:solidFill>
              </a:defRPr>
            </a:pPr>
            <a:r>
              <a:rPr sz="900" b="1">
                <a:solidFill>
                  <a:srgbClr val="F4B942"/>
                </a:solidFill>
              </a:rPr>
              <a:t>LIMITATIONS AND NEXT STEPS</a:t>
            </a:r>
          </a:p>
        </p:txBody>
      </p:sp>
      <p:sp>
        <p:nvSpPr>
          <p:cNvPr id="4" name="slide-7-title">
            <a:extLst>
              <a:ext uri="{FF2B5EF4-FFF2-40B4-BE49-F238E27FC236}">
                <a16:creationId xmlns:a16="http://schemas.microsoft.com/office/drawing/2014/main" id="{53EF33C9-52C8-42C8-A6EF-C7094272E52F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700" b="1">
                <a:solidFill>
                  <a:srgbClr val="F7FAFC"/>
                </a:solidFill>
              </a:defRPr>
            </a:defPPr>
          </a:lstStyle>
          <a:p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Keep the signal honest. Make the evidence stronger.</a:t>
            </a:r>
          </a:p>
        </p:txBody>
      </p:sp>
      <p:sp>
        <p:nvSpPr>
          <p:cNvPr id="5" name="slide-7-subtitle">
            <a:extLst>
              <a:ext uri="{FF2B5EF4-FFF2-40B4-BE49-F238E27FC236}">
                <a16:creationId xmlns:a16="http://schemas.microsoft.com/office/drawing/2014/main" id="{FD7A9F83-F64B-4877-B94A-FCCC65126A91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000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0">
                <a:solidFill>
                  <a:srgbClr val="AAB7C4"/>
                </a:solidFill>
              </a:defRPr>
            </a:defPPr>
          </a:lstStyle>
          <a:p>
            <a:pPr algn="l">
              <a:defRPr sz="1200" b="0">
                <a:solidFill>
                  <a:srgbClr val="AAB7C4"/>
                </a:solidFill>
              </a:defRPr>
            </a:pPr>
            <a:r>
              <a:rPr sz="1200" b="0">
                <a:solidFill>
                  <a:srgbClr val="AAB7C4"/>
                </a:solidFill>
              </a:rPr>
              <a:t>The current system is a working decision-support prototype. The next phase is disciplined validation, not a larger promise.</a:t>
            </a:r>
          </a:p>
        </p:txBody>
      </p:sp>
      <p:sp>
        <p:nvSpPr>
          <p:cNvPr id="6" name="slide-7-footer">
            <a:extLst>
              <a:ext uri="{FF2B5EF4-FFF2-40B4-BE49-F238E27FC236}">
                <a16:creationId xmlns:a16="http://schemas.microsoft.com/office/drawing/2014/main" id="{0FDC870A-4836-42FD-8EDC-68A49A0C4E54}"/>
              </a:ext>
            </a:extLst>
          </p:cNvPr>
          <p:cNvSpPr>
            <a:spLocks noGrp="1"/>
          </p:cNvSpPr>
          <p:nvPr/>
        </p:nvSpPr>
        <p:spPr>
          <a:xfrm>
            <a:off x="9315450" y="6381750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750" b="1">
                <a:solidFill>
                  <a:srgbClr val="82909E"/>
                </a:solidFill>
              </a:defRPr>
            </a:defPPr>
          </a:lstStyle>
          <a:p>
            <a:pPr algn="r">
              <a:defRPr sz="750" b="1">
                <a:solidFill>
                  <a:srgbClr val="82909E"/>
                </a:solidFill>
              </a:defRPr>
            </a:pPr>
            <a:r>
              <a:rPr sz="750" b="1">
                <a:solidFill>
                  <a:srgbClr val="82909E"/>
                </a:solidFill>
              </a:rPr>
              <a:t>TRADING WENS   •   7 / 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430A0FB-4F42-47F4-ABA1-DB7A4582A8D0}"/>
              </a:ext>
            </a:extLst>
          </p:cNvPr>
          <p:cNvSpPr>
            <a:spLocks noGrp="1"/>
          </p:cNvSpPr>
          <p:nvPr/>
        </p:nvSpPr>
        <p:spPr>
          <a:xfrm>
            <a:off x="514350" y="2009775"/>
            <a:ext cx="4572000" cy="3495675"/>
          </a:xfrm>
          <a:prstGeom prst="roundRect">
            <a:avLst>
              <a:gd name="adj" fmla="val 4360"/>
            </a:avLst>
          </a:prstGeom>
          <a:solidFill>
            <a:srgbClr val="071019">
              <a:alpha val="9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DB9F18-CC2A-48E4-9AFE-B32A1B9D77AC}"/>
              </a:ext>
            </a:extLst>
          </p:cNvPr>
          <p:cNvSpPr>
            <a:spLocks noGrp="1"/>
          </p:cNvSpPr>
          <p:nvPr/>
        </p:nvSpPr>
        <p:spPr>
          <a:xfrm>
            <a:off x="800100" y="22669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FF5A67"/>
                </a:solidFill>
              </a:defRPr>
            </a:defPPr>
          </a:lstStyle>
          <a:p>
            <a:pPr algn="l">
              <a:defRPr sz="825" b="1">
                <a:solidFill>
                  <a:srgbClr val="FF5A67"/>
                </a:solidFill>
              </a:defRPr>
            </a:pPr>
            <a:r>
              <a:rPr sz="825" b="1">
                <a:solidFill>
                  <a:srgbClr val="FF5A67"/>
                </a:solidFill>
              </a:rPr>
              <a:t>CURRENT LIMITS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EC82149-9523-4B81-B1C0-606FF941CD27}"/>
              </a:ext>
            </a:extLst>
          </p:cNvPr>
          <p:cNvSpPr>
            <a:spLocks noGrp="1"/>
          </p:cNvSpPr>
          <p:nvPr/>
        </p:nvSpPr>
        <p:spPr>
          <a:xfrm>
            <a:off x="800100" y="2705100"/>
            <a:ext cx="123825" cy="123825"/>
          </a:xfrm>
          <a:prstGeom prst="ellipse">
            <a:avLst/>
          </a:prstGeom>
          <a:solidFill>
            <a:srgbClr val="FF5A67"/>
          </a:solidFill>
          <a:ln w="0">
            <a:solidFill>
              <a:srgbClr val="FF5A67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3D704E-A343-4ED1-A5B1-58B1C8399C92}"/>
              </a:ext>
            </a:extLst>
          </p:cNvPr>
          <p:cNvSpPr>
            <a:spLocks noGrp="1"/>
          </p:cNvSpPr>
          <p:nvPr/>
        </p:nvSpPr>
        <p:spPr>
          <a:xfrm>
            <a:off x="1057275" y="2647950"/>
            <a:ext cx="3552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1">
                <a:solidFill>
                  <a:srgbClr val="F7FAFC"/>
                </a:solidFill>
              </a:defRPr>
            </a:defPPr>
          </a:lstStyle>
          <a:p>
            <a:pPr algn="l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No price guarantee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24E4EA-166B-4489-95A2-31C32489B906}"/>
              </a:ext>
            </a:extLst>
          </p:cNvPr>
          <p:cNvSpPr>
            <a:spLocks noGrp="1"/>
          </p:cNvSpPr>
          <p:nvPr/>
        </p:nvSpPr>
        <p:spPr>
          <a:xfrm>
            <a:off x="1057275" y="2933700"/>
            <a:ext cx="3552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Direction is a thresholded signal, not a forecast contract or investment recommendation.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316A3AD-F3B8-4870-AC09-E9DA51DD6EE8}"/>
              </a:ext>
            </a:extLst>
          </p:cNvPr>
          <p:cNvSpPr>
            <a:spLocks noGrp="1"/>
          </p:cNvSpPr>
          <p:nvPr/>
        </p:nvSpPr>
        <p:spPr>
          <a:xfrm>
            <a:off x="800100" y="3581400"/>
            <a:ext cx="123825" cy="123825"/>
          </a:xfrm>
          <a:prstGeom prst="ellipse">
            <a:avLst/>
          </a:prstGeom>
          <a:solidFill>
            <a:srgbClr val="FF5A67"/>
          </a:solidFill>
          <a:ln w="0">
            <a:solidFill>
              <a:srgbClr val="FF5A67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D7C068-7EA2-4CEC-8095-4DD4F1E2B1FB}"/>
              </a:ext>
            </a:extLst>
          </p:cNvPr>
          <p:cNvSpPr>
            <a:spLocks noGrp="1"/>
          </p:cNvSpPr>
          <p:nvPr/>
        </p:nvSpPr>
        <p:spPr>
          <a:xfrm>
            <a:off x="1057275" y="3524250"/>
            <a:ext cx="3552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1">
                <a:solidFill>
                  <a:srgbClr val="F7FAFC"/>
                </a:solidFill>
              </a:defRPr>
            </a:defPPr>
          </a:lstStyle>
          <a:p>
            <a:pPr algn="l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Provider dependence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F28A2E-2AB5-40A5-BA1D-EC708644E2A9}"/>
              </a:ext>
            </a:extLst>
          </p:cNvPr>
          <p:cNvSpPr>
            <a:spLocks noGrp="1"/>
          </p:cNvSpPr>
          <p:nvPr/>
        </p:nvSpPr>
        <p:spPr>
          <a:xfrm>
            <a:off x="1057275" y="3810000"/>
            <a:ext cx="3552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Coverage and freshness depend on entitlement, publication latency, and source availability.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D9BB389-30B2-464A-A8E4-F20029890AF0}"/>
              </a:ext>
            </a:extLst>
          </p:cNvPr>
          <p:cNvSpPr>
            <a:spLocks noGrp="1"/>
          </p:cNvSpPr>
          <p:nvPr/>
        </p:nvSpPr>
        <p:spPr>
          <a:xfrm>
            <a:off x="800100" y="4457700"/>
            <a:ext cx="123825" cy="123825"/>
          </a:xfrm>
          <a:prstGeom prst="ellipse">
            <a:avLst/>
          </a:prstGeom>
          <a:solidFill>
            <a:srgbClr val="FF5A67"/>
          </a:solidFill>
          <a:ln w="0">
            <a:solidFill>
              <a:srgbClr val="FF5A6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9E716C-0127-4526-9706-44BD252EBF0C}"/>
              </a:ext>
            </a:extLst>
          </p:cNvPr>
          <p:cNvSpPr>
            <a:spLocks noGrp="1"/>
          </p:cNvSpPr>
          <p:nvPr/>
        </p:nvSpPr>
        <p:spPr>
          <a:xfrm>
            <a:off x="1057275" y="4400550"/>
            <a:ext cx="3552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200" b="1">
                <a:solidFill>
                  <a:srgbClr val="F7FAFC"/>
                </a:solidFill>
              </a:defRPr>
            </a:defPPr>
          </a:lstStyle>
          <a:p>
            <a:pPr algn="l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Heuristic portfolio risk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48A381-F89F-48CD-9682-B59033D4BF2F}"/>
              </a:ext>
            </a:extLst>
          </p:cNvPr>
          <p:cNvSpPr>
            <a:spLocks noGrp="1"/>
          </p:cNvSpPr>
          <p:nvPr/>
        </p:nvSpPr>
        <p:spPr>
          <a:xfrm>
            <a:off x="1057275" y="4686300"/>
            <a:ext cx="3552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75" b="0">
                <a:solidFill>
                  <a:srgbClr val="AAB7C4"/>
                </a:solidFill>
              </a:defRPr>
            </a:defPPr>
          </a:lstStyle>
          <a:p>
            <a:pPr algn="l">
              <a:defRPr sz="975" b="0">
                <a:solidFill>
                  <a:srgbClr val="AAB7C4"/>
                </a:solidFill>
              </a:defRPr>
            </a:pPr>
            <a:r>
              <a:rPr sz="975" b="0">
                <a:solidFill>
                  <a:srgbClr val="AAB7C4"/>
                </a:solidFill>
              </a:rPr>
              <a:t>The score is interpretable exposure, not full VaR, stress loss, or regulatory capital.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5959C49-0032-4418-A4A8-749BDCDE2C3C}"/>
              </a:ext>
            </a:extLst>
          </p:cNvPr>
          <p:cNvSpPr>
            <a:spLocks noGrp="1"/>
          </p:cNvSpPr>
          <p:nvPr/>
        </p:nvSpPr>
        <p:spPr>
          <a:xfrm>
            <a:off x="5391150" y="2009775"/>
            <a:ext cx="6286500" cy="3495675"/>
          </a:xfrm>
          <a:prstGeom prst="roundRect">
            <a:avLst>
              <a:gd name="adj" fmla="val 4360"/>
            </a:avLst>
          </a:prstGeom>
          <a:solidFill>
            <a:srgbClr val="071019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CC7CE7-0606-4B72-B535-E52DC4C7EA10}"/>
              </a:ext>
            </a:extLst>
          </p:cNvPr>
          <p:cNvSpPr>
            <a:spLocks noGrp="1"/>
          </p:cNvSpPr>
          <p:nvPr/>
        </p:nvSpPr>
        <p:spPr>
          <a:xfrm>
            <a:off x="5676900" y="22669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825" b="1">
                <a:solidFill>
                  <a:srgbClr val="2FD07D"/>
                </a:solidFill>
              </a:defRPr>
            </a:defPPr>
          </a:lstStyle>
          <a:p>
            <a:pPr algn="l">
              <a:defRPr sz="825" b="1">
                <a:solidFill>
                  <a:srgbClr val="2FD07D"/>
                </a:solidFill>
              </a:defRPr>
            </a:pPr>
            <a:r>
              <a:rPr sz="825" b="1">
                <a:solidFill>
                  <a:srgbClr val="2FD07D"/>
                </a:solidFill>
              </a:rPr>
              <a:t>NEXT THREE RELEASES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AC48C560-7E14-425E-9688-57CCDA348B2E}"/>
              </a:ext>
            </a:extLst>
          </p:cNvPr>
          <p:cNvSpPr>
            <a:spLocks noGrp="1"/>
          </p:cNvSpPr>
          <p:nvPr/>
        </p:nvSpPr>
        <p:spPr>
          <a:xfrm>
            <a:off x="6057900" y="3143250"/>
            <a:ext cx="3981450" cy="0"/>
          </a:xfrm>
          <a:prstGeom prst="line">
            <a:avLst/>
          </a:prstGeom>
          <a:noFill/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79A03CE-F593-4DAE-87C5-2024EE7159C2}"/>
              </a:ext>
            </a:extLst>
          </p:cNvPr>
          <p:cNvSpPr>
            <a:spLocks noGrp="1"/>
          </p:cNvSpPr>
          <p:nvPr/>
        </p:nvSpPr>
        <p:spPr>
          <a:xfrm>
            <a:off x="5676900" y="2924175"/>
            <a:ext cx="457200" cy="457200"/>
          </a:xfrm>
          <a:prstGeom prst="ellipse">
            <a:avLst/>
          </a:prstGeom>
          <a:solidFill>
            <a:srgbClr val="2FD07D">
              <a:alpha val="18000"/>
            </a:srgbClr>
          </a:solidFill>
          <a:ln w="19050">
            <a:solidFill>
              <a:srgbClr val="2FD07D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28603D-72D5-4936-9EEE-C80417373F66}"/>
              </a:ext>
            </a:extLst>
          </p:cNvPr>
          <p:cNvSpPr>
            <a:spLocks noGrp="1"/>
          </p:cNvSpPr>
          <p:nvPr/>
        </p:nvSpPr>
        <p:spPr>
          <a:xfrm>
            <a:off x="5676900" y="292417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75" b="1">
                <a:solidFill>
                  <a:srgbClr val="2FD07D"/>
                </a:solidFill>
              </a:defRPr>
            </a:defPPr>
          </a:lstStyle>
          <a:p>
            <a:pPr algn="ctr">
              <a:defRPr sz="975" b="1">
                <a:solidFill>
                  <a:srgbClr val="2FD07D"/>
                </a:solidFill>
              </a:defRPr>
            </a:pPr>
            <a:r>
              <a:rPr sz="975" b="1">
                <a:solidFill>
                  <a:srgbClr val="2FD07D"/>
                </a:solidFill>
              </a:rPr>
              <a:t>01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1076C6-47B4-490D-95AD-50F90F90AEDF}"/>
              </a:ext>
            </a:extLst>
          </p:cNvPr>
          <p:cNvSpPr>
            <a:spLocks noGrp="1"/>
          </p:cNvSpPr>
          <p:nvPr/>
        </p:nvSpPr>
        <p:spPr>
          <a:xfrm>
            <a:off x="5610225" y="3533775"/>
            <a:ext cx="1333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Calibrate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6A8CECB-7F1C-4134-8573-37E4768153D8}"/>
              </a:ext>
            </a:extLst>
          </p:cNvPr>
          <p:cNvSpPr>
            <a:spLocks noGrp="1"/>
          </p:cNvSpPr>
          <p:nvPr/>
        </p:nvSpPr>
        <p:spPr>
          <a:xfrm>
            <a:off x="5610225" y="3867150"/>
            <a:ext cx="157162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Walk-forward evaluation and neutral thresholds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4B54C87-AC98-4571-9A41-1E24480DDF33}"/>
              </a:ext>
            </a:extLst>
          </p:cNvPr>
          <p:cNvSpPr>
            <a:spLocks noGrp="1"/>
          </p:cNvSpPr>
          <p:nvPr/>
        </p:nvSpPr>
        <p:spPr>
          <a:xfrm>
            <a:off x="7667625" y="2924175"/>
            <a:ext cx="457200" cy="457200"/>
          </a:xfrm>
          <a:prstGeom prst="ellipse">
            <a:avLst/>
          </a:prstGeom>
          <a:solidFill>
            <a:srgbClr val="2FD07D">
              <a:alpha val="18000"/>
            </a:srgbClr>
          </a:solidFill>
          <a:ln w="19050">
            <a:solidFill>
              <a:srgbClr val="2FD07D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DAB426-3DFF-492B-808A-9088FA1BE3F8}"/>
              </a:ext>
            </a:extLst>
          </p:cNvPr>
          <p:cNvSpPr>
            <a:spLocks noGrp="1"/>
          </p:cNvSpPr>
          <p:nvPr/>
        </p:nvSpPr>
        <p:spPr>
          <a:xfrm>
            <a:off x="7667625" y="292417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75" b="1">
                <a:solidFill>
                  <a:srgbClr val="2FD07D"/>
                </a:solidFill>
              </a:defRPr>
            </a:defPPr>
          </a:lstStyle>
          <a:p>
            <a:pPr algn="ctr">
              <a:defRPr sz="975" b="1">
                <a:solidFill>
                  <a:srgbClr val="2FD07D"/>
                </a:solidFill>
              </a:defRPr>
            </a:pPr>
            <a:r>
              <a:rPr sz="975" b="1">
                <a:solidFill>
                  <a:srgbClr val="2FD07D"/>
                </a:solidFill>
              </a:rPr>
              <a:t>02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A5DD41-FD37-4F21-A6D9-9271D48D47D3}"/>
              </a:ext>
            </a:extLst>
          </p:cNvPr>
          <p:cNvSpPr>
            <a:spLocks noGrp="1"/>
          </p:cNvSpPr>
          <p:nvPr/>
        </p:nvSpPr>
        <p:spPr>
          <a:xfrm>
            <a:off x="7600950" y="3533775"/>
            <a:ext cx="1333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Cluster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330A02-69BD-41B5-9E53-6F27FB3CE43C}"/>
              </a:ext>
            </a:extLst>
          </p:cNvPr>
          <p:cNvSpPr>
            <a:spLocks noGrp="1"/>
          </p:cNvSpPr>
          <p:nvPr/>
        </p:nvSpPr>
        <p:spPr>
          <a:xfrm>
            <a:off x="7600950" y="3867150"/>
            <a:ext cx="157162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Group repeated coverage into one event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96F5B91-286F-4C89-81D2-4D782E7442E7}"/>
              </a:ext>
            </a:extLst>
          </p:cNvPr>
          <p:cNvSpPr>
            <a:spLocks noGrp="1"/>
          </p:cNvSpPr>
          <p:nvPr/>
        </p:nvSpPr>
        <p:spPr>
          <a:xfrm>
            <a:off x="9658350" y="2924175"/>
            <a:ext cx="457200" cy="457200"/>
          </a:xfrm>
          <a:prstGeom prst="ellipse">
            <a:avLst/>
          </a:prstGeom>
          <a:solidFill>
            <a:srgbClr val="2FD07D">
              <a:alpha val="18000"/>
            </a:srgbClr>
          </a:solidFill>
          <a:ln w="19050">
            <a:solidFill>
              <a:srgbClr val="2FD07D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92318B-2823-4324-9D0D-563937172B66}"/>
              </a:ext>
            </a:extLst>
          </p:cNvPr>
          <p:cNvSpPr>
            <a:spLocks noGrp="1"/>
          </p:cNvSpPr>
          <p:nvPr/>
        </p:nvSpPr>
        <p:spPr>
          <a:xfrm>
            <a:off x="9658350" y="292417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975" b="1">
                <a:solidFill>
                  <a:srgbClr val="2FD07D"/>
                </a:solidFill>
              </a:defRPr>
            </a:defPPr>
          </a:lstStyle>
          <a:p>
            <a:pPr algn="ctr">
              <a:defRPr sz="975" b="1">
                <a:solidFill>
                  <a:srgbClr val="2FD07D"/>
                </a:solidFill>
              </a:defRPr>
            </a:pPr>
            <a:r>
              <a:rPr sz="975" b="1">
                <a:solidFill>
                  <a:srgbClr val="2FD07D"/>
                </a:solidFill>
              </a:rPr>
              <a:t>03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531C78-2021-46D6-9BBE-6E5734596973}"/>
              </a:ext>
            </a:extLst>
          </p:cNvPr>
          <p:cNvSpPr>
            <a:spLocks noGrp="1"/>
          </p:cNvSpPr>
          <p:nvPr/>
        </p:nvSpPr>
        <p:spPr>
          <a:xfrm>
            <a:off x="9591675" y="3533775"/>
            <a:ext cx="1333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350" b="1">
                <a:solidFill>
                  <a:srgbClr val="F7FAFC"/>
                </a:solidFill>
              </a:defRPr>
            </a:defPPr>
          </a:lstStyle>
          <a:p>
            <a:pPr algn="l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Monitor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AA888F5-F799-4F3E-AC4E-EB6836064556}"/>
              </a:ext>
            </a:extLst>
          </p:cNvPr>
          <p:cNvSpPr>
            <a:spLocks noGrp="1"/>
          </p:cNvSpPr>
          <p:nvPr/>
        </p:nvSpPr>
        <p:spPr>
          <a:xfrm>
            <a:off x="9591675" y="3867150"/>
            <a:ext cx="157162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900" b="0">
                <a:solidFill>
                  <a:srgbClr val="AAB7C4"/>
                </a:solidFill>
              </a:defRPr>
            </a:defPPr>
          </a:lstStyle>
          <a:p>
            <a:pPr algn="l">
              <a:defRPr sz="900" b="0">
                <a:solidFill>
                  <a:srgbClr val="AAB7C4"/>
                </a:solidFill>
              </a:defRPr>
            </a:pPr>
            <a:r>
              <a:rPr sz="900" b="0">
                <a:solidFill>
                  <a:srgbClr val="AAB7C4"/>
                </a:solidFill>
              </a:rPr>
              <a:t>WebSockets, drift, latency, and provider health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F32278-49C4-4D55-90DF-F0F2C21E8D71}"/>
              </a:ext>
            </a:extLst>
          </p:cNvPr>
          <p:cNvSpPr>
            <a:spLocks noGrp="1"/>
          </p:cNvSpPr>
          <p:nvPr/>
        </p:nvSpPr>
        <p:spPr>
          <a:xfrm>
            <a:off x="514350" y="5810250"/>
            <a:ext cx="361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100" b="1">
                <a:solidFill>
                  <a:srgbClr val="F7FAFC"/>
                </a:solidFill>
              </a:defRPr>
            </a:defPPr>
          </a:lstStyle>
          <a:p>
            <a:pPr algn="l">
              <a:defRPr sz="2100" b="1">
                <a:solidFill>
                  <a:srgbClr val="F7FAFC"/>
                </a:solidFill>
              </a:defRPr>
            </a:pPr>
            <a:r>
              <a:rPr sz="2100" b="1">
                <a:solidFill>
                  <a:srgbClr val="F7FAFC"/>
                </a:solidFill>
              </a:rPr>
              <a:t>Trading Wens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9A5FC3-9F26-4EF2-9A54-1BC6F65336DE}"/>
              </a:ext>
            </a:extLst>
          </p:cNvPr>
          <p:cNvSpPr>
            <a:spLocks noGrp="1"/>
          </p:cNvSpPr>
          <p:nvPr/>
        </p:nvSpPr>
        <p:spPr>
          <a:xfrm>
            <a:off x="5391150" y="5848350"/>
            <a:ext cx="6286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1275" b="1">
                <a:solidFill>
                  <a:srgbClr val="F4B942"/>
                </a:solidFill>
              </a:defRPr>
            </a:defPPr>
          </a:lstStyle>
          <a:p>
            <a:pPr algn="r">
              <a:defRPr sz="1275" b="1">
                <a:solidFill>
                  <a:srgbClr val="F4B942"/>
                </a:solidFill>
              </a:defRPr>
            </a:pPr>
            <a:r>
              <a:rPr sz="1275" b="1">
                <a:solidFill>
                  <a:srgbClr val="F4B942"/>
                </a:solidFill>
              </a:rPr>
              <a:t>Evidence first. Position aware. Explicitly uncertain.</a:t>
            </a:r>
          </a:p>
        </p:txBody>
      </p:sp>
    </p:spTree>
    <p:extLst>
      <p:ext uri="{BB962C8B-B14F-4D97-AF65-F5344CB8AC3E}">
        <p14:creationId xmlns:p14="http://schemas.microsoft.com/office/powerpoint/2010/main" val="78705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20" fill="hold"/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1008</Words>
  <Application>Microsoft Office PowerPoint</Application>
  <DocSecurity>0</DocSecurity>
  <PresentationFormat>Widescreen</PresentationFormat>
  <Paragraphs>163</Paragraphs>
  <Slides>7</Slides>
  <Notes>7</Notes>
  <HiddenSlides>0</HiddenSlides>
  <MMClips>7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Aptos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SHIVANSH DWIVEDI</cp:lastModifiedBy>
  <cp:revision>1</cp:revision>
  <dcterms:created xsi:type="dcterms:W3CDTF">2026-10-11T17:00:06Z</dcterms:created>
  <dcterms:modified xsi:type="dcterms:W3CDTF">2026-10-11T17:00:46Z</dcterms:modified>
</cp:coreProperties>
</file>